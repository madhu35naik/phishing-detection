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66" r:id="rId4"/>
    <p:sldId id="273" r:id="rId5"/>
    <p:sldId id="267" r:id="rId6"/>
    <p:sldId id="311" r:id="rId7"/>
    <p:sldId id="287" r:id="rId8"/>
    <p:sldId id="271" r:id="rId9"/>
    <p:sldId id="307" r:id="rId10"/>
    <p:sldId id="275" r:id="rId11"/>
    <p:sldId id="276" r:id="rId12"/>
    <p:sldId id="277" r:id="rId13"/>
    <p:sldId id="278" r:id="rId14"/>
    <p:sldId id="279" r:id="rId15"/>
    <p:sldId id="280" r:id="rId16"/>
    <p:sldId id="281" r:id="rId17"/>
    <p:sldId id="282" r:id="rId18"/>
    <p:sldId id="283" r:id="rId19"/>
    <p:sldId id="284" r:id="rId20"/>
    <p:sldId id="285" r:id="rId21"/>
    <p:sldId id="289" r:id="rId22"/>
    <p:sldId id="290" r:id="rId23"/>
    <p:sldId id="291" r:id="rId24"/>
    <p:sldId id="292" r:id="rId25"/>
    <p:sldId id="293" r:id="rId26"/>
    <p:sldId id="294" r:id="rId27"/>
    <p:sldId id="295" r:id="rId28"/>
    <p:sldId id="296" r:id="rId29"/>
    <p:sldId id="354" r:id="rId30"/>
    <p:sldId id="298" r:id="rId31"/>
    <p:sldId id="299" r:id="rId32"/>
    <p:sldId id="313" r:id="rId33"/>
    <p:sldId id="301" r:id="rId34"/>
    <p:sldId id="305" r:id="rId35"/>
    <p:sldId id="334" r:id="rId36"/>
    <p:sldId id="335" r:id="rId37"/>
    <p:sldId id="337" r:id="rId38"/>
    <p:sldId id="304" r:id="rId39"/>
    <p:sldId id="339" r:id="rId40"/>
    <p:sldId id="340" r:id="rId41"/>
    <p:sldId id="343" r:id="rId42"/>
    <p:sldId id="341" r:id="rId43"/>
    <p:sldId id="342" r:id="rId44"/>
    <p:sldId id="345" r:id="rId45"/>
    <p:sldId id="346" r:id="rId46"/>
    <p:sldId id="347" r:id="rId47"/>
    <p:sldId id="349" r:id="rId48"/>
    <p:sldId id="350" r:id="rId49"/>
    <p:sldId id="351" r:id="rId50"/>
    <p:sldId id="352" r:id="rId51"/>
    <p:sldId id="314" r:id="rId52"/>
    <p:sldId id="316" r:id="rId53"/>
    <p:sldId id="318" r:id="rId54"/>
    <p:sldId id="322" r:id="rId55"/>
    <p:sldId id="324" r:id="rId56"/>
    <p:sldId id="325" r:id="rId57"/>
    <p:sldId id="326" r:id="rId58"/>
    <p:sldId id="327" r:id="rId59"/>
    <p:sldId id="328" r:id="rId60"/>
    <p:sldId id="329" r:id="rId61"/>
    <p:sldId id="330" r:id="rId62"/>
    <p:sldId id="332" r:id="rId63"/>
    <p:sldId id="274" r:id="rId64"/>
    <p:sldId id="300" r:id="rId65"/>
    <p:sldId id="265" r:id="rId6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B9AC0C-9336-4791-8131-11DEE520BC2D}" type="datetimeFigureOut">
              <a:rPr lang="en-IN" smtClean="0"/>
              <a:t>11-12-2025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BE10C0-00A9-41A7-91ED-F2618654BCBF}" type="slidenum">
              <a:rPr lang="en-IN" smtClean="0"/>
              <a:t>‹#›</a:t>
            </a:fld>
            <a:endParaRPr lang="en-IN" dirty="0"/>
          </a:p>
        </p:txBody>
      </p:sp>
    </p:spTree>
    <p:extLst>
      <p:ext uri="{BB962C8B-B14F-4D97-AF65-F5344CB8AC3E}">
        <p14:creationId xmlns:p14="http://schemas.microsoft.com/office/powerpoint/2010/main" val="3380197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1</a:t>
            </a:fld>
            <a:endParaRPr lang="en-IN" dirty="0"/>
          </a:p>
        </p:txBody>
      </p:sp>
    </p:spTree>
    <p:extLst>
      <p:ext uri="{BB962C8B-B14F-4D97-AF65-F5344CB8AC3E}">
        <p14:creationId xmlns:p14="http://schemas.microsoft.com/office/powerpoint/2010/main" val="4160419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3</a:t>
            </a:fld>
            <a:endParaRPr lang="en-IN" dirty="0"/>
          </a:p>
        </p:txBody>
      </p:sp>
    </p:spTree>
    <p:extLst>
      <p:ext uri="{BB962C8B-B14F-4D97-AF65-F5344CB8AC3E}">
        <p14:creationId xmlns:p14="http://schemas.microsoft.com/office/powerpoint/2010/main" val="1352632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5</a:t>
            </a:fld>
            <a:endParaRPr lang="en-IN" dirty="0"/>
          </a:p>
        </p:txBody>
      </p:sp>
    </p:spTree>
    <p:extLst>
      <p:ext uri="{BB962C8B-B14F-4D97-AF65-F5344CB8AC3E}">
        <p14:creationId xmlns:p14="http://schemas.microsoft.com/office/powerpoint/2010/main" val="920551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AEAA2-E3A6-BC4D-F121-04D5BD026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2577B-BE78-0F06-3A00-2D0B079492EF}"/>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2E07DF29-C4B0-A62A-92A6-B8BA66C6F4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ADB9DF-2886-0173-F1EC-2B7DC7CD8B36}"/>
              </a:ext>
            </a:extLst>
          </p:cNvPr>
          <p:cNvSpPr>
            <a:spLocks noGrp="1"/>
          </p:cNvSpPr>
          <p:nvPr>
            <p:ph type="sldNum" sz="quarter" idx="5"/>
          </p:nvPr>
        </p:nvSpPr>
        <p:spPr/>
        <p:txBody>
          <a:bodyPr/>
          <a:lstStyle/>
          <a:p>
            <a:fld id="{19BE10C0-00A9-41A7-91ED-F2618654BCBF}" type="slidenum">
              <a:rPr lang="en-IN" smtClean="0"/>
              <a:t>6</a:t>
            </a:fld>
            <a:endParaRPr lang="en-IN" dirty="0"/>
          </a:p>
        </p:txBody>
      </p:sp>
    </p:spTree>
    <p:extLst>
      <p:ext uri="{BB962C8B-B14F-4D97-AF65-F5344CB8AC3E}">
        <p14:creationId xmlns:p14="http://schemas.microsoft.com/office/powerpoint/2010/main" val="9420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7</a:t>
            </a:fld>
            <a:endParaRPr lang="en-IN" dirty="0"/>
          </a:p>
        </p:txBody>
      </p:sp>
    </p:spTree>
    <p:extLst>
      <p:ext uri="{BB962C8B-B14F-4D97-AF65-F5344CB8AC3E}">
        <p14:creationId xmlns:p14="http://schemas.microsoft.com/office/powerpoint/2010/main" val="3212873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8</a:t>
            </a:fld>
            <a:endParaRPr lang="en-IN" dirty="0"/>
          </a:p>
        </p:txBody>
      </p:sp>
    </p:spTree>
    <p:extLst>
      <p:ext uri="{BB962C8B-B14F-4D97-AF65-F5344CB8AC3E}">
        <p14:creationId xmlns:p14="http://schemas.microsoft.com/office/powerpoint/2010/main" val="2549981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B0A7B-9A48-D5CB-4945-B7BAA4309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319F5-760C-0C81-9019-71BE61E6BA16}"/>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4BC3A33B-2B39-BACB-113B-7FC7FE735F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8BB9D44-C1CE-1CB6-436D-E13C9E67116C}"/>
              </a:ext>
            </a:extLst>
          </p:cNvPr>
          <p:cNvSpPr>
            <a:spLocks noGrp="1"/>
          </p:cNvSpPr>
          <p:nvPr>
            <p:ph type="sldNum" sz="quarter" idx="5"/>
          </p:nvPr>
        </p:nvSpPr>
        <p:spPr/>
        <p:txBody>
          <a:bodyPr/>
          <a:lstStyle/>
          <a:p>
            <a:fld id="{19BE10C0-00A9-41A7-91ED-F2618654BCBF}" type="slidenum">
              <a:rPr lang="en-IN" smtClean="0"/>
              <a:t>9</a:t>
            </a:fld>
            <a:endParaRPr lang="en-IN" dirty="0"/>
          </a:p>
        </p:txBody>
      </p:sp>
    </p:spTree>
    <p:extLst>
      <p:ext uri="{BB962C8B-B14F-4D97-AF65-F5344CB8AC3E}">
        <p14:creationId xmlns:p14="http://schemas.microsoft.com/office/powerpoint/2010/main" val="1906339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20</a:t>
            </a:fld>
            <a:endParaRPr lang="en-IN" dirty="0"/>
          </a:p>
        </p:txBody>
      </p:sp>
    </p:spTree>
    <p:extLst>
      <p:ext uri="{BB962C8B-B14F-4D97-AF65-F5344CB8AC3E}">
        <p14:creationId xmlns:p14="http://schemas.microsoft.com/office/powerpoint/2010/main" val="103364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F85F-71BA-07C3-232F-30C7DB872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3D127-2B1F-E401-C9B2-9DCC00B7194D}"/>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4249AA57-970E-D8B2-7B34-DE982783B66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A0B365-7FBA-D792-0BA4-AF4E71848376}"/>
              </a:ext>
            </a:extLst>
          </p:cNvPr>
          <p:cNvSpPr>
            <a:spLocks noGrp="1"/>
          </p:cNvSpPr>
          <p:nvPr>
            <p:ph type="sldNum" sz="quarter" idx="5"/>
          </p:nvPr>
        </p:nvSpPr>
        <p:spPr/>
        <p:txBody>
          <a:bodyPr/>
          <a:lstStyle/>
          <a:p>
            <a:fld id="{19BE10C0-00A9-41A7-91ED-F2618654BCBF}" type="slidenum">
              <a:rPr lang="en-IN" smtClean="0"/>
              <a:t>29</a:t>
            </a:fld>
            <a:endParaRPr lang="en-IN" dirty="0"/>
          </a:p>
        </p:txBody>
      </p:sp>
    </p:spTree>
    <p:extLst>
      <p:ext uri="{BB962C8B-B14F-4D97-AF65-F5344CB8AC3E}">
        <p14:creationId xmlns:p14="http://schemas.microsoft.com/office/powerpoint/2010/main" val="2232334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9BE10C0-00A9-41A7-91ED-F2618654BCBF}" type="slidenum">
              <a:rPr lang="en-IN" smtClean="0"/>
              <a:t>31</a:t>
            </a:fld>
            <a:endParaRPr lang="en-IN" dirty="0"/>
          </a:p>
        </p:txBody>
      </p:sp>
    </p:spTree>
    <p:extLst>
      <p:ext uri="{BB962C8B-B14F-4D97-AF65-F5344CB8AC3E}">
        <p14:creationId xmlns:p14="http://schemas.microsoft.com/office/powerpoint/2010/main" val="113310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92B4D-D5D3-323F-BC9C-93A663552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DD5A8-D5BE-BA57-5EC2-6410EC7A92C5}"/>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2805A69C-4430-9C59-9478-9A6CE62853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32BF4BE-CA35-6592-CCC4-76A87928D7A9}"/>
              </a:ext>
            </a:extLst>
          </p:cNvPr>
          <p:cNvSpPr>
            <a:spLocks noGrp="1"/>
          </p:cNvSpPr>
          <p:nvPr>
            <p:ph type="sldNum" sz="quarter" idx="5"/>
          </p:nvPr>
        </p:nvSpPr>
        <p:spPr/>
        <p:txBody>
          <a:bodyPr/>
          <a:lstStyle/>
          <a:p>
            <a:fld id="{19BE10C0-00A9-41A7-91ED-F2618654BCBF}" type="slidenum">
              <a:rPr lang="en-IN" smtClean="0"/>
              <a:t>32</a:t>
            </a:fld>
            <a:endParaRPr lang="en-IN" dirty="0"/>
          </a:p>
        </p:txBody>
      </p:sp>
    </p:spTree>
    <p:extLst>
      <p:ext uri="{BB962C8B-B14F-4D97-AF65-F5344CB8AC3E}">
        <p14:creationId xmlns:p14="http://schemas.microsoft.com/office/powerpoint/2010/main" val="1291709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oogle.com/"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oogle.com/"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doi.org/10.1109/ICDABI53623.2021.9655851" TargetMode="External"/><Relationship Id="rId2" Type="http://schemas.openxmlformats.org/officeDocument/2006/relationships/hyperlink" Target="https://doi.org/10.1109/ACCESS.2024.3486462"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doi.org/10.1109/ACCESS.2023.3252366" TargetMode="External"/><Relationship Id="rId4" Type="http://schemas.openxmlformats.org/officeDocument/2006/relationships/hyperlink" Target="https://doi.org/10.1109/AIIoT61789.2024.10579005"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doi.org/10.1109/CCWC51732.2021.9375997" TargetMode="External"/><Relationship Id="rId7" Type="http://schemas.openxmlformats.org/officeDocument/2006/relationships/image" Target="../media/image1.png"/><Relationship Id="rId2" Type="http://schemas.openxmlformats.org/officeDocument/2006/relationships/hyperlink" Target="https://doi.org/10.1109/ACCESS.2022.3168681" TargetMode="External"/><Relationship Id="rId1" Type="http://schemas.openxmlformats.org/officeDocument/2006/relationships/slideLayout" Target="../slideLayouts/slideLayout2.xml"/><Relationship Id="rId6" Type="http://schemas.openxmlformats.org/officeDocument/2006/relationships/hyperlink" Target="https://doi.org/10.1109/TCE.2024.3404459" TargetMode="External"/><Relationship Id="rId5" Type="http://schemas.openxmlformats.org/officeDocument/2006/relationships/hyperlink" Target="https://doi.org/10.1109/ICMCSI64620.2025.10883082" TargetMode="External"/><Relationship Id="rId4" Type="http://schemas.openxmlformats.org/officeDocument/2006/relationships/hyperlink" Target="https://doi.org/10.1109/ICCCNT61001.2024.10723976"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5232" y="4665569"/>
            <a:ext cx="3131946" cy="1595272"/>
          </a:xfrm>
        </p:spPr>
        <p:txBody>
          <a:bodyPr>
            <a:normAutofit fontScale="85000" lnSpcReduction="20000"/>
          </a:bodyPr>
          <a:lstStyle/>
          <a:p>
            <a:pPr algn="l">
              <a:defRPr sz="2400">
                <a:solidFill>
                  <a:srgbClr val="000000"/>
                </a:solidFill>
              </a:defRPr>
            </a:pPr>
            <a:r>
              <a:rPr lang="en-US" sz="2800" b="1" dirty="0"/>
              <a:t>Presented By:</a:t>
            </a:r>
          </a:p>
          <a:p>
            <a:pPr algn="l">
              <a:defRPr sz="2400">
                <a:solidFill>
                  <a:srgbClr val="000000"/>
                </a:solidFill>
              </a:defRPr>
            </a:pPr>
            <a:r>
              <a:rPr lang="en-US" sz="2800" b="1" dirty="0"/>
              <a:t>Madhura Naik</a:t>
            </a:r>
          </a:p>
          <a:p>
            <a:pPr algn="l">
              <a:defRPr sz="2400">
                <a:solidFill>
                  <a:srgbClr val="000000"/>
                </a:solidFill>
              </a:defRPr>
            </a:pPr>
            <a:r>
              <a:rPr lang="en-US" sz="2800" dirty="0"/>
              <a:t>PES1PG24CA260</a:t>
            </a:r>
          </a:p>
          <a:p>
            <a:pPr algn="l">
              <a:defRPr sz="2400">
                <a:solidFill>
                  <a:srgbClr val="000000"/>
                </a:solidFill>
              </a:defRPr>
            </a:pPr>
            <a:r>
              <a:rPr lang="en-US" sz="2800" dirty="0"/>
              <a:t>Section D</a:t>
            </a:r>
          </a:p>
          <a:p>
            <a:pPr algn="ctr">
              <a:defRPr sz="2400">
                <a:solidFill>
                  <a:srgbClr val="000000"/>
                </a:solidFill>
              </a:defRPr>
            </a:pPr>
            <a:endParaRPr lang="en-US" sz="2400" dirty="0"/>
          </a:p>
        </p:txBody>
      </p:sp>
      <p:pic>
        <p:nvPicPr>
          <p:cNvPr id="1028" name="Picture 4" descr="PES University Know All about the Indian UGC-Approved University">
            <a:extLst>
              <a:ext uri="{FF2B5EF4-FFF2-40B4-BE49-F238E27FC236}">
                <a16:creationId xmlns:a16="http://schemas.microsoft.com/office/drawing/2014/main" id="{748595BC-A32D-E843-1E11-E2DCB5E534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182CD87-B6BB-9E71-0690-58EB79887EE2}"/>
              </a:ext>
            </a:extLst>
          </p:cNvPr>
          <p:cNvSpPr txBox="1"/>
          <p:nvPr/>
        </p:nvSpPr>
        <p:spPr>
          <a:xfrm>
            <a:off x="8691647" y="4665570"/>
            <a:ext cx="3271002" cy="830997"/>
          </a:xfrm>
          <a:prstGeom prst="rect">
            <a:avLst/>
          </a:prstGeom>
          <a:noFill/>
        </p:spPr>
        <p:txBody>
          <a:bodyPr wrap="square">
            <a:spAutoFit/>
          </a:bodyPr>
          <a:lstStyle/>
          <a:p>
            <a:pPr algn="r">
              <a:defRPr sz="2400">
                <a:solidFill>
                  <a:srgbClr val="000000"/>
                </a:solidFill>
              </a:defRPr>
            </a:pPr>
            <a:r>
              <a:rPr lang="en-US" b="1" dirty="0"/>
              <a:t>Under the Guidance of:</a:t>
            </a:r>
          </a:p>
          <a:p>
            <a:pPr algn="ctr">
              <a:defRPr sz="2400">
                <a:solidFill>
                  <a:srgbClr val="000000"/>
                </a:solidFill>
              </a:defRPr>
            </a:pPr>
            <a:r>
              <a:rPr lang="en-US" dirty="0"/>
              <a:t>Prof. Archana A</a:t>
            </a:r>
          </a:p>
        </p:txBody>
      </p:sp>
      <p:sp>
        <p:nvSpPr>
          <p:cNvPr id="7" name="Rectangle 2">
            <a:extLst>
              <a:ext uri="{FF2B5EF4-FFF2-40B4-BE49-F238E27FC236}">
                <a16:creationId xmlns:a16="http://schemas.microsoft.com/office/drawing/2014/main" id="{8854C336-8E4D-5277-5F39-8941BAE53C17}"/>
              </a:ext>
            </a:extLst>
          </p:cNvPr>
          <p:cNvSpPr>
            <a:spLocks noGrp="1" noChangeArrowheads="1"/>
          </p:cNvSpPr>
          <p:nvPr>
            <p:ph type="ctrTitle"/>
          </p:nvPr>
        </p:nvSpPr>
        <p:spPr bwMode="auto">
          <a:xfrm>
            <a:off x="673278" y="2537663"/>
            <a:ext cx="1049202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Aft>
                <a:spcPct val="0"/>
              </a:spcAft>
            </a:pPr>
            <a:r>
              <a:rPr lang="en-IN" sz="4800" b="1" dirty="0"/>
              <a:t>PhishShield ML</a:t>
            </a:r>
            <a:br>
              <a:rPr lang="en-IN" sz="4800" b="1" dirty="0"/>
            </a:br>
            <a:r>
              <a:rPr lang="en-IN" sz="2400" b="1" i="1" dirty="0"/>
              <a:t>Machine Learning-Powered Phishing Defense</a:t>
            </a:r>
            <a:endParaRPr kumimoji="0" lang="en-US" altLang="en-US" sz="2400" b="1" i="1" u="none" strike="noStrike" cap="none" normalizeH="0" baseline="0" dirty="0">
              <a:ln>
                <a:noFill/>
              </a:ln>
              <a:solidFill>
                <a:schemeClr val="tx1"/>
              </a:solidFill>
              <a:effectLst/>
            </a:endParaRPr>
          </a:p>
        </p:txBody>
      </p:sp>
      <p:sp>
        <p:nvSpPr>
          <p:cNvPr id="2" name="TextBox 1">
            <a:extLst>
              <a:ext uri="{FF2B5EF4-FFF2-40B4-BE49-F238E27FC236}">
                <a16:creationId xmlns:a16="http://schemas.microsoft.com/office/drawing/2014/main" id="{32DB60CC-C155-38BE-7DC4-C37CCD1850D2}"/>
              </a:ext>
            </a:extLst>
          </p:cNvPr>
          <p:cNvSpPr txBox="1"/>
          <p:nvPr/>
        </p:nvSpPr>
        <p:spPr>
          <a:xfrm>
            <a:off x="3676742" y="1280953"/>
            <a:ext cx="4485098" cy="584775"/>
          </a:xfrm>
          <a:prstGeom prst="rect">
            <a:avLst/>
          </a:prstGeom>
          <a:noFill/>
        </p:spPr>
        <p:txBody>
          <a:bodyPr wrap="square" rtlCol="0">
            <a:spAutoFit/>
          </a:bodyPr>
          <a:lstStyle/>
          <a:p>
            <a:pPr algn="ctr"/>
            <a:r>
              <a:rPr lang="en-IN" sz="3200" u="sng" dirty="0"/>
              <a:t>Capstone Project Phase-1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a:t>Abstract</a:t>
            </a:r>
            <a:endParaRPr lang="en-IN" sz="3600" b="1" dirty="0"/>
          </a:p>
        </p:txBody>
      </p:sp>
      <p:sp>
        <p:nvSpPr>
          <p:cNvPr id="3" name="Content Placeholder 2"/>
          <p:cNvSpPr>
            <a:spLocks noGrp="1"/>
          </p:cNvSpPr>
          <p:nvPr>
            <p:ph idx="1"/>
          </p:nvPr>
        </p:nvSpPr>
        <p:spPr>
          <a:xfrm>
            <a:off x="483685" y="1828800"/>
            <a:ext cx="11221453" cy="3573379"/>
          </a:xfrm>
        </p:spPr>
        <p:txBody>
          <a:bodyPr>
            <a:noAutofit/>
          </a:bodyPr>
          <a:lstStyle/>
          <a:p>
            <a:pPr marL="0" indent="0">
              <a:buNone/>
            </a:pPr>
            <a:r>
              <a:rPr lang="en-US" sz="2400" dirty="0"/>
              <a:t>Phishing is a social engineering attack that deceives users by mimicking trusted URLs to steal confidential data. This project develops an adaptive, </a:t>
            </a:r>
            <a:r>
              <a:rPr lang="en-US" sz="2400" b="1" dirty="0"/>
              <a:t>ML-based</a:t>
            </a:r>
            <a:r>
              <a:rPr lang="en-US" sz="2400" dirty="0"/>
              <a:t> phishing detection system that: Classifies URLs in real-time as </a:t>
            </a:r>
            <a:r>
              <a:rPr lang="en-US" sz="2400" b="1" dirty="0"/>
              <a:t>phishing or legitimate </a:t>
            </a:r>
            <a:r>
              <a:rPr lang="en-US" sz="2400" dirty="0"/>
              <a:t>using supervised machine learning. Identifies </a:t>
            </a:r>
            <a:r>
              <a:rPr lang="en-US" sz="2400" b="1" dirty="0"/>
              <a:t>attack types </a:t>
            </a:r>
            <a:r>
              <a:rPr lang="en-US" sz="2400" dirty="0"/>
              <a:t>(10 distinct phishing attack patterns). Provides </a:t>
            </a:r>
            <a:r>
              <a:rPr lang="en-US" sz="2400" b="1" dirty="0"/>
              <a:t>educational content </a:t>
            </a:r>
            <a:r>
              <a:rPr lang="en-US" sz="2400" dirty="0"/>
              <a:t>to enhance user cybersecurity awareness. Implements dual deployment: </a:t>
            </a:r>
            <a:r>
              <a:rPr lang="en-US" sz="2400" b="1" dirty="0"/>
              <a:t>Web-based GUI + Browser Extension.</a:t>
            </a:r>
            <a:r>
              <a:rPr lang="en-US" sz="2400" dirty="0"/>
              <a:t> Extracts 16 URL features from lexical, host-based, and content-based characteristics Achieves high accuracy with ensemble learning methods (LightGBM, Random Forest, XGBoost).</a:t>
            </a:r>
          </a:p>
        </p:txBody>
      </p:sp>
      <p:pic>
        <p:nvPicPr>
          <p:cNvPr id="5" name="Picture 4" descr="PES University Know All about the Indian UGC-Approved University">
            <a:extLst>
              <a:ext uri="{FF2B5EF4-FFF2-40B4-BE49-F238E27FC236}">
                <a16:creationId xmlns:a16="http://schemas.microsoft.com/office/drawing/2014/main" id="{017C2FD8-7038-94BB-809B-72725FA12F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D2200-BE39-FA87-5799-55832F569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C61DE-B256-E5C1-0206-ECAA15F433A2}"/>
              </a:ext>
            </a:extLst>
          </p:cNvPr>
          <p:cNvSpPr>
            <a:spLocks noGrp="1"/>
          </p:cNvSpPr>
          <p:nvPr>
            <p:ph type="title"/>
          </p:nvPr>
        </p:nvSpPr>
        <p:spPr>
          <a:xfrm>
            <a:off x="351453" y="274638"/>
            <a:ext cx="8229600" cy="1143000"/>
          </a:xfrm>
        </p:spPr>
        <p:txBody>
          <a:bodyPr>
            <a:normAutofit/>
          </a:bodyPr>
          <a:lstStyle/>
          <a:p>
            <a:pPr algn="l"/>
            <a:r>
              <a:rPr lang="en-US" sz="3600" b="1" dirty="0"/>
              <a:t>Introduction</a:t>
            </a:r>
            <a:endParaRPr lang="en-IN" sz="3600" b="1" dirty="0"/>
          </a:p>
        </p:txBody>
      </p:sp>
      <p:sp>
        <p:nvSpPr>
          <p:cNvPr id="3" name="Content Placeholder 2">
            <a:extLst>
              <a:ext uri="{FF2B5EF4-FFF2-40B4-BE49-F238E27FC236}">
                <a16:creationId xmlns:a16="http://schemas.microsoft.com/office/drawing/2014/main" id="{60C1B2E8-BD1A-2CE5-B2A0-A66C1AEFB3DB}"/>
              </a:ext>
            </a:extLst>
          </p:cNvPr>
          <p:cNvSpPr>
            <a:spLocks noGrp="1"/>
          </p:cNvSpPr>
          <p:nvPr>
            <p:ph idx="1"/>
          </p:nvPr>
        </p:nvSpPr>
        <p:spPr>
          <a:xfrm>
            <a:off x="515770" y="1280953"/>
            <a:ext cx="11157284" cy="5302409"/>
          </a:xfrm>
        </p:spPr>
        <p:txBody>
          <a:bodyPr>
            <a:normAutofit/>
          </a:bodyPr>
          <a:lstStyle/>
          <a:p>
            <a:pPr marL="0" indent="0">
              <a:buNone/>
            </a:pPr>
            <a:r>
              <a:rPr lang="en-US" sz="2400" b="1" u="sng" dirty="0"/>
              <a:t>Problem Scenario:</a:t>
            </a:r>
          </a:p>
          <a:p>
            <a:r>
              <a:rPr lang="en-US" sz="2400" dirty="0"/>
              <a:t>Phishing attacks increased day by day, posing a significant risk to personal credentials, financial data, and corporate systems. </a:t>
            </a:r>
          </a:p>
          <a:p>
            <a:r>
              <a:rPr lang="en-US" sz="2400" dirty="0"/>
              <a:t>Traditional blacklist-based solutions are </a:t>
            </a:r>
            <a:r>
              <a:rPr lang="en-US" sz="2400" b="1" dirty="0"/>
              <a:t>reactive and ineffective</a:t>
            </a:r>
            <a:r>
              <a:rPr lang="en-US" sz="2400" dirty="0"/>
              <a:t> against zero-day attacks.</a:t>
            </a:r>
          </a:p>
          <a:p>
            <a:r>
              <a:rPr lang="en-US" sz="2400" dirty="0"/>
              <a:t>Users lack awareness of attack types and safe practices</a:t>
            </a:r>
          </a:p>
          <a:p>
            <a:pPr marL="0" indent="0">
              <a:buNone/>
            </a:pPr>
            <a:r>
              <a:rPr lang="en-US" sz="2400" b="1" u="sng" dirty="0"/>
              <a:t>Proposed Solution:</a:t>
            </a:r>
          </a:p>
          <a:p>
            <a:pPr marL="0" indent="0">
              <a:buNone/>
            </a:pPr>
            <a:r>
              <a:rPr lang="en-US" sz="2400" b="1" dirty="0"/>
              <a:t>ML Detection Engine</a:t>
            </a:r>
            <a:r>
              <a:rPr lang="en-US" sz="2400" dirty="0"/>
              <a:t>: Trained models for binary classification with confidence scoring.</a:t>
            </a:r>
          </a:p>
          <a:p>
            <a:pPr marL="0" indent="0">
              <a:buNone/>
            </a:pPr>
            <a:r>
              <a:rPr lang="en-US" sz="2400" b="1" dirty="0"/>
              <a:t>Attack Classification System</a:t>
            </a:r>
            <a:r>
              <a:rPr lang="en-US" sz="2400" dirty="0"/>
              <a:t>: Identifies 10 phishing attack types with risk scoring (0-100 scale) and severity classification (Low to Critical).</a:t>
            </a:r>
          </a:p>
          <a:p>
            <a:pPr marL="0" indent="0">
              <a:buNone/>
            </a:pPr>
            <a:r>
              <a:rPr lang="en-US" sz="2400" b="1" dirty="0"/>
              <a:t>Dual Deployment &amp; Education</a:t>
            </a:r>
            <a:r>
              <a:rPr lang="en-US" sz="2400" dirty="0"/>
              <a:t>: REST API, web GUI, browser extension, and educational platform with threat info and response guides</a:t>
            </a:r>
          </a:p>
          <a:p>
            <a:pPr marL="0" indent="0">
              <a:buNone/>
            </a:pPr>
            <a:endParaRPr lang="en-US" sz="2800" dirty="0"/>
          </a:p>
          <a:p>
            <a:pPr marL="0" indent="0">
              <a:buNone/>
            </a:pPr>
            <a:endParaRPr lang="en-US" sz="2800" dirty="0"/>
          </a:p>
          <a:p>
            <a:pPr marL="0" indent="0">
              <a:buNone/>
            </a:pPr>
            <a:endParaRPr lang="en-US" sz="2800" dirty="0"/>
          </a:p>
        </p:txBody>
      </p:sp>
      <p:pic>
        <p:nvPicPr>
          <p:cNvPr id="5" name="Picture 4" descr="PES University Know All about the Indian UGC-Approved University">
            <a:extLst>
              <a:ext uri="{FF2B5EF4-FFF2-40B4-BE49-F238E27FC236}">
                <a16:creationId xmlns:a16="http://schemas.microsoft.com/office/drawing/2014/main" id="{1E51B094-295C-E49A-51B7-FEE7151FB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63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9994BC-5BDF-FCA3-58BB-28AB07D7E3B8}"/>
              </a:ext>
            </a:extLst>
          </p:cNvPr>
          <p:cNvSpPr>
            <a:spLocks noGrp="1"/>
          </p:cNvSpPr>
          <p:nvPr>
            <p:ph idx="1"/>
          </p:nvPr>
        </p:nvSpPr>
        <p:spPr>
          <a:xfrm>
            <a:off x="457199" y="1280954"/>
            <a:ext cx="11237496" cy="4845210"/>
          </a:xfrm>
        </p:spPr>
        <p:txBody>
          <a:bodyPr>
            <a:normAutofit lnSpcReduction="10000"/>
          </a:bodyPr>
          <a:lstStyle/>
          <a:p>
            <a:pPr marL="0" indent="0">
              <a:buNone/>
            </a:pPr>
            <a:r>
              <a:rPr lang="en-US" sz="2400" b="1" u="sng" dirty="0"/>
              <a:t>Purpose:</a:t>
            </a:r>
          </a:p>
          <a:p>
            <a:r>
              <a:rPr lang="en-US" sz="2400" dirty="0"/>
              <a:t>Protect users from phishing attacks through early detection.</a:t>
            </a:r>
          </a:p>
          <a:p>
            <a:r>
              <a:rPr lang="en-US" sz="2400" dirty="0"/>
              <a:t>Educate users about cybersecurity threats and prevention.</a:t>
            </a:r>
          </a:p>
          <a:p>
            <a:r>
              <a:rPr lang="en-US" sz="2400" dirty="0"/>
              <a:t>Provide real-time protection via browser integration.</a:t>
            </a:r>
          </a:p>
          <a:p>
            <a:r>
              <a:rPr lang="en-US" sz="2400" dirty="0"/>
              <a:t>Enable security auditing through bulk URL analysis and reporting.</a:t>
            </a:r>
          </a:p>
          <a:p>
            <a:pPr marL="0" indent="0">
              <a:buNone/>
            </a:pPr>
            <a:r>
              <a:rPr lang="en-US" sz="2400" b="1" u="sng" dirty="0"/>
              <a:t>Scope:</a:t>
            </a:r>
          </a:p>
          <a:p>
            <a:r>
              <a:rPr lang="en-US" sz="2400" dirty="0"/>
              <a:t>ML model training, feature extraction, attack classification, REST API, web GUI, educational content, and risk scoring.</a:t>
            </a:r>
          </a:p>
          <a:p>
            <a:r>
              <a:rPr lang="en-US" sz="2400" dirty="0"/>
              <a:t>Development is moving forward on a browser extension, persistent logging and report export, and a user feedback mechanism.</a:t>
            </a:r>
          </a:p>
          <a:p>
            <a:r>
              <a:rPr lang="en-US" sz="2400" dirty="0"/>
              <a:t>The platform's core components are in place, with additional features and enhancements planned.</a:t>
            </a:r>
          </a:p>
          <a:p>
            <a:pPr marL="0" indent="0">
              <a:buNone/>
            </a:pPr>
            <a:endParaRPr lang="en-US" dirty="0"/>
          </a:p>
          <a:p>
            <a:pPr marL="0" indent="0">
              <a:buNone/>
            </a:pPr>
            <a:endParaRPr lang="en-IN" dirty="0"/>
          </a:p>
        </p:txBody>
      </p:sp>
      <p:pic>
        <p:nvPicPr>
          <p:cNvPr id="4" name="Picture 3" descr="PES University Know All about the Indian UGC-Approved University">
            <a:extLst>
              <a:ext uri="{FF2B5EF4-FFF2-40B4-BE49-F238E27FC236}">
                <a16:creationId xmlns:a16="http://schemas.microsoft.com/office/drawing/2014/main" id="{F0BBD7E2-E2A8-6BB4-6F13-8249A13906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53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8C36B-AB38-53F2-389C-0582B39C9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FAFC3-6C7F-7F7B-04C4-80EECC58E2BD}"/>
              </a:ext>
            </a:extLst>
          </p:cNvPr>
          <p:cNvSpPr>
            <a:spLocks noGrp="1"/>
          </p:cNvSpPr>
          <p:nvPr>
            <p:ph type="title"/>
          </p:nvPr>
        </p:nvSpPr>
        <p:spPr/>
        <p:txBody>
          <a:bodyPr>
            <a:normAutofit/>
          </a:bodyPr>
          <a:lstStyle/>
          <a:p>
            <a:pPr algn="l"/>
            <a:r>
              <a:rPr lang="en-US" sz="3600" b="1" dirty="0"/>
              <a:t>Motivation to Select This Project</a:t>
            </a:r>
          </a:p>
        </p:txBody>
      </p:sp>
      <p:sp>
        <p:nvSpPr>
          <p:cNvPr id="3" name="Content Placeholder 2">
            <a:extLst>
              <a:ext uri="{FF2B5EF4-FFF2-40B4-BE49-F238E27FC236}">
                <a16:creationId xmlns:a16="http://schemas.microsoft.com/office/drawing/2014/main" id="{21ADD81F-CD2D-2859-EB25-E4F9FD25ED73}"/>
              </a:ext>
            </a:extLst>
          </p:cNvPr>
          <p:cNvSpPr>
            <a:spLocks noGrp="1"/>
          </p:cNvSpPr>
          <p:nvPr>
            <p:ph idx="1"/>
          </p:nvPr>
        </p:nvSpPr>
        <p:spPr>
          <a:xfrm>
            <a:off x="457200" y="1600200"/>
            <a:ext cx="11093116" cy="4525963"/>
          </a:xfrm>
        </p:spPr>
        <p:txBody>
          <a:bodyPr>
            <a:normAutofit/>
          </a:bodyPr>
          <a:lstStyle/>
          <a:p>
            <a:r>
              <a:rPr lang="en-US" sz="2600" dirty="0"/>
              <a:t>Increasing phishing attacks demand effective and early detection mechanisms.</a:t>
            </a:r>
          </a:p>
          <a:p>
            <a:r>
              <a:rPr lang="en-US" sz="2600" dirty="0"/>
              <a:t>Static blacklists cannot keep up with sophisticated, emerging phishing campaigns.</a:t>
            </a:r>
          </a:p>
          <a:p>
            <a:r>
              <a:rPr lang="en-US" sz="2600" dirty="0"/>
              <a:t>Real-time browser-integrated protection reduces user exposure.</a:t>
            </a:r>
          </a:p>
          <a:p>
            <a:r>
              <a:rPr lang="en-US" sz="2600" dirty="0"/>
              <a:t>Combination of real-time extension and manual GUI tool empowers users.</a:t>
            </a:r>
          </a:p>
          <a:p>
            <a:r>
              <a:rPr lang="en-US" sz="2600" dirty="0"/>
              <a:t>Classification of phishing URLs by attack type enables tailored prevention.</a:t>
            </a:r>
          </a:p>
          <a:p>
            <a:pPr marL="0" indent="0">
              <a:buNone/>
            </a:pPr>
            <a:endParaRPr lang="en-US" sz="2400" dirty="0"/>
          </a:p>
        </p:txBody>
      </p:sp>
      <p:pic>
        <p:nvPicPr>
          <p:cNvPr id="5" name="Picture 4" descr="PES University Know All about the Indian UGC-Approved University">
            <a:extLst>
              <a:ext uri="{FF2B5EF4-FFF2-40B4-BE49-F238E27FC236}">
                <a16:creationId xmlns:a16="http://schemas.microsoft.com/office/drawing/2014/main" id="{EADA4B49-0491-AED9-CD68-8B95E3AEC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7805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708C-D105-8E86-66F1-2417FA25C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E1224-5A8C-3303-7358-32D4DE9CE6C4}"/>
              </a:ext>
            </a:extLst>
          </p:cNvPr>
          <p:cNvSpPr>
            <a:spLocks noGrp="1"/>
          </p:cNvSpPr>
          <p:nvPr>
            <p:ph type="title"/>
          </p:nvPr>
        </p:nvSpPr>
        <p:spPr/>
        <p:txBody>
          <a:bodyPr>
            <a:normAutofit/>
          </a:bodyPr>
          <a:lstStyle/>
          <a:p>
            <a:pPr algn="l"/>
            <a:r>
              <a:rPr lang="en-US" sz="3600" b="1" dirty="0"/>
              <a:t>Functionalities</a:t>
            </a:r>
          </a:p>
        </p:txBody>
      </p:sp>
      <p:sp>
        <p:nvSpPr>
          <p:cNvPr id="3" name="Content Placeholder 2">
            <a:extLst>
              <a:ext uri="{FF2B5EF4-FFF2-40B4-BE49-F238E27FC236}">
                <a16:creationId xmlns:a16="http://schemas.microsoft.com/office/drawing/2014/main" id="{CD14963A-6FF7-4659-E02D-825FDC1D9F1C}"/>
              </a:ext>
            </a:extLst>
          </p:cNvPr>
          <p:cNvSpPr>
            <a:spLocks noGrp="1"/>
          </p:cNvSpPr>
          <p:nvPr>
            <p:ph idx="1"/>
          </p:nvPr>
        </p:nvSpPr>
        <p:spPr>
          <a:xfrm>
            <a:off x="457200" y="1280953"/>
            <a:ext cx="11093116" cy="5302409"/>
          </a:xfrm>
        </p:spPr>
        <p:txBody>
          <a:bodyPr>
            <a:noAutofit/>
          </a:bodyPr>
          <a:lstStyle/>
          <a:p>
            <a:pPr marL="0" indent="0">
              <a:buNone/>
            </a:pPr>
            <a:r>
              <a:rPr lang="en-US" sz="2400" b="1" dirty="0"/>
              <a:t>1. Dataset Acquisition</a:t>
            </a:r>
            <a:r>
              <a:rPr lang="en-US" sz="2400" dirty="0"/>
              <a:t> – Collects and cleans phishing and legitimate URLs.</a:t>
            </a:r>
          </a:p>
          <a:p>
            <a:pPr marL="0" indent="0">
              <a:buNone/>
            </a:pPr>
            <a:r>
              <a:rPr lang="en-US" sz="2400" b="1" dirty="0"/>
              <a:t>2. Feature Extraction</a:t>
            </a:r>
            <a:r>
              <a:rPr lang="en-US" sz="2400" dirty="0"/>
              <a:t> – Generates 16 key URL features for ML analysis.</a:t>
            </a:r>
          </a:p>
          <a:p>
            <a:pPr marL="0" indent="0">
              <a:buNone/>
            </a:pPr>
            <a:r>
              <a:rPr lang="en-US" sz="2400" b="1" dirty="0"/>
              <a:t>3. Phishing Detection</a:t>
            </a:r>
            <a:r>
              <a:rPr lang="en-US" sz="2400" dirty="0"/>
              <a:t> – Classifies URLs as phishing or legitimate.</a:t>
            </a:r>
          </a:p>
          <a:p>
            <a:pPr marL="0" indent="0">
              <a:buNone/>
            </a:pPr>
            <a:r>
              <a:rPr lang="en-US" sz="2400" b="1" dirty="0"/>
              <a:t>4. Attack Type Classification</a:t>
            </a:r>
            <a:r>
              <a:rPr lang="en-US" sz="2400" dirty="0"/>
              <a:t> – Identifies the specific phishing attack category.</a:t>
            </a:r>
          </a:p>
          <a:p>
            <a:pPr marL="0" indent="0">
              <a:buNone/>
            </a:pPr>
            <a:r>
              <a:rPr lang="en-IN" sz="2400" b="1" dirty="0"/>
              <a:t>5. Risk Scoring</a:t>
            </a:r>
            <a:r>
              <a:rPr lang="en-IN" sz="2400" dirty="0"/>
              <a:t> – Assigns a 0–100 risk score with severity level.</a:t>
            </a:r>
          </a:p>
          <a:p>
            <a:pPr marL="0" indent="0">
              <a:buNone/>
            </a:pPr>
            <a:r>
              <a:rPr lang="en-IN" sz="2400" b="1" dirty="0"/>
              <a:t>6. Prevention and Educational Content</a:t>
            </a:r>
            <a:r>
              <a:rPr lang="en-IN" sz="2400" dirty="0"/>
              <a:t> – Provides warnings and prevention tips for users.</a:t>
            </a:r>
          </a:p>
          <a:p>
            <a:pPr marL="0" indent="0">
              <a:buNone/>
            </a:pPr>
            <a:r>
              <a:rPr lang="en-IN" sz="2400" b="1" dirty="0"/>
              <a:t>7. Batch URL Analysis</a:t>
            </a:r>
            <a:r>
              <a:rPr lang="en-IN" sz="2400" dirty="0"/>
              <a:t> – Scans multiple URLs at once for audits.</a:t>
            </a:r>
          </a:p>
          <a:p>
            <a:pPr marL="0" indent="0">
              <a:buNone/>
            </a:pPr>
            <a:r>
              <a:rPr lang="en-IN" sz="2400" b="1" dirty="0"/>
              <a:t>8. Web GUI</a:t>
            </a:r>
            <a:r>
              <a:rPr lang="en-IN" sz="2400" dirty="0"/>
              <a:t> – User-friendly dashboard for URL scanning and results.</a:t>
            </a:r>
          </a:p>
          <a:p>
            <a:pPr marL="0" indent="0">
              <a:buNone/>
            </a:pPr>
            <a:r>
              <a:rPr lang="en-IN" sz="2400" b="1" dirty="0"/>
              <a:t>8. REST API</a:t>
            </a:r>
            <a:r>
              <a:rPr lang="en-IN" sz="2400" dirty="0"/>
              <a:t> – Backend endpoints for URL scanning and system info.</a:t>
            </a:r>
          </a:p>
          <a:p>
            <a:pPr marL="0" indent="0">
              <a:buNone/>
            </a:pPr>
            <a:r>
              <a:rPr lang="en-IN" sz="2400" b="1" dirty="0"/>
              <a:t>9. Browser Extension</a:t>
            </a:r>
            <a:r>
              <a:rPr lang="en-IN" sz="2400" dirty="0"/>
              <a:t> – Real-time phishing detection inside the browser.</a:t>
            </a:r>
          </a:p>
          <a:p>
            <a:pPr marL="0" indent="0">
              <a:buNone/>
            </a:pPr>
            <a:r>
              <a:rPr lang="en-IN" sz="2400" b="1" dirty="0"/>
              <a:t>10. Logging &amp; Reporting</a:t>
            </a:r>
            <a:r>
              <a:rPr lang="en-IN" sz="2400" dirty="0"/>
              <a:t> – Saves scan results for tracking and analysis.</a:t>
            </a:r>
          </a:p>
          <a:p>
            <a:pPr marL="0" indent="0">
              <a:buNone/>
            </a:pPr>
            <a:br>
              <a:rPr lang="en-US" sz="2400" dirty="0"/>
            </a:br>
            <a:endParaRPr lang="en-US" sz="2400" dirty="0"/>
          </a:p>
        </p:txBody>
      </p:sp>
      <p:pic>
        <p:nvPicPr>
          <p:cNvPr id="5" name="Picture 4" descr="PES University Know All about the Indian UGC-Approved University">
            <a:extLst>
              <a:ext uri="{FF2B5EF4-FFF2-40B4-BE49-F238E27FC236}">
                <a16:creationId xmlns:a16="http://schemas.microsoft.com/office/drawing/2014/main" id="{F30AEE50-25D7-165F-C926-222CF7CA7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07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DD05D-1ABA-8AAD-BF72-065B19F6E159}"/>
              </a:ext>
            </a:extLst>
          </p:cNvPr>
          <p:cNvSpPr>
            <a:spLocks noGrp="1"/>
          </p:cNvSpPr>
          <p:nvPr>
            <p:ph type="title"/>
          </p:nvPr>
        </p:nvSpPr>
        <p:spPr>
          <a:xfrm>
            <a:off x="457200" y="274638"/>
            <a:ext cx="8229600" cy="959802"/>
          </a:xfrm>
        </p:spPr>
        <p:txBody>
          <a:bodyPr>
            <a:normAutofit/>
          </a:bodyPr>
          <a:lstStyle/>
          <a:p>
            <a:pPr algn="l"/>
            <a:r>
              <a:rPr lang="en-IN" sz="3600" b="1" dirty="0"/>
              <a:t>Tools &amp; Technologies</a:t>
            </a:r>
          </a:p>
        </p:txBody>
      </p:sp>
      <p:sp>
        <p:nvSpPr>
          <p:cNvPr id="3" name="Content Placeholder 2">
            <a:extLst>
              <a:ext uri="{FF2B5EF4-FFF2-40B4-BE49-F238E27FC236}">
                <a16:creationId xmlns:a16="http://schemas.microsoft.com/office/drawing/2014/main" id="{AA97A03A-1855-242A-936F-0196308E33BF}"/>
              </a:ext>
            </a:extLst>
          </p:cNvPr>
          <p:cNvSpPr>
            <a:spLocks noGrp="1"/>
          </p:cNvSpPr>
          <p:nvPr>
            <p:ph idx="1"/>
          </p:nvPr>
        </p:nvSpPr>
        <p:spPr>
          <a:xfrm>
            <a:off x="457199" y="1158240"/>
            <a:ext cx="11225463" cy="5290686"/>
          </a:xfrm>
        </p:spPr>
        <p:txBody>
          <a:bodyPr>
            <a:normAutofit lnSpcReduction="10000"/>
          </a:bodyPr>
          <a:lstStyle/>
          <a:p>
            <a:pPr marL="0" indent="0">
              <a:buNone/>
            </a:pPr>
            <a:r>
              <a:rPr lang="en-IN" sz="2000" b="1" u="sng" dirty="0"/>
              <a:t>Backend &amp; ML:</a:t>
            </a:r>
            <a:endParaRPr lang="en-IN" sz="2000" u="sng" dirty="0"/>
          </a:p>
          <a:p>
            <a:r>
              <a:rPr lang="en-IN" sz="2000" b="1" dirty="0"/>
              <a:t>Python 3.13</a:t>
            </a:r>
            <a:r>
              <a:rPr lang="en-IN" sz="2000" dirty="0"/>
              <a:t> - Core programming language</a:t>
            </a:r>
          </a:p>
          <a:p>
            <a:r>
              <a:rPr lang="en-IN" sz="2000" b="1" dirty="0"/>
              <a:t>Pandas 2.2.3 &amp; NumPy 2.2.3</a:t>
            </a:r>
            <a:r>
              <a:rPr lang="en-IN" sz="2000" dirty="0"/>
              <a:t> - Data processing, </a:t>
            </a:r>
          </a:p>
          <a:p>
            <a:r>
              <a:rPr lang="en-IN" sz="2000" b="1" dirty="0"/>
              <a:t>Scikit-learn 1.6.1</a:t>
            </a:r>
            <a:r>
              <a:rPr lang="en-IN" sz="2000" dirty="0"/>
              <a:t> - ML model training</a:t>
            </a:r>
          </a:p>
          <a:p>
            <a:r>
              <a:rPr lang="en-IN" sz="2000" b="1" dirty="0"/>
              <a:t>Models </a:t>
            </a:r>
            <a:r>
              <a:rPr lang="en-IN" sz="2000" dirty="0"/>
              <a:t>: XGBoost, Random Forest, Decision Tree, Multilayer Perceptron, SVM, LightGBM 4.6.0(Best Model), KNN, Gradient Boosting</a:t>
            </a:r>
          </a:p>
          <a:p>
            <a:r>
              <a:rPr lang="en-IN" sz="2000" b="1" dirty="0"/>
              <a:t>Flask 3.1.0 + Flask-CORS 6.0.1</a:t>
            </a:r>
            <a:r>
              <a:rPr lang="en-IN" sz="2000" dirty="0"/>
              <a:t> - REST API framework, </a:t>
            </a:r>
            <a:r>
              <a:rPr lang="en-IN" sz="2000" b="1" dirty="0"/>
              <a:t>Joblib 1.4.2</a:t>
            </a:r>
            <a:r>
              <a:rPr lang="en-IN" sz="2000" dirty="0"/>
              <a:t> - Model serialization</a:t>
            </a:r>
          </a:p>
          <a:p>
            <a:r>
              <a:rPr lang="en-IN" sz="2000" b="1" dirty="0"/>
              <a:t>urllib.parse 2.4.0 - </a:t>
            </a:r>
            <a:r>
              <a:rPr lang="en-IN" sz="2000" dirty="0"/>
              <a:t>URL parsing and analysis</a:t>
            </a:r>
          </a:p>
          <a:p>
            <a:r>
              <a:rPr lang="en-IN" sz="2000" b="1" dirty="0"/>
              <a:t>python-whois 0.9.6 - </a:t>
            </a:r>
            <a:r>
              <a:rPr lang="en-IN" sz="2000" dirty="0"/>
              <a:t>Domain age/expiration lookup, </a:t>
            </a:r>
            <a:r>
              <a:rPr lang="en-IN" sz="2000" b="1" dirty="0"/>
              <a:t>dnspython 2.8.0</a:t>
            </a:r>
            <a:r>
              <a:rPr lang="en-IN" sz="2000" dirty="0"/>
              <a:t> - DNS record validation</a:t>
            </a:r>
          </a:p>
          <a:p>
            <a:r>
              <a:rPr lang="en-IN" sz="2000" b="1" dirty="0"/>
              <a:t>requests 2.32.5 </a:t>
            </a:r>
            <a:r>
              <a:rPr lang="en-IN" sz="2000" dirty="0"/>
              <a:t>- HTTP requests for content analysis, </a:t>
            </a:r>
            <a:r>
              <a:rPr lang="en-IN" sz="2000" b="1" dirty="0"/>
              <a:t>BeautifulSoup4  4.14.2</a:t>
            </a:r>
            <a:r>
              <a:rPr lang="en-IN" sz="2000" dirty="0"/>
              <a:t> - HTML/JavaScript parsing</a:t>
            </a:r>
          </a:p>
          <a:p>
            <a:pPr marL="0" indent="0">
              <a:buNone/>
            </a:pPr>
            <a:r>
              <a:rPr lang="en-IN" sz="2000" b="1" u="sng" dirty="0"/>
              <a:t>Frontend:</a:t>
            </a:r>
            <a:endParaRPr lang="en-IN" sz="2000" u="sng" dirty="0"/>
          </a:p>
          <a:p>
            <a:r>
              <a:rPr lang="en-IN" sz="2000" b="1" dirty="0"/>
              <a:t>React 18</a:t>
            </a:r>
            <a:r>
              <a:rPr lang="en-IN" sz="2000" dirty="0"/>
              <a:t> - Web UI framework</a:t>
            </a:r>
          </a:p>
          <a:p>
            <a:pPr marL="0" indent="0">
              <a:buNone/>
            </a:pPr>
            <a:r>
              <a:rPr lang="en-IN" sz="2000" b="1" u="sng" dirty="0"/>
              <a:t>Browser Extension and Database</a:t>
            </a:r>
          </a:p>
          <a:p>
            <a:r>
              <a:rPr lang="en-IN" sz="2000" b="1" dirty="0"/>
              <a:t>Browser Extension:</a:t>
            </a:r>
            <a:r>
              <a:rPr lang="en-IN" sz="2000" dirty="0"/>
              <a:t> JavaScript, Chrome/Firefox APIs</a:t>
            </a:r>
          </a:p>
          <a:p>
            <a:r>
              <a:rPr lang="en-IN" sz="2000" b="1" dirty="0"/>
              <a:t>Enhanced Logging:</a:t>
            </a:r>
            <a:r>
              <a:rPr lang="en-IN" sz="2000" dirty="0"/>
              <a:t> MongoDB for persistent storage</a:t>
            </a:r>
          </a:p>
          <a:p>
            <a:pPr marL="0" indent="0">
              <a:buNone/>
            </a:pPr>
            <a:endParaRPr lang="en-IN" sz="2000" dirty="0"/>
          </a:p>
          <a:p>
            <a:pPr marL="0" indent="0">
              <a:buNone/>
            </a:pPr>
            <a:endParaRPr lang="en-IN" sz="2000" dirty="0"/>
          </a:p>
          <a:p>
            <a:pPr marL="0" indent="0">
              <a:buNone/>
            </a:pPr>
            <a:endParaRPr lang="en-IN" sz="2000" dirty="0"/>
          </a:p>
          <a:p>
            <a:pPr marL="0" indent="0">
              <a:buNone/>
            </a:pPr>
            <a:endParaRPr lang="en-IN" sz="2400" dirty="0"/>
          </a:p>
          <a:p>
            <a:pPr marL="0" indent="0">
              <a:buNone/>
            </a:pPr>
            <a:endParaRPr lang="en-IN" sz="2400" dirty="0"/>
          </a:p>
        </p:txBody>
      </p:sp>
      <p:pic>
        <p:nvPicPr>
          <p:cNvPr id="4" name="Picture 3" descr="PES University Know All about the Indian UGC-Approved University">
            <a:extLst>
              <a:ext uri="{FF2B5EF4-FFF2-40B4-BE49-F238E27FC236}">
                <a16:creationId xmlns:a16="http://schemas.microsoft.com/office/drawing/2014/main" id="{61254F63-6A8D-93FD-CC8A-F4CCEE4C3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379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08BBD-1375-F771-4584-F319C7BF9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050DA-0CEB-F268-3E6D-FDC9B9E24DF4}"/>
              </a:ext>
            </a:extLst>
          </p:cNvPr>
          <p:cNvSpPr>
            <a:spLocks noGrp="1"/>
          </p:cNvSpPr>
          <p:nvPr>
            <p:ph type="title"/>
          </p:nvPr>
        </p:nvSpPr>
        <p:spPr/>
        <p:txBody>
          <a:bodyPr>
            <a:normAutofit/>
          </a:bodyPr>
          <a:lstStyle/>
          <a:p>
            <a:pPr algn="l">
              <a:defRPr sz="3200" b="1">
                <a:solidFill>
                  <a:srgbClr val="000000"/>
                </a:solidFill>
              </a:defRPr>
            </a:pPr>
            <a:r>
              <a:rPr lang="en-IN" sz="3600" dirty="0"/>
              <a:t>Real-World Applications</a:t>
            </a:r>
            <a:endParaRPr sz="3600" dirty="0"/>
          </a:p>
        </p:txBody>
      </p:sp>
      <p:pic>
        <p:nvPicPr>
          <p:cNvPr id="5" name="Picture 4" descr="PES University Know All about the Indian UGC-Approved University">
            <a:extLst>
              <a:ext uri="{FF2B5EF4-FFF2-40B4-BE49-F238E27FC236}">
                <a16:creationId xmlns:a16="http://schemas.microsoft.com/office/drawing/2014/main" id="{9C24405C-1BE5-5200-0AA6-0F03572D8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15B1C522-EAF4-EAB4-8942-86AF8D9B3798}"/>
              </a:ext>
            </a:extLst>
          </p:cNvPr>
          <p:cNvSpPr>
            <a:spLocks noGrp="1" noChangeArrowheads="1"/>
          </p:cNvSpPr>
          <p:nvPr>
            <p:ph idx="1"/>
          </p:nvPr>
        </p:nvSpPr>
        <p:spPr bwMode="auto">
          <a:xfrm>
            <a:off x="404326" y="2054303"/>
            <a:ext cx="11380172" cy="334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t>Personal Security</a:t>
            </a:r>
            <a:r>
              <a:rPr lang="en-US" sz="2400" dirty="0"/>
              <a:t>: Browser extension provides on-the-fly phishing alerts and blocking, safeguarding credentials and personal data.</a:t>
            </a:r>
          </a:p>
          <a:p>
            <a:r>
              <a:rPr lang="en-US" sz="2400" b="1" dirty="0"/>
              <a:t>Email Security</a:t>
            </a:r>
            <a:r>
              <a:rPr lang="en-US" sz="2400" dirty="0"/>
              <a:t>: Integration to filter malicious links from emails automatically.</a:t>
            </a:r>
          </a:p>
          <a:p>
            <a:r>
              <a:rPr lang="en-US" sz="2400" b="1" dirty="0"/>
              <a:t>Enterprise Security</a:t>
            </a:r>
            <a:r>
              <a:rPr lang="en-US" sz="2400" dirty="0"/>
              <a:t>: Bulk URL analysis and reporting to enhance organizational cybersecurity.</a:t>
            </a:r>
          </a:p>
          <a:p>
            <a:r>
              <a:rPr lang="en-US" sz="2400" b="1" dirty="0"/>
              <a:t>Mobile Security</a:t>
            </a:r>
            <a:r>
              <a:rPr lang="en-US" sz="2400" dirty="0"/>
              <a:t>: Phishing URL warnings embedded in SMS and app messaging.</a:t>
            </a:r>
          </a:p>
          <a:p>
            <a:r>
              <a:rPr lang="en-US" sz="2400" b="1" dirty="0"/>
              <a:t>Security Auditing</a:t>
            </a:r>
            <a:r>
              <a:rPr lang="en-US" sz="2400" dirty="0"/>
              <a:t>: Analysts use standalone GUI for fast, offline phishing investigations.</a:t>
            </a:r>
          </a:p>
          <a:p>
            <a:pPr defTabSz="914400" eaLnBrk="0" fontAlgn="base" hangingPunct="0">
              <a:spcBef>
                <a:spcPct val="0"/>
              </a:spcBef>
              <a:spcAft>
                <a:spcPct val="0"/>
              </a:spcAft>
            </a:pP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55205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41B01-3F36-5931-BE6A-49A2DBF3AEA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289CB3B-B2AC-A539-7639-374B6CEFE3F3}"/>
              </a:ext>
            </a:extLst>
          </p:cNvPr>
          <p:cNvSpPr>
            <a:spLocks noGrp="1"/>
          </p:cNvSpPr>
          <p:nvPr>
            <p:ph type="subTitle" idx="1"/>
          </p:nvPr>
        </p:nvSpPr>
        <p:spPr>
          <a:xfrm>
            <a:off x="365232" y="4665569"/>
            <a:ext cx="3271002" cy="1380667"/>
          </a:xfrm>
        </p:spPr>
        <p:txBody>
          <a:bodyPr>
            <a:normAutofit fontScale="92500" lnSpcReduction="20000"/>
          </a:bodyPr>
          <a:lstStyle/>
          <a:p>
            <a:pPr algn="l">
              <a:defRPr sz="2400">
                <a:solidFill>
                  <a:srgbClr val="000000"/>
                </a:solidFill>
              </a:defRPr>
            </a:pPr>
            <a:r>
              <a:rPr lang="en-US" sz="2400" b="1" dirty="0"/>
              <a:t>Presented By:</a:t>
            </a:r>
          </a:p>
          <a:p>
            <a:pPr algn="l">
              <a:defRPr sz="2400">
                <a:solidFill>
                  <a:srgbClr val="000000"/>
                </a:solidFill>
              </a:defRPr>
            </a:pPr>
            <a:r>
              <a:rPr lang="en-US" sz="2400" b="1" dirty="0"/>
              <a:t>Madhura Naik</a:t>
            </a:r>
          </a:p>
          <a:p>
            <a:pPr algn="l">
              <a:defRPr sz="2400">
                <a:solidFill>
                  <a:srgbClr val="000000"/>
                </a:solidFill>
              </a:defRPr>
            </a:pPr>
            <a:r>
              <a:rPr lang="en-US" sz="2400" dirty="0"/>
              <a:t>PES1PG24CA260</a:t>
            </a:r>
          </a:p>
          <a:p>
            <a:pPr algn="l">
              <a:defRPr sz="2400">
                <a:solidFill>
                  <a:srgbClr val="000000"/>
                </a:solidFill>
              </a:defRPr>
            </a:pPr>
            <a:r>
              <a:rPr lang="en-US" sz="2400" dirty="0"/>
              <a:t>Section D</a:t>
            </a:r>
          </a:p>
        </p:txBody>
      </p:sp>
      <p:pic>
        <p:nvPicPr>
          <p:cNvPr id="1028" name="Picture 4" descr="PES University Know All about the Indian UGC-Approved University">
            <a:extLst>
              <a:ext uri="{FF2B5EF4-FFF2-40B4-BE49-F238E27FC236}">
                <a16:creationId xmlns:a16="http://schemas.microsoft.com/office/drawing/2014/main" id="{0B327769-6190-87A9-9CEE-193F813A3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0AA3A1-930C-CF0A-32B3-0DC5F34EFA54}"/>
              </a:ext>
            </a:extLst>
          </p:cNvPr>
          <p:cNvSpPr txBox="1"/>
          <p:nvPr/>
        </p:nvSpPr>
        <p:spPr>
          <a:xfrm>
            <a:off x="8691647" y="4665570"/>
            <a:ext cx="3271002" cy="830997"/>
          </a:xfrm>
          <a:prstGeom prst="rect">
            <a:avLst/>
          </a:prstGeom>
          <a:noFill/>
        </p:spPr>
        <p:txBody>
          <a:bodyPr wrap="square">
            <a:spAutoFit/>
          </a:bodyPr>
          <a:lstStyle/>
          <a:p>
            <a:pPr algn="r">
              <a:defRPr sz="2400">
                <a:solidFill>
                  <a:srgbClr val="000000"/>
                </a:solidFill>
              </a:defRPr>
            </a:pPr>
            <a:r>
              <a:rPr lang="en-US" b="1" dirty="0"/>
              <a:t>Under the Guidance of:</a:t>
            </a:r>
          </a:p>
          <a:p>
            <a:pPr algn="ctr">
              <a:defRPr sz="2400">
                <a:solidFill>
                  <a:srgbClr val="000000"/>
                </a:solidFill>
              </a:defRPr>
            </a:pPr>
            <a:r>
              <a:rPr lang="en-US" dirty="0"/>
              <a:t>Prof. Archana A</a:t>
            </a:r>
          </a:p>
        </p:txBody>
      </p:sp>
      <p:sp>
        <p:nvSpPr>
          <p:cNvPr id="7" name="Rectangle 2">
            <a:extLst>
              <a:ext uri="{FF2B5EF4-FFF2-40B4-BE49-F238E27FC236}">
                <a16:creationId xmlns:a16="http://schemas.microsoft.com/office/drawing/2014/main" id="{D12F639C-8561-AB21-19EF-AAB4150EA199}"/>
              </a:ext>
            </a:extLst>
          </p:cNvPr>
          <p:cNvSpPr>
            <a:spLocks noGrp="1" noChangeArrowheads="1"/>
          </p:cNvSpPr>
          <p:nvPr>
            <p:ph type="ctrTitle"/>
          </p:nvPr>
        </p:nvSpPr>
        <p:spPr bwMode="auto">
          <a:xfrm>
            <a:off x="673278" y="2322220"/>
            <a:ext cx="1049202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Aft>
                <a:spcPct val="0"/>
              </a:spcAft>
            </a:pPr>
            <a:r>
              <a:rPr lang="en-IN" sz="2800" b="1" dirty="0"/>
              <a:t>Literature Survey On</a:t>
            </a:r>
            <a:br>
              <a:rPr lang="en-IN" sz="4800" b="1" dirty="0"/>
            </a:br>
            <a:r>
              <a:rPr lang="en-IN" sz="4800" b="1" dirty="0"/>
              <a:t>PhishShield ML</a:t>
            </a:r>
            <a:br>
              <a:rPr lang="en-IN" sz="4800" b="1" dirty="0"/>
            </a:br>
            <a:endParaRPr kumimoji="0" lang="en-US" altLang="en-US" sz="2400" b="1" i="1" u="none" strike="noStrike" cap="none" normalizeH="0" baseline="0" dirty="0">
              <a:ln>
                <a:noFill/>
              </a:ln>
              <a:solidFill>
                <a:schemeClr val="tx1"/>
              </a:solidFill>
              <a:effectLst/>
            </a:endParaRPr>
          </a:p>
        </p:txBody>
      </p:sp>
      <p:sp>
        <p:nvSpPr>
          <p:cNvPr id="2" name="TextBox 1">
            <a:extLst>
              <a:ext uri="{FF2B5EF4-FFF2-40B4-BE49-F238E27FC236}">
                <a16:creationId xmlns:a16="http://schemas.microsoft.com/office/drawing/2014/main" id="{F40C086D-43F9-789B-86A4-903B30F62CA0}"/>
              </a:ext>
            </a:extLst>
          </p:cNvPr>
          <p:cNvSpPr txBox="1"/>
          <p:nvPr/>
        </p:nvSpPr>
        <p:spPr>
          <a:xfrm>
            <a:off x="3676741" y="1280953"/>
            <a:ext cx="4758131" cy="584775"/>
          </a:xfrm>
          <a:prstGeom prst="rect">
            <a:avLst/>
          </a:prstGeom>
          <a:noFill/>
        </p:spPr>
        <p:txBody>
          <a:bodyPr wrap="square" rtlCol="0">
            <a:spAutoFit/>
          </a:bodyPr>
          <a:lstStyle/>
          <a:p>
            <a:pPr algn="ctr"/>
            <a:r>
              <a:rPr lang="en-IN" sz="3200" u="sng" dirty="0"/>
              <a:t>Capstone Project Phase - 2</a:t>
            </a:r>
          </a:p>
        </p:txBody>
      </p:sp>
    </p:spTree>
    <p:extLst>
      <p:ext uri="{BB962C8B-B14F-4D97-AF65-F5344CB8AC3E}">
        <p14:creationId xmlns:p14="http://schemas.microsoft.com/office/powerpoint/2010/main" val="1932992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C7E87-50CE-FE24-C38E-A89BCCF79C02}"/>
              </a:ext>
            </a:extLst>
          </p:cNvPr>
          <p:cNvSpPr>
            <a:spLocks noGrp="1"/>
          </p:cNvSpPr>
          <p:nvPr>
            <p:ph type="title"/>
          </p:nvPr>
        </p:nvSpPr>
        <p:spPr/>
        <p:txBody>
          <a:bodyPr>
            <a:normAutofit/>
          </a:bodyPr>
          <a:lstStyle/>
          <a:p>
            <a:pPr algn="l"/>
            <a:r>
              <a:rPr lang="en-US" sz="3600" b="1" dirty="0"/>
              <a:t>Detailed Literature Survey</a:t>
            </a:r>
            <a:endParaRPr lang="en-IN" sz="3600" b="1" dirty="0"/>
          </a:p>
        </p:txBody>
      </p:sp>
      <p:sp>
        <p:nvSpPr>
          <p:cNvPr id="3" name="Content Placeholder 2">
            <a:extLst>
              <a:ext uri="{FF2B5EF4-FFF2-40B4-BE49-F238E27FC236}">
                <a16:creationId xmlns:a16="http://schemas.microsoft.com/office/drawing/2014/main" id="{6B0B1676-BE1B-C90F-8183-BB568B2903EE}"/>
              </a:ext>
            </a:extLst>
          </p:cNvPr>
          <p:cNvSpPr>
            <a:spLocks noGrp="1"/>
          </p:cNvSpPr>
          <p:nvPr>
            <p:ph idx="1"/>
          </p:nvPr>
        </p:nvSpPr>
        <p:spPr>
          <a:xfrm>
            <a:off x="457199" y="1280953"/>
            <a:ext cx="11177337" cy="5409898"/>
          </a:xfrm>
        </p:spPr>
        <p:txBody>
          <a:bodyPr>
            <a:noAutofit/>
          </a:bodyPr>
          <a:lstStyle/>
          <a:p>
            <a:pPr marL="0" indent="0">
              <a:buNone/>
            </a:pPr>
            <a:r>
              <a:rPr lang="en-IN" sz="2000" b="1" u="sng" dirty="0"/>
              <a:t>Paper - 1</a:t>
            </a:r>
          </a:p>
          <a:p>
            <a:pPr marL="0" indent="0">
              <a:buNone/>
            </a:pPr>
            <a:r>
              <a:rPr lang="en-IN" sz="2000" b="1" dirty="0"/>
              <a:t>Title : </a:t>
            </a:r>
            <a:r>
              <a:rPr lang="en-IN" sz="2000" dirty="0"/>
              <a:t>Phishing Website Detection Using Deep Learning Models</a:t>
            </a:r>
          </a:p>
          <a:p>
            <a:pPr marL="0" indent="0">
              <a:buNone/>
            </a:pPr>
            <a:r>
              <a:rPr lang="en-IN" sz="2000" b="1" dirty="0"/>
              <a:t>Authors : </a:t>
            </a:r>
            <a:r>
              <a:rPr lang="en-IN" sz="2000" dirty="0"/>
              <a:t>Ume Zara, Kashif Ayyub, Hikmat Ullah Khan, Ali Daud, Tariq Alsahfi, Saima Gulzar Ahmad</a:t>
            </a:r>
          </a:p>
          <a:p>
            <a:pPr marL="0" indent="0">
              <a:buNone/>
            </a:pPr>
            <a:r>
              <a:rPr lang="en-IN" sz="2000" b="1" dirty="0"/>
              <a:t>Publication with Year : </a:t>
            </a:r>
            <a:r>
              <a:rPr lang="en-IN" sz="2000" dirty="0"/>
              <a:t>IEEE Access, Volume 12, Published October-November 2024</a:t>
            </a:r>
          </a:p>
          <a:p>
            <a:pPr marL="0" indent="0">
              <a:buNone/>
            </a:pPr>
            <a:r>
              <a:rPr lang="en-US" sz="2000" b="1" dirty="0"/>
              <a:t>Summary</a:t>
            </a:r>
            <a:r>
              <a:rPr lang="en-US" sz="2000" dirty="0"/>
              <a:t> :</a:t>
            </a:r>
            <a:r>
              <a:rPr lang="en-IN" sz="2000" dirty="0"/>
              <a:t>The paper presents a comprehensive evaluation of machine learning, deep learning, and ensemble methods for phishing website detection. Using a well-annotated Kaggle dataset and rigorous feature selection, it compares SVM, Decision Tree, KNN, LSTM, RNN, GRU, AdaBoost, XGBoost, and Random Forest. </a:t>
            </a:r>
            <a:r>
              <a:rPr lang="en-IN" sz="2000" b="1" dirty="0"/>
              <a:t>Random Forest </a:t>
            </a:r>
            <a:r>
              <a:rPr lang="en-IN" sz="2000" dirty="0"/>
              <a:t>yields the best performance (99% accuracy), demonstrating its superiority for this task. The study concludes ensemble learning approaches, especially Random Forest, achieve the highest accuracy among evaluated models. It also shares insights on top feature selection strategies and suggests future work integrating visual and behavioral website analysis.</a:t>
            </a:r>
          </a:p>
          <a:p>
            <a:pPr marL="0" indent="0">
              <a:buNone/>
            </a:pPr>
            <a:r>
              <a:rPr lang="en-IN" sz="2000" b="1" dirty="0"/>
              <a:t>Relevance: </a:t>
            </a:r>
          </a:p>
          <a:p>
            <a:r>
              <a:rPr lang="en-US" sz="2000" dirty="0"/>
              <a:t>Confirms that ensemble models like Random Forest/</a:t>
            </a:r>
            <a:r>
              <a:rPr lang="en-US" sz="2000" dirty="0" err="1"/>
              <a:t>XGBoost</a:t>
            </a:r>
            <a:r>
              <a:rPr lang="en-US" sz="2000" dirty="0"/>
              <a:t> give top accuracy, validating your choice of </a:t>
            </a:r>
            <a:r>
              <a:rPr lang="en-US" sz="2000" dirty="0" err="1"/>
              <a:t>LightGBM</a:t>
            </a:r>
            <a:r>
              <a:rPr lang="en-US" sz="2000" dirty="0"/>
              <a:t>/</a:t>
            </a:r>
            <a:r>
              <a:rPr lang="en-US" sz="2000" dirty="0" err="1"/>
              <a:t>XGBoost</a:t>
            </a:r>
            <a:r>
              <a:rPr lang="en-US" sz="2000" dirty="0"/>
              <a:t>.</a:t>
            </a:r>
          </a:p>
          <a:p>
            <a:r>
              <a:rPr lang="en-US" sz="2000" dirty="0"/>
              <a:t>Shows the importance of feature engineering, which your 16-feature pipeline uses.</a:t>
            </a:r>
            <a:endParaRPr lang="en-IN" sz="2000" dirty="0"/>
          </a:p>
          <a:p>
            <a:pPr marL="0" indent="0">
              <a:buNone/>
            </a:pPr>
            <a:endParaRPr lang="en-IN" sz="2000" b="1" dirty="0"/>
          </a:p>
          <a:p>
            <a:pPr marL="0" indent="0">
              <a:buNone/>
            </a:pPr>
            <a:endParaRPr lang="en-IN" sz="2000" b="1" dirty="0"/>
          </a:p>
          <a:p>
            <a:pPr marL="0" indent="0">
              <a:buNone/>
            </a:pP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97FDFA33-5421-F4C0-5C5C-7A77B6B82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315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BA2B4-8910-7638-C3AD-60CDC527C902}"/>
              </a:ext>
            </a:extLst>
          </p:cNvPr>
          <p:cNvSpPr>
            <a:spLocks noGrp="1"/>
          </p:cNvSpPr>
          <p:nvPr>
            <p:ph type="title"/>
          </p:nvPr>
        </p:nvSpPr>
        <p:spPr/>
        <p:txBody>
          <a:bodyPr>
            <a:normAutofit/>
          </a:bodyPr>
          <a:lstStyle/>
          <a:p>
            <a:pPr algn="l"/>
            <a:r>
              <a:rPr lang="en-US" sz="2400" b="1" u="sng" dirty="0"/>
              <a:t>Paper - 2</a:t>
            </a:r>
            <a:endParaRPr lang="en-IN" sz="2400" b="1" u="sng" dirty="0"/>
          </a:p>
        </p:txBody>
      </p:sp>
      <p:sp>
        <p:nvSpPr>
          <p:cNvPr id="3" name="Content Placeholder 2">
            <a:extLst>
              <a:ext uri="{FF2B5EF4-FFF2-40B4-BE49-F238E27FC236}">
                <a16:creationId xmlns:a16="http://schemas.microsoft.com/office/drawing/2014/main" id="{904DD63F-66D7-6D05-DF85-057873FBDABE}"/>
              </a:ext>
            </a:extLst>
          </p:cNvPr>
          <p:cNvSpPr>
            <a:spLocks noGrp="1"/>
          </p:cNvSpPr>
          <p:nvPr>
            <p:ph idx="1"/>
          </p:nvPr>
        </p:nvSpPr>
        <p:spPr>
          <a:xfrm>
            <a:off x="457200" y="1600200"/>
            <a:ext cx="11032958" cy="4525963"/>
          </a:xfrm>
        </p:spPr>
        <p:txBody>
          <a:bodyPr>
            <a:normAutofit fontScale="92500" lnSpcReduction="10000"/>
          </a:bodyPr>
          <a:lstStyle/>
          <a:p>
            <a:pPr marL="0" indent="0">
              <a:buNone/>
            </a:pPr>
            <a:r>
              <a:rPr lang="en-IN" sz="2000" b="1" dirty="0"/>
              <a:t>Title</a:t>
            </a:r>
            <a:r>
              <a:rPr lang="en-IN" sz="2000" dirty="0"/>
              <a:t>: URL-based Phishing Websites Detection via Machine Learning</a:t>
            </a:r>
          </a:p>
          <a:p>
            <a:pPr marL="0" indent="0">
              <a:buNone/>
            </a:pPr>
            <a:r>
              <a:rPr lang="en-IN" sz="2000" b="1" dirty="0"/>
              <a:t>Authors : </a:t>
            </a:r>
            <a:r>
              <a:rPr lang="en-IN" sz="2000" dirty="0"/>
              <a:t>Qasem Abu Al-Haija, Ahmad Al Badawi</a:t>
            </a:r>
          </a:p>
          <a:p>
            <a:pPr marL="0" indent="0">
              <a:buNone/>
            </a:pPr>
            <a:r>
              <a:rPr lang="en-IN" sz="2000" b="1" dirty="0"/>
              <a:t>Publication with Year : </a:t>
            </a:r>
            <a:r>
              <a:rPr lang="en-IN" sz="2000" dirty="0"/>
              <a:t>2021 International Conference on Data Analytics for Business and Industry (ICDABI), IEEE</a:t>
            </a:r>
          </a:p>
          <a:p>
            <a:pPr marL="0" indent="0">
              <a:buNone/>
            </a:pPr>
            <a:r>
              <a:rPr lang="en-US" sz="2000" b="1" dirty="0"/>
              <a:t>Summary </a:t>
            </a:r>
            <a:r>
              <a:rPr lang="en-US" sz="2000" dirty="0"/>
              <a:t>:</a:t>
            </a:r>
            <a:r>
              <a:rPr lang="en-IN" sz="2000" dirty="0"/>
              <a:t>This paper introduces an ML-based phishing website detection system relying on URL features. It evaluates shallow and wide neural network models alongside an optimizable decision tree ensemble. Using a comprehensive phishing URL dataset, they report excellent accuracy around 97% for </a:t>
            </a:r>
            <a:r>
              <a:rPr lang="en-IN" sz="2000" b="1" dirty="0"/>
              <a:t>decision trees</a:t>
            </a:r>
            <a:r>
              <a:rPr lang="en-IN" sz="2000" dirty="0"/>
              <a:t>. The study emphasizes efficient feature selection and the importance of balancing dataset classes. The system provides a practical approach with scope for extension into more complex detection using enhanced models or additional features.</a:t>
            </a:r>
          </a:p>
          <a:p>
            <a:pPr marL="0" indent="0">
              <a:buNone/>
            </a:pPr>
            <a:r>
              <a:rPr lang="en-US" sz="2000" b="1" dirty="0"/>
              <a:t>Relevance:</a:t>
            </a:r>
            <a:endParaRPr lang="en-US" sz="2000" dirty="0"/>
          </a:p>
          <a:p>
            <a:r>
              <a:rPr lang="en-US" sz="2000" dirty="0"/>
              <a:t>Uses </a:t>
            </a:r>
            <a:r>
              <a:rPr lang="en-US" sz="2000" b="1" dirty="0"/>
              <a:t>pure URL-based features</a:t>
            </a:r>
            <a:r>
              <a:rPr lang="en-US" sz="2000" dirty="0"/>
              <a:t>, the same approach as your system.</a:t>
            </a:r>
          </a:p>
          <a:p>
            <a:r>
              <a:rPr lang="en-US" sz="2000" dirty="0"/>
              <a:t>Demonstrates strong performance using </a:t>
            </a:r>
            <a:r>
              <a:rPr lang="en-US" sz="2000" b="1" dirty="0"/>
              <a:t>neural networks + decision trees</a:t>
            </a:r>
            <a:r>
              <a:rPr lang="en-US" sz="2000" dirty="0"/>
              <a:t>, similar to my model selection workflow.</a:t>
            </a:r>
          </a:p>
          <a:p>
            <a:r>
              <a:rPr lang="en-US" sz="2000" dirty="0"/>
              <a:t>Highlights </a:t>
            </a:r>
            <a:r>
              <a:rPr lang="en-US" sz="2000" b="1" dirty="0"/>
              <a:t>data balancing</a:t>
            </a:r>
            <a:r>
              <a:rPr lang="en-US" sz="2000" dirty="0"/>
              <a:t>, which also apply during preprocessing.</a:t>
            </a:r>
          </a:p>
          <a:p>
            <a:pPr marL="0" indent="0">
              <a:buNone/>
            </a:pPr>
            <a:endParaRPr lang="en-IN" sz="2000" dirty="0"/>
          </a:p>
          <a:p>
            <a:pPr marL="0" indent="0">
              <a:buNone/>
            </a:pP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A7035F35-5E03-8003-B2D4-19888C354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673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0380A-4C3A-DE92-8EEF-A7D28EA0407A}"/>
              </a:ext>
            </a:extLst>
          </p:cNvPr>
          <p:cNvSpPr>
            <a:spLocks noGrp="1"/>
          </p:cNvSpPr>
          <p:nvPr>
            <p:ph type="title"/>
          </p:nvPr>
        </p:nvSpPr>
        <p:spPr/>
        <p:txBody>
          <a:bodyPr>
            <a:normAutofit/>
          </a:bodyPr>
          <a:lstStyle/>
          <a:p>
            <a:pPr algn="l"/>
            <a:r>
              <a:rPr lang="en-US" sz="2400" b="1" u="sng" dirty="0"/>
              <a:t>Paper - 3</a:t>
            </a:r>
            <a:endParaRPr lang="en-IN" sz="2400" dirty="0"/>
          </a:p>
        </p:txBody>
      </p:sp>
      <p:sp>
        <p:nvSpPr>
          <p:cNvPr id="3" name="Content Placeholder 2">
            <a:extLst>
              <a:ext uri="{FF2B5EF4-FFF2-40B4-BE49-F238E27FC236}">
                <a16:creationId xmlns:a16="http://schemas.microsoft.com/office/drawing/2014/main" id="{2BA84BA9-BCC3-45BE-F4EE-2EA738E281A9}"/>
              </a:ext>
            </a:extLst>
          </p:cNvPr>
          <p:cNvSpPr>
            <a:spLocks noGrp="1"/>
          </p:cNvSpPr>
          <p:nvPr>
            <p:ph idx="1"/>
          </p:nvPr>
        </p:nvSpPr>
        <p:spPr>
          <a:xfrm>
            <a:off x="457199" y="1600200"/>
            <a:ext cx="10948737" cy="4525963"/>
          </a:xfrm>
        </p:spPr>
        <p:txBody>
          <a:bodyPr>
            <a:normAutofit/>
          </a:bodyPr>
          <a:lstStyle/>
          <a:p>
            <a:pPr marL="0" indent="0">
              <a:buNone/>
            </a:pPr>
            <a:r>
              <a:rPr lang="en-IN" sz="2000" b="1" dirty="0"/>
              <a:t>Title : </a:t>
            </a:r>
            <a:r>
              <a:rPr lang="en-IN" sz="2000" dirty="0"/>
              <a:t>Phishing URL Detection Using Machine Learning and Deep Learning</a:t>
            </a:r>
          </a:p>
          <a:p>
            <a:pPr marL="0" indent="0">
              <a:buNone/>
            </a:pPr>
            <a:r>
              <a:rPr lang="en-IN" sz="2000" b="1" dirty="0"/>
              <a:t>Authors : </a:t>
            </a:r>
            <a:r>
              <a:rPr lang="en-IN" sz="2000" dirty="0"/>
              <a:t>Rawshon Ferdaws, Nahid Ebrahimi Majd</a:t>
            </a:r>
          </a:p>
          <a:p>
            <a:pPr marL="0" indent="0">
              <a:buNone/>
            </a:pPr>
            <a:r>
              <a:rPr lang="en-IN" sz="2000" b="1" dirty="0"/>
              <a:t>Publication with Year : </a:t>
            </a:r>
            <a:r>
              <a:rPr lang="en-IN" sz="2000" dirty="0"/>
              <a:t>Proceedings of the 2024 IEEE World AI &amp; IoT Congress (AIIoT), 2024</a:t>
            </a:r>
          </a:p>
          <a:p>
            <a:pPr marL="0" indent="0">
              <a:buNone/>
            </a:pPr>
            <a:r>
              <a:rPr lang="en-US" sz="2000" b="1" dirty="0"/>
              <a:t>Summary</a:t>
            </a:r>
            <a:r>
              <a:rPr lang="en-US" sz="2000" dirty="0"/>
              <a:t> :</a:t>
            </a:r>
            <a:r>
              <a:rPr lang="en-IN" sz="2000" dirty="0"/>
              <a:t>This paper proposes a combined machine learning and deep learning framework for phishing URL detection using a large </a:t>
            </a:r>
            <a:r>
              <a:rPr lang="en-IN" sz="2000" b="1" dirty="0"/>
              <a:t>Kaggle dataset</a:t>
            </a:r>
            <a:r>
              <a:rPr lang="en-IN" sz="2000" dirty="0"/>
              <a:t>. Extensive feature engineering supports ML models, while DL models learn representations directly from character sequences. </a:t>
            </a:r>
            <a:r>
              <a:rPr lang="en-IN" sz="2000" b="1" dirty="0"/>
              <a:t>LSTM-based</a:t>
            </a:r>
            <a:r>
              <a:rPr lang="en-IN" sz="2000" dirty="0"/>
              <a:t> models outperform others, achieving near 99% F1-score. The study balances accuracy with computational considerations and addresses dataset imbalance issues. These findings and methods provide a strong foundation and practical guidance for designing robust URL phishing detection in real-world applications.</a:t>
            </a:r>
          </a:p>
          <a:p>
            <a:pPr marL="0" indent="0">
              <a:buNone/>
            </a:pPr>
            <a:r>
              <a:rPr lang="en-US" sz="2000" b="1" dirty="0"/>
              <a:t>Relevance </a:t>
            </a:r>
            <a:r>
              <a:rPr lang="en-IN" sz="2000" b="1" dirty="0"/>
              <a:t>:</a:t>
            </a:r>
          </a:p>
          <a:p>
            <a:r>
              <a:rPr lang="en-US" sz="2000" dirty="0"/>
              <a:t>Provides a comparison of ML vs DL models, helping justify model selection in proposed project.</a:t>
            </a:r>
          </a:p>
          <a:p>
            <a:r>
              <a:rPr lang="en-US" sz="2000" dirty="0"/>
              <a:t>Emphasizes F1-score for imbalanced datasets, which you also use.</a:t>
            </a:r>
            <a:endParaRPr lang="en-IN" sz="2000" dirty="0"/>
          </a:p>
        </p:txBody>
      </p:sp>
      <p:pic>
        <p:nvPicPr>
          <p:cNvPr id="4" name="Picture 3" descr="PES University Know All about the Indian UGC-Approved University">
            <a:extLst>
              <a:ext uri="{FF2B5EF4-FFF2-40B4-BE49-F238E27FC236}">
                <a16:creationId xmlns:a16="http://schemas.microsoft.com/office/drawing/2014/main" id="{17E56CAF-9CDF-B807-5564-32811C027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351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F18F3-CDE7-5D12-3CE7-86A614821D39}"/>
              </a:ext>
            </a:extLst>
          </p:cNvPr>
          <p:cNvSpPr>
            <a:spLocks noGrp="1"/>
          </p:cNvSpPr>
          <p:nvPr>
            <p:ph type="title"/>
          </p:nvPr>
        </p:nvSpPr>
        <p:spPr/>
        <p:txBody>
          <a:bodyPr>
            <a:normAutofit/>
          </a:bodyPr>
          <a:lstStyle/>
          <a:p>
            <a:pPr algn="l"/>
            <a:r>
              <a:rPr lang="en-US" sz="2400" b="1" u="sng" dirty="0"/>
              <a:t>Paper - 4</a:t>
            </a:r>
            <a:endParaRPr lang="en-IN" sz="2400" b="1" u="sng" dirty="0"/>
          </a:p>
        </p:txBody>
      </p:sp>
      <p:sp>
        <p:nvSpPr>
          <p:cNvPr id="3" name="Content Placeholder 2">
            <a:extLst>
              <a:ext uri="{FF2B5EF4-FFF2-40B4-BE49-F238E27FC236}">
                <a16:creationId xmlns:a16="http://schemas.microsoft.com/office/drawing/2014/main" id="{34583C2E-C921-0568-4FA2-5785151CD5DC}"/>
              </a:ext>
            </a:extLst>
          </p:cNvPr>
          <p:cNvSpPr>
            <a:spLocks noGrp="1"/>
          </p:cNvSpPr>
          <p:nvPr>
            <p:ph idx="1"/>
          </p:nvPr>
        </p:nvSpPr>
        <p:spPr>
          <a:xfrm>
            <a:off x="457199" y="1600200"/>
            <a:ext cx="11237495" cy="4525963"/>
          </a:xfrm>
        </p:spPr>
        <p:txBody>
          <a:bodyPr>
            <a:normAutofit/>
          </a:bodyPr>
          <a:lstStyle/>
          <a:p>
            <a:pPr marL="0" indent="0">
              <a:buNone/>
            </a:pPr>
            <a:r>
              <a:rPr lang="en-IN" sz="2000" b="1" dirty="0"/>
              <a:t>Title :</a:t>
            </a:r>
            <a:r>
              <a:rPr lang="en-IN" sz="2000" dirty="0"/>
              <a:t> Phishing Detection System Through Hybrid Machine Learning Based on URL</a:t>
            </a:r>
          </a:p>
          <a:p>
            <a:pPr marL="0" indent="0">
              <a:buNone/>
            </a:pPr>
            <a:r>
              <a:rPr lang="en-IN" sz="2000" b="1" dirty="0"/>
              <a:t>Authors : </a:t>
            </a:r>
            <a:r>
              <a:rPr lang="en-IN" sz="2000" dirty="0"/>
              <a:t>Abdul Karim, Mobeen Shahroz, Khabib Mustofa, Samir Brahim Belhaouari, S. Ramana Kumar Joga</a:t>
            </a:r>
          </a:p>
          <a:p>
            <a:pPr marL="0" indent="0">
              <a:buNone/>
            </a:pPr>
            <a:r>
              <a:rPr lang="en-IN" sz="2000" b="1" dirty="0"/>
              <a:t>Publication with Year : </a:t>
            </a:r>
            <a:r>
              <a:rPr lang="en-IN" sz="2000" dirty="0"/>
              <a:t>IEEE Access, Volume 11, 2023</a:t>
            </a:r>
          </a:p>
          <a:p>
            <a:pPr marL="0" indent="0">
              <a:buNone/>
            </a:pPr>
            <a:r>
              <a:rPr lang="en-US" sz="2000" b="1" dirty="0"/>
              <a:t>Summary </a:t>
            </a:r>
            <a:r>
              <a:rPr lang="en-US" sz="2000" dirty="0"/>
              <a:t>:</a:t>
            </a:r>
            <a:r>
              <a:rPr lang="en-IN" sz="2000" dirty="0"/>
              <a:t>This paper presents a hybrid phishing URL detection system using ensemble machine learning classifiers operating on 33 features extracted from 11,000 URLs. It applies rigorous preprocessing, canopy-based feature selection, and tuning to improve model accuracy. The hybrid model combining </a:t>
            </a:r>
            <a:r>
              <a:rPr lang="en-IN" sz="2000" b="1" dirty="0"/>
              <a:t>Logistic Regression, SVM, and Decision Tree </a:t>
            </a:r>
            <a:r>
              <a:rPr lang="en-IN" sz="2000" dirty="0"/>
              <a:t>outperforms individual classifiers, achieving an accuracy of 98.12%. The results support the use of ensemble methods and comprehensive feature engineering in phishing detection, guiding your project’s design and evaluation pipeline.</a:t>
            </a:r>
          </a:p>
          <a:p>
            <a:pPr marL="0" indent="0">
              <a:buNone/>
            </a:pPr>
            <a:r>
              <a:rPr lang="en-US" sz="2000" b="1" dirty="0"/>
              <a:t>Relevance </a:t>
            </a:r>
            <a:r>
              <a:rPr lang="en-IN" sz="2000" b="1" dirty="0"/>
              <a:t>:</a:t>
            </a:r>
          </a:p>
          <a:p>
            <a:r>
              <a:rPr lang="en-IN" sz="2000" dirty="0"/>
              <a:t>Shows that hybrid ensemble models outperform single models, supporting multi-model training strategy.</a:t>
            </a:r>
          </a:p>
          <a:p>
            <a:r>
              <a:rPr lang="en-IN" sz="2000" dirty="0"/>
              <a:t>Reinforces importance of feature selection and tuning, which current project pipeline includes.</a:t>
            </a:r>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9243F3EA-435E-93E0-E2A2-92FEDA7988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892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BC4F3-3870-CB4B-85E4-1A1B4926A0D5}"/>
              </a:ext>
            </a:extLst>
          </p:cNvPr>
          <p:cNvSpPr>
            <a:spLocks noGrp="1"/>
          </p:cNvSpPr>
          <p:nvPr>
            <p:ph type="title"/>
          </p:nvPr>
        </p:nvSpPr>
        <p:spPr>
          <a:xfrm>
            <a:off x="457200" y="274638"/>
            <a:ext cx="8229600" cy="1006315"/>
          </a:xfrm>
        </p:spPr>
        <p:txBody>
          <a:bodyPr>
            <a:normAutofit/>
          </a:bodyPr>
          <a:lstStyle/>
          <a:p>
            <a:pPr algn="l"/>
            <a:r>
              <a:rPr lang="en-US" sz="2400" b="1" u="sng" dirty="0"/>
              <a:t>Paper - 5</a:t>
            </a:r>
            <a:endParaRPr lang="en-IN" sz="2400" dirty="0"/>
          </a:p>
        </p:txBody>
      </p:sp>
      <p:sp>
        <p:nvSpPr>
          <p:cNvPr id="3" name="Content Placeholder 2">
            <a:extLst>
              <a:ext uri="{FF2B5EF4-FFF2-40B4-BE49-F238E27FC236}">
                <a16:creationId xmlns:a16="http://schemas.microsoft.com/office/drawing/2014/main" id="{D4F09E5B-94DA-6D14-9278-71DF0BD88ABE}"/>
              </a:ext>
            </a:extLst>
          </p:cNvPr>
          <p:cNvSpPr>
            <a:spLocks noGrp="1"/>
          </p:cNvSpPr>
          <p:nvPr>
            <p:ph idx="1"/>
          </p:nvPr>
        </p:nvSpPr>
        <p:spPr>
          <a:xfrm>
            <a:off x="457199" y="1280953"/>
            <a:ext cx="11129211" cy="5216099"/>
          </a:xfrm>
        </p:spPr>
        <p:txBody>
          <a:bodyPr>
            <a:noAutofit/>
          </a:bodyPr>
          <a:lstStyle/>
          <a:p>
            <a:pPr marL="0" indent="0">
              <a:buNone/>
            </a:pPr>
            <a:r>
              <a:rPr lang="en-IN" sz="2000" b="1" dirty="0"/>
              <a:t>Title : </a:t>
            </a:r>
            <a:r>
              <a:rPr lang="en-IN" sz="2000" dirty="0"/>
              <a:t>A Hybrid Machine Learning based Phishing Website Detection Technique through Dimensionality Reduction</a:t>
            </a:r>
          </a:p>
          <a:p>
            <a:pPr marL="0" indent="0">
              <a:buNone/>
            </a:pPr>
            <a:r>
              <a:rPr lang="en-IN" sz="2000" b="1" dirty="0"/>
              <a:t>Authors : </a:t>
            </a:r>
            <a:r>
              <a:rPr lang="en-IN" sz="2000" dirty="0"/>
              <a:t>Nusrath Tabassum, Farhin Faiza Neha, Md. Shohrab Hossain, Husnu S. Narman</a:t>
            </a:r>
          </a:p>
          <a:p>
            <a:pPr marL="0" indent="0">
              <a:buNone/>
            </a:pPr>
            <a:r>
              <a:rPr lang="en-IN" sz="2000" b="1" dirty="0"/>
              <a:t>Publication with Year : </a:t>
            </a:r>
            <a:r>
              <a:rPr lang="en-IN" sz="2000" dirty="0"/>
              <a:t>2021 IEEE International Black Sea Conference on Communications and Networking (BlackSeaCom)</a:t>
            </a:r>
          </a:p>
          <a:p>
            <a:pPr marL="0" indent="0">
              <a:buNone/>
            </a:pPr>
            <a:r>
              <a:rPr lang="en-US" sz="2000" b="1" dirty="0"/>
              <a:t>Summary</a:t>
            </a:r>
            <a:r>
              <a:rPr lang="en-US" sz="2000" dirty="0"/>
              <a:t> : </a:t>
            </a:r>
            <a:r>
              <a:rPr lang="en-IN" sz="2000" dirty="0"/>
              <a:t>This paper presents a hybrid machine learning-based phishing website detection method using URL and hyperlink features. By combining multiple classifiers and applying dimensionality reduction, the system achieves high detection accuracy and low false positives. The methodology emphasizes the integration of diverse feature sets and ensemble learning to address phishing threats effectively. It proposes future directions for improving detection on non-standard and mobile phishing websites, aligning closely with your project's goals for real-time and accurate phishing protection.</a:t>
            </a:r>
          </a:p>
          <a:p>
            <a:pPr marL="0" indent="0">
              <a:buNone/>
            </a:pPr>
            <a:r>
              <a:rPr lang="en-US" sz="2000" b="1" dirty="0"/>
              <a:t>Relevance </a:t>
            </a:r>
            <a:r>
              <a:rPr lang="en-IN" sz="2000" b="1" dirty="0"/>
              <a:t>:</a:t>
            </a:r>
          </a:p>
          <a:p>
            <a:r>
              <a:rPr lang="en-IN" sz="2000" dirty="0"/>
              <a:t>Demonstrates benefits of dimensionality reduction, useful for optimizing model.</a:t>
            </a:r>
          </a:p>
          <a:p>
            <a:r>
              <a:rPr lang="en-IN" sz="2000" dirty="0"/>
              <a:t>Highlights bagging + boosting, matching your </a:t>
            </a:r>
            <a:r>
              <a:rPr lang="en-IN" sz="2000" dirty="0" err="1"/>
              <a:t>XGBoost</a:t>
            </a:r>
            <a:r>
              <a:rPr lang="en-IN" sz="2000" dirty="0"/>
              <a:t> and </a:t>
            </a:r>
            <a:r>
              <a:rPr lang="en-IN" sz="2000" dirty="0" err="1"/>
              <a:t>LightGBM</a:t>
            </a:r>
            <a:r>
              <a:rPr lang="en-IN" sz="2000" dirty="0"/>
              <a:t> models.</a:t>
            </a:r>
          </a:p>
          <a:p>
            <a:pPr marL="0" indent="0">
              <a:buNone/>
            </a:pP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70B991F2-B095-F48E-9730-64283ACEB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20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DAAF4-42E8-298F-2B86-27B103C9A2F0}"/>
              </a:ext>
            </a:extLst>
          </p:cNvPr>
          <p:cNvSpPr>
            <a:spLocks noGrp="1"/>
          </p:cNvSpPr>
          <p:nvPr>
            <p:ph type="title"/>
          </p:nvPr>
        </p:nvSpPr>
        <p:spPr/>
        <p:txBody>
          <a:bodyPr>
            <a:normAutofit/>
          </a:bodyPr>
          <a:lstStyle/>
          <a:p>
            <a:pPr algn="l"/>
            <a:r>
              <a:rPr lang="en-US" sz="2400" b="1" u="sng" dirty="0"/>
              <a:t>Paper - 6</a:t>
            </a:r>
            <a:endParaRPr lang="en-IN" sz="2400" b="1" u="sng" dirty="0"/>
          </a:p>
        </p:txBody>
      </p:sp>
      <p:sp>
        <p:nvSpPr>
          <p:cNvPr id="3" name="Content Placeholder 2">
            <a:extLst>
              <a:ext uri="{FF2B5EF4-FFF2-40B4-BE49-F238E27FC236}">
                <a16:creationId xmlns:a16="http://schemas.microsoft.com/office/drawing/2014/main" id="{5609A870-252F-EF04-6C30-52053B9755C6}"/>
              </a:ext>
            </a:extLst>
          </p:cNvPr>
          <p:cNvSpPr>
            <a:spLocks noGrp="1"/>
          </p:cNvSpPr>
          <p:nvPr>
            <p:ph idx="1"/>
          </p:nvPr>
        </p:nvSpPr>
        <p:spPr>
          <a:xfrm>
            <a:off x="535822" y="1143000"/>
            <a:ext cx="11117180" cy="4912568"/>
          </a:xfrm>
        </p:spPr>
        <p:txBody>
          <a:bodyPr>
            <a:normAutofit/>
          </a:bodyPr>
          <a:lstStyle/>
          <a:p>
            <a:pPr marL="0" indent="0">
              <a:buNone/>
            </a:pPr>
            <a:r>
              <a:rPr lang="en-IN" sz="2000" b="1" dirty="0"/>
              <a:t>Title :</a:t>
            </a:r>
            <a:r>
              <a:rPr lang="en-IN" sz="2000" dirty="0"/>
              <a:t> Phishing URL Detection: A Real-Case Scenario Through Login URLs</a:t>
            </a:r>
          </a:p>
          <a:p>
            <a:pPr marL="0" indent="0">
              <a:buNone/>
            </a:pPr>
            <a:r>
              <a:rPr lang="en-IN" sz="2000" b="1" dirty="0"/>
              <a:t>Authors : </a:t>
            </a:r>
            <a:r>
              <a:rPr lang="en-IN" sz="2000" dirty="0"/>
              <a:t>Manuel Sánchez-Paniagua, Eduardo Fidalgo Fernández, Enrique Alegre, Wesam Al-Nabki, Víctor González-Castro</a:t>
            </a:r>
          </a:p>
          <a:p>
            <a:pPr marL="0" indent="0">
              <a:buNone/>
            </a:pPr>
            <a:r>
              <a:rPr lang="en-IN" sz="2000" b="1" dirty="0"/>
              <a:t>Publication with Year : </a:t>
            </a:r>
            <a:r>
              <a:rPr lang="en-IN" sz="2000" dirty="0"/>
              <a:t>IEEE Access, Volume 10, 2022</a:t>
            </a:r>
          </a:p>
          <a:p>
            <a:pPr marL="0" indent="0">
              <a:buNone/>
            </a:pPr>
            <a:r>
              <a:rPr lang="en-US" sz="2000" b="1" dirty="0"/>
              <a:t>Summary</a:t>
            </a:r>
            <a:r>
              <a:rPr lang="en-US" sz="2000" dirty="0"/>
              <a:t> :</a:t>
            </a:r>
            <a:r>
              <a:rPr lang="en-IN" sz="2000" dirty="0"/>
              <a:t>This paper introduces PILU-90K, a </a:t>
            </a:r>
            <a:r>
              <a:rPr lang="en-IN" sz="2000" b="1" dirty="0"/>
              <a:t>novel datase</a:t>
            </a:r>
            <a:r>
              <a:rPr lang="en-IN" sz="2000" dirty="0"/>
              <a:t>t emphasizing phishing URL detection against legitimate login pages, which are often overlooked. Through extensive ML and deep learning evaluations, it shows models trained on standard datasets may not accurately detect phishing when legitimate login URLs are used as controls. The best results were obtained with </a:t>
            </a:r>
            <a:r>
              <a:rPr lang="en-IN" sz="2000" b="1" dirty="0"/>
              <a:t>TF-IDF and logistic regression</a:t>
            </a:r>
            <a:r>
              <a:rPr lang="en-IN" sz="2000" dirty="0"/>
              <a:t> on character-level n-gram features, achieving around 96.5% accuracy. The work advocates for updated datasets and realistic scenario modeling, addressing practical limitations in phishing detection. This study is highly relevant for developing robust, user-centric phishing detection and prevention systems.</a:t>
            </a:r>
          </a:p>
          <a:p>
            <a:pPr marL="0" indent="0">
              <a:buNone/>
            </a:pPr>
            <a:r>
              <a:rPr lang="en-US" sz="2000" b="1" dirty="0"/>
              <a:t>Relevance </a:t>
            </a:r>
            <a:r>
              <a:rPr lang="en-IN" sz="2000" b="1" dirty="0"/>
              <a:t>:</a:t>
            </a:r>
          </a:p>
          <a:p>
            <a:r>
              <a:rPr lang="en-IN" sz="2000" dirty="0"/>
              <a:t>Introduces real-world dataset challenges, especially login-page phishing, relevant for risk scoring.</a:t>
            </a:r>
          </a:p>
          <a:p>
            <a:r>
              <a:rPr lang="en-IN" sz="2000" dirty="0"/>
              <a:t>Highlights false positives in login URLs, guiding your UI warnings and advice section.</a:t>
            </a:r>
          </a:p>
        </p:txBody>
      </p:sp>
      <p:pic>
        <p:nvPicPr>
          <p:cNvPr id="4" name="Picture 3" descr="PES University Know All about the Indian UGC-Approved University">
            <a:extLst>
              <a:ext uri="{FF2B5EF4-FFF2-40B4-BE49-F238E27FC236}">
                <a16:creationId xmlns:a16="http://schemas.microsoft.com/office/drawing/2014/main" id="{26ECFBD1-B53E-76BC-D882-8D7C845E8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904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DC999-480F-A9AE-BB6C-53C32A1D96F1}"/>
              </a:ext>
            </a:extLst>
          </p:cNvPr>
          <p:cNvSpPr>
            <a:spLocks noGrp="1"/>
          </p:cNvSpPr>
          <p:nvPr>
            <p:ph type="title"/>
          </p:nvPr>
        </p:nvSpPr>
        <p:spPr/>
        <p:txBody>
          <a:bodyPr>
            <a:normAutofit/>
          </a:bodyPr>
          <a:lstStyle/>
          <a:p>
            <a:pPr algn="l"/>
            <a:r>
              <a:rPr lang="en-US" sz="2400" b="1" u="sng" dirty="0"/>
              <a:t>Paper - 7</a:t>
            </a:r>
            <a:endParaRPr lang="en-IN" sz="2400" b="1" u="sng" dirty="0"/>
          </a:p>
        </p:txBody>
      </p:sp>
      <p:sp>
        <p:nvSpPr>
          <p:cNvPr id="3" name="Content Placeholder 2">
            <a:extLst>
              <a:ext uri="{FF2B5EF4-FFF2-40B4-BE49-F238E27FC236}">
                <a16:creationId xmlns:a16="http://schemas.microsoft.com/office/drawing/2014/main" id="{AC55306B-5C5F-0040-0A50-1675341E22B7}"/>
              </a:ext>
            </a:extLst>
          </p:cNvPr>
          <p:cNvSpPr>
            <a:spLocks noGrp="1"/>
          </p:cNvSpPr>
          <p:nvPr>
            <p:ph idx="1"/>
          </p:nvPr>
        </p:nvSpPr>
        <p:spPr>
          <a:xfrm>
            <a:off x="457200" y="1417637"/>
            <a:ext cx="11020926" cy="5067383"/>
          </a:xfrm>
        </p:spPr>
        <p:txBody>
          <a:bodyPr>
            <a:noAutofit/>
          </a:bodyPr>
          <a:lstStyle/>
          <a:p>
            <a:pPr marL="0" indent="0">
              <a:buNone/>
            </a:pPr>
            <a:r>
              <a:rPr lang="en-IN" sz="2000" b="1" dirty="0"/>
              <a:t>Title : </a:t>
            </a:r>
            <a:r>
              <a:rPr lang="en-IN" sz="2000" dirty="0"/>
              <a:t>Machine Learning Techniques for Detection of Website Phishing: A Review for Promises and Challenges</a:t>
            </a:r>
          </a:p>
          <a:p>
            <a:pPr marL="0" indent="0">
              <a:buNone/>
            </a:pPr>
            <a:r>
              <a:rPr lang="en-IN" sz="2000" b="1" dirty="0"/>
              <a:t>Authors : </a:t>
            </a:r>
            <a:r>
              <a:rPr lang="en-IN" sz="2000" dirty="0"/>
              <a:t>Ammar Jamil Odeh, Ismail Mohamed Keshta, Eman Abdelfattah</a:t>
            </a:r>
          </a:p>
          <a:p>
            <a:pPr marL="0" indent="0">
              <a:buNone/>
            </a:pPr>
            <a:r>
              <a:rPr lang="en-IN" sz="2000" b="1" dirty="0"/>
              <a:t>Publication with Year : </a:t>
            </a:r>
            <a:r>
              <a:rPr lang="en-IN" sz="2000" dirty="0"/>
              <a:t>2021 IEEE 11th Annual Computing and Communication Workshop and Conference (CCWC)</a:t>
            </a:r>
          </a:p>
          <a:p>
            <a:pPr marL="0" indent="0">
              <a:buNone/>
            </a:pPr>
            <a:r>
              <a:rPr lang="en-US" sz="2000" b="1" dirty="0"/>
              <a:t>Summary </a:t>
            </a:r>
            <a:r>
              <a:rPr lang="en-US" sz="2000" dirty="0"/>
              <a:t>:  </a:t>
            </a:r>
            <a:r>
              <a:rPr lang="en-IN" sz="2000" dirty="0"/>
              <a:t>This review surveys the field of phishing website detection using ML and DL, comparing traditional and advanced approaches. It concludes that while deep learning solutions (CNN, RNN) show better accuracy, traditional models like Random Forest and SVM remain strong contenders with good feature engineering. It recommends continued exploration of hybrid ensemble models and emphasizes the need to reduce false positives/negatives and select optimal features. The paper is a comprehensive resource for understanding past, present, and future advances in phishing detection using machine learning.</a:t>
            </a:r>
          </a:p>
          <a:p>
            <a:pPr marL="0" indent="0">
              <a:buNone/>
            </a:pPr>
            <a:r>
              <a:rPr lang="en-US" sz="2000" b="1" dirty="0"/>
              <a:t>Relevance </a:t>
            </a:r>
            <a:r>
              <a:rPr lang="en-IN" sz="2000" b="1" dirty="0"/>
              <a:t>:</a:t>
            </a:r>
          </a:p>
          <a:p>
            <a:r>
              <a:rPr lang="en-US" sz="2000" dirty="0"/>
              <a:t>Provides a broad comparison of traditional ML vs DL, helping justify model architecture.</a:t>
            </a:r>
          </a:p>
          <a:p>
            <a:r>
              <a:rPr lang="en-US" sz="2000" dirty="0"/>
              <a:t>Validates the use of Random Forest, SVM, CNN, aligning with model evaluation list.</a:t>
            </a: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18683DC1-674B-9165-08F7-F61AB81080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937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FDE3E-FB54-3269-A496-004D0312BA1B}"/>
              </a:ext>
            </a:extLst>
          </p:cNvPr>
          <p:cNvSpPr>
            <a:spLocks noGrp="1"/>
          </p:cNvSpPr>
          <p:nvPr>
            <p:ph type="title"/>
          </p:nvPr>
        </p:nvSpPr>
        <p:spPr/>
        <p:txBody>
          <a:bodyPr>
            <a:normAutofit/>
          </a:bodyPr>
          <a:lstStyle/>
          <a:p>
            <a:pPr algn="l"/>
            <a:r>
              <a:rPr lang="en-US" sz="2400" b="1" u="sng" dirty="0"/>
              <a:t>Paper - 8</a:t>
            </a:r>
            <a:endParaRPr lang="en-IN" sz="2400" b="1" u="sng" dirty="0"/>
          </a:p>
        </p:txBody>
      </p:sp>
      <p:sp>
        <p:nvSpPr>
          <p:cNvPr id="3" name="Content Placeholder 2">
            <a:extLst>
              <a:ext uri="{FF2B5EF4-FFF2-40B4-BE49-F238E27FC236}">
                <a16:creationId xmlns:a16="http://schemas.microsoft.com/office/drawing/2014/main" id="{3BC2CC2D-947F-EBBB-052E-6FABFE25327E}"/>
              </a:ext>
            </a:extLst>
          </p:cNvPr>
          <p:cNvSpPr>
            <a:spLocks noGrp="1"/>
          </p:cNvSpPr>
          <p:nvPr>
            <p:ph idx="1"/>
          </p:nvPr>
        </p:nvSpPr>
        <p:spPr>
          <a:xfrm>
            <a:off x="457200" y="1280954"/>
            <a:ext cx="11020926" cy="5302408"/>
          </a:xfrm>
        </p:spPr>
        <p:txBody>
          <a:bodyPr>
            <a:noAutofit/>
          </a:bodyPr>
          <a:lstStyle/>
          <a:p>
            <a:pPr marL="0" indent="0">
              <a:buNone/>
            </a:pPr>
            <a:r>
              <a:rPr lang="en-IN" sz="2000" b="1" dirty="0"/>
              <a:t>Title</a:t>
            </a:r>
            <a:r>
              <a:rPr lang="en-IN" sz="2000" dirty="0"/>
              <a:t> : Enhancing Online Safety Phishing URL Detection Using Machine Learning and Explainable AI</a:t>
            </a:r>
          </a:p>
          <a:p>
            <a:pPr marL="0" indent="0">
              <a:buNone/>
            </a:pPr>
            <a:r>
              <a:rPr lang="en-IN" sz="2000" b="1" dirty="0"/>
              <a:t>Authors : </a:t>
            </a:r>
            <a:r>
              <a:rPr lang="en-IN" sz="2000" dirty="0"/>
              <a:t>Bhupathi Vishva Pavani, Desham Mahitha, B. Uma Maheswari</a:t>
            </a:r>
          </a:p>
          <a:p>
            <a:pPr marL="0" indent="0">
              <a:buNone/>
            </a:pPr>
            <a:r>
              <a:rPr lang="en-IN" sz="2000" b="1" dirty="0"/>
              <a:t>Publication with Year : </a:t>
            </a:r>
            <a:r>
              <a:rPr lang="en-IN" sz="2000" dirty="0"/>
              <a:t>2024 15th International Conference on Computing Communication and Networking Technologies (ICCCNT), IEEE</a:t>
            </a:r>
          </a:p>
          <a:p>
            <a:pPr marL="0" indent="0">
              <a:buNone/>
            </a:pPr>
            <a:r>
              <a:rPr lang="en-US" sz="2000" b="1" dirty="0"/>
              <a:t>Summary</a:t>
            </a:r>
            <a:r>
              <a:rPr lang="en-US" sz="2000" dirty="0"/>
              <a:t> :</a:t>
            </a:r>
            <a:r>
              <a:rPr lang="en-IN" sz="2000" dirty="0"/>
              <a:t>This study presents a highly accurate machine learning framework for phishing URL detection paired </a:t>
            </a:r>
            <a:r>
              <a:rPr lang="en-IN" sz="2000" b="1" dirty="0"/>
              <a:t>with Explainable AI techniques (SHAP and LIME)</a:t>
            </a:r>
            <a:r>
              <a:rPr lang="en-IN" sz="2000" dirty="0"/>
              <a:t> to provide transparency into model decisions. Random Forest emerged as the top performing model, and XAI methods elucidated contributions of features like external hyperlink percentages and domain mismatches to predictions. This enhances user and cybersecurity professional understanding, in addition to detection accuracy. The approach’s integration of explainability is crucial for real-world adoption and trust, guiding cybersecurity solutions like your project.</a:t>
            </a:r>
          </a:p>
          <a:p>
            <a:pPr marL="0" indent="0">
              <a:buNone/>
            </a:pPr>
            <a:r>
              <a:rPr lang="en-US" sz="2000" b="1" dirty="0"/>
              <a:t>Relevance </a:t>
            </a:r>
            <a:r>
              <a:rPr lang="en-IN" sz="2000" b="1" dirty="0"/>
              <a:t>:</a:t>
            </a:r>
          </a:p>
          <a:p>
            <a:r>
              <a:rPr lang="en-US" sz="2000" dirty="0"/>
              <a:t>Introduces XAI (SHAP/LIME) techniques, supporting educational content + explainability features.</a:t>
            </a:r>
          </a:p>
          <a:p>
            <a:r>
              <a:rPr lang="en-US" sz="2000" dirty="0"/>
              <a:t>Shows how feature importance can enhance user trust.</a:t>
            </a:r>
          </a:p>
          <a:p>
            <a:r>
              <a:rPr lang="en-US" sz="2000" dirty="0"/>
              <a:t>Reinforces  approach of making results interpretable (attack type + risk score).</a:t>
            </a:r>
            <a:endParaRPr lang="en-IN" sz="2000" dirty="0"/>
          </a:p>
          <a:p>
            <a:pPr marL="0" indent="0">
              <a:buNone/>
            </a:pP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18EB8C6B-808A-940C-F2C0-B956B49C8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220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F0800-2BBF-CAC1-7FB8-58DAE73C3020}"/>
              </a:ext>
            </a:extLst>
          </p:cNvPr>
          <p:cNvSpPr>
            <a:spLocks noGrp="1"/>
          </p:cNvSpPr>
          <p:nvPr>
            <p:ph type="title"/>
          </p:nvPr>
        </p:nvSpPr>
        <p:spPr/>
        <p:txBody>
          <a:bodyPr>
            <a:normAutofit/>
          </a:bodyPr>
          <a:lstStyle/>
          <a:p>
            <a:pPr algn="l"/>
            <a:r>
              <a:rPr lang="en-US" sz="2400" b="1" u="sng" dirty="0"/>
              <a:t>Paper - 9</a:t>
            </a:r>
            <a:endParaRPr lang="en-IN" sz="2400" b="1" u="sng" dirty="0"/>
          </a:p>
        </p:txBody>
      </p:sp>
      <p:sp>
        <p:nvSpPr>
          <p:cNvPr id="3" name="Content Placeholder 2">
            <a:extLst>
              <a:ext uri="{FF2B5EF4-FFF2-40B4-BE49-F238E27FC236}">
                <a16:creationId xmlns:a16="http://schemas.microsoft.com/office/drawing/2014/main" id="{53CD1DE4-6E3D-3BC9-D0FF-D2EA0A34568C}"/>
              </a:ext>
            </a:extLst>
          </p:cNvPr>
          <p:cNvSpPr>
            <a:spLocks noGrp="1"/>
          </p:cNvSpPr>
          <p:nvPr>
            <p:ph idx="1"/>
          </p:nvPr>
        </p:nvSpPr>
        <p:spPr>
          <a:xfrm>
            <a:off x="457200" y="1600200"/>
            <a:ext cx="11020926" cy="4525963"/>
          </a:xfrm>
        </p:spPr>
        <p:txBody>
          <a:bodyPr>
            <a:normAutofit/>
          </a:bodyPr>
          <a:lstStyle/>
          <a:p>
            <a:pPr marL="0" indent="0">
              <a:buNone/>
            </a:pPr>
            <a:r>
              <a:rPr lang="en-IN" sz="2000" b="1" dirty="0"/>
              <a:t>Title </a:t>
            </a:r>
            <a:r>
              <a:rPr lang="en-IN" sz="2000" dirty="0"/>
              <a:t>: Phishing URL Detection Using Machine Learning: A Comparative Study</a:t>
            </a:r>
          </a:p>
          <a:p>
            <a:pPr marL="0" indent="0">
              <a:buNone/>
            </a:pPr>
            <a:r>
              <a:rPr lang="en-IN" sz="2000" b="1" dirty="0"/>
              <a:t>Authors : </a:t>
            </a:r>
            <a:r>
              <a:rPr lang="en-IN" sz="2000" dirty="0"/>
              <a:t>Dr. Sahana Lokesh R</a:t>
            </a:r>
          </a:p>
          <a:p>
            <a:pPr marL="0" indent="0">
              <a:buNone/>
            </a:pPr>
            <a:r>
              <a:rPr lang="en-IN" sz="2000" b="1" dirty="0"/>
              <a:t>Publication with Year : </a:t>
            </a:r>
            <a:r>
              <a:rPr lang="en-IN" sz="2000" dirty="0"/>
              <a:t>Proceedings of the 6th International Conference on Mobile Computing and Sustainable Informatics (ICMCSI), 2025, IEEE</a:t>
            </a:r>
          </a:p>
          <a:p>
            <a:pPr marL="0" indent="0">
              <a:buNone/>
            </a:pPr>
            <a:r>
              <a:rPr lang="en-US" sz="2000" b="1" dirty="0"/>
              <a:t>Summary</a:t>
            </a:r>
            <a:r>
              <a:rPr lang="en-US" sz="2000" dirty="0"/>
              <a:t> :</a:t>
            </a:r>
            <a:r>
              <a:rPr lang="en-IN" sz="2000" dirty="0"/>
              <a:t>This paper systematically compares six popular machine learning algorithms for phishing URL detection using a Kaggle dataset. </a:t>
            </a:r>
            <a:r>
              <a:rPr lang="en-IN" sz="2000" b="1" dirty="0"/>
              <a:t>Random Forest </a:t>
            </a:r>
            <a:r>
              <a:rPr lang="en-IN" sz="2000" dirty="0"/>
              <a:t>achieves the highest accuracy (94.5%) and best balance of precision and recall. SVC is a strong alternative, while Naive Bayes performs weaker due to feature independence assumptions. The study underscores the importance of feature selection and presents a confusion matrix analysis for model interpretability. It suggests future work on integrating deep learning and multi-data sources to further improve phishing detection accuracy and robustness.</a:t>
            </a:r>
          </a:p>
          <a:p>
            <a:pPr marL="0" indent="0">
              <a:buNone/>
            </a:pPr>
            <a:r>
              <a:rPr lang="en-US" sz="2000" b="1" dirty="0"/>
              <a:t>Relevance </a:t>
            </a:r>
            <a:r>
              <a:rPr lang="en-IN" sz="2000" dirty="0"/>
              <a:t>:</a:t>
            </a:r>
          </a:p>
          <a:p>
            <a:r>
              <a:rPr lang="en-US" sz="2000" dirty="0"/>
              <a:t>Offers a benchmark comparing six ML models, similar to proposed multi-model comparison table.</a:t>
            </a:r>
          </a:p>
          <a:p>
            <a:r>
              <a:rPr lang="en-US" sz="2000" dirty="0"/>
              <a:t>Supports selection of Random Forest and SVC as strong candidates.</a:t>
            </a:r>
            <a:endParaRPr lang="en-IN" sz="2000" dirty="0"/>
          </a:p>
          <a:p>
            <a:pPr marL="0" indent="0">
              <a:buNone/>
            </a:pPr>
            <a:endParaRPr lang="en-IN" sz="2000" dirty="0"/>
          </a:p>
          <a:p>
            <a:endParaRPr lang="en-IN" sz="2000" dirty="0"/>
          </a:p>
        </p:txBody>
      </p:sp>
      <p:pic>
        <p:nvPicPr>
          <p:cNvPr id="4" name="Picture 3" descr="PES University Know All about the Indian UGC-Approved University">
            <a:extLst>
              <a:ext uri="{FF2B5EF4-FFF2-40B4-BE49-F238E27FC236}">
                <a16:creationId xmlns:a16="http://schemas.microsoft.com/office/drawing/2014/main" id="{FDA6C399-9447-1470-0170-002E721B1B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8706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9B822-39A0-DF49-C475-07821605BBF8}"/>
              </a:ext>
            </a:extLst>
          </p:cNvPr>
          <p:cNvSpPr>
            <a:spLocks noGrp="1"/>
          </p:cNvSpPr>
          <p:nvPr>
            <p:ph type="title"/>
          </p:nvPr>
        </p:nvSpPr>
        <p:spPr/>
        <p:txBody>
          <a:bodyPr>
            <a:normAutofit/>
          </a:bodyPr>
          <a:lstStyle/>
          <a:p>
            <a:pPr algn="l"/>
            <a:r>
              <a:rPr lang="en-US" sz="2400" b="1" u="sng" dirty="0"/>
              <a:t>Paper - 10</a:t>
            </a:r>
            <a:endParaRPr lang="en-IN" sz="2400" b="1" u="sng" dirty="0"/>
          </a:p>
        </p:txBody>
      </p:sp>
      <p:sp>
        <p:nvSpPr>
          <p:cNvPr id="3" name="Content Placeholder 2">
            <a:extLst>
              <a:ext uri="{FF2B5EF4-FFF2-40B4-BE49-F238E27FC236}">
                <a16:creationId xmlns:a16="http://schemas.microsoft.com/office/drawing/2014/main" id="{61FD01D8-B2BA-19C4-C941-271EF8C1ABF8}"/>
              </a:ext>
            </a:extLst>
          </p:cNvPr>
          <p:cNvSpPr>
            <a:spLocks noGrp="1"/>
          </p:cNvSpPr>
          <p:nvPr>
            <p:ph idx="1"/>
          </p:nvPr>
        </p:nvSpPr>
        <p:spPr>
          <a:xfrm>
            <a:off x="457199" y="1600200"/>
            <a:ext cx="11057021" cy="4525963"/>
          </a:xfrm>
        </p:spPr>
        <p:txBody>
          <a:bodyPr>
            <a:normAutofit/>
          </a:bodyPr>
          <a:lstStyle/>
          <a:p>
            <a:pPr marL="0" indent="0">
              <a:buNone/>
            </a:pPr>
            <a:r>
              <a:rPr lang="en-IN" sz="2000" b="1" dirty="0"/>
              <a:t>Title : </a:t>
            </a:r>
            <a:r>
              <a:rPr lang="en-IN" sz="2000" dirty="0"/>
              <a:t>Advanced Learning for Phishing URLs Detection to Secure Consumer-Centric Applications</a:t>
            </a:r>
          </a:p>
          <a:p>
            <a:pPr marL="0" indent="0">
              <a:buNone/>
            </a:pPr>
            <a:r>
              <a:rPr lang="en-IN" sz="2000" b="1" dirty="0"/>
              <a:t>Authors : </a:t>
            </a:r>
            <a:r>
              <a:rPr lang="en-IN" sz="2000" dirty="0"/>
              <a:t>Pradeep Kumar Roy, Abhinav Kumar, Ashish Singh</a:t>
            </a:r>
          </a:p>
          <a:p>
            <a:pPr marL="0" indent="0">
              <a:buNone/>
            </a:pPr>
            <a:r>
              <a:rPr lang="en-IN" sz="2000" b="1" dirty="0"/>
              <a:t>Publication : </a:t>
            </a:r>
            <a:r>
              <a:rPr lang="en-IN" sz="2000" dirty="0"/>
              <a:t>IEEE Transactions on Consumer Electronics, Volume 70, No. 3, August 2024</a:t>
            </a:r>
          </a:p>
          <a:p>
            <a:pPr marL="0" indent="0">
              <a:buNone/>
            </a:pPr>
            <a:r>
              <a:rPr lang="en-US" sz="2000" b="1" dirty="0"/>
              <a:t>Summary</a:t>
            </a:r>
            <a:r>
              <a:rPr lang="en-US" sz="2000" dirty="0"/>
              <a:t> :</a:t>
            </a:r>
            <a:r>
              <a:rPr lang="en-IN" sz="2000" dirty="0"/>
              <a:t>This paper proposes an advanced phishing URL detection system combining multiple feature types with machine learning and deep learning models. Random Forest classifier delivered high accuracy (96% F1-score) with manually extracted features. CNN models with different depths improved recall for phishing detection. The study underscores the value of diverse feature engineering and layered model architectures for robust phishing threat mitigation. The dataset size and methodology offer a strong foundation for practical consumer-centric application deployments.</a:t>
            </a:r>
          </a:p>
          <a:p>
            <a:pPr marL="0" indent="0">
              <a:buNone/>
            </a:pPr>
            <a:r>
              <a:rPr lang="en-US" sz="2000" b="1" dirty="0"/>
              <a:t>Relevance </a:t>
            </a:r>
            <a:r>
              <a:rPr lang="en-IN" sz="2000" b="1" dirty="0"/>
              <a:t>:</a:t>
            </a:r>
          </a:p>
          <a:p>
            <a:r>
              <a:rPr lang="en-IN" sz="2000" dirty="0"/>
              <a:t>Provides DL benchmark via CNN models, useful for future extension.</a:t>
            </a:r>
          </a:p>
          <a:p>
            <a:r>
              <a:rPr lang="en-IN" sz="2000" dirty="0"/>
              <a:t>Reinforces hybrid ML + DL approach, aligning with proposed Hybrid Autoencoder-</a:t>
            </a:r>
            <a:r>
              <a:rPr lang="en-IN" sz="2000" dirty="0" err="1"/>
              <a:t>XGBoost</a:t>
            </a:r>
            <a:r>
              <a:rPr lang="en-IN" sz="2000" dirty="0"/>
              <a:t> model.</a:t>
            </a:r>
          </a:p>
        </p:txBody>
      </p:sp>
      <p:pic>
        <p:nvPicPr>
          <p:cNvPr id="4" name="Picture 3" descr="PES University Know All about the Indian UGC-Approved University">
            <a:extLst>
              <a:ext uri="{FF2B5EF4-FFF2-40B4-BE49-F238E27FC236}">
                <a16:creationId xmlns:a16="http://schemas.microsoft.com/office/drawing/2014/main" id="{77222F3C-F2DE-C3DB-6768-155A420BB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859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7DB0-6B25-6851-E969-C81B57C17C96}"/>
              </a:ext>
            </a:extLst>
          </p:cNvPr>
          <p:cNvSpPr>
            <a:spLocks noGrp="1"/>
          </p:cNvSpPr>
          <p:nvPr>
            <p:ph type="title"/>
          </p:nvPr>
        </p:nvSpPr>
        <p:spPr>
          <a:xfrm>
            <a:off x="457200" y="274638"/>
            <a:ext cx="8666480" cy="844299"/>
          </a:xfrm>
        </p:spPr>
        <p:txBody>
          <a:bodyPr>
            <a:noAutofit/>
          </a:bodyPr>
          <a:lstStyle/>
          <a:p>
            <a:pPr algn="l"/>
            <a:r>
              <a:rPr lang="en-IN" sz="3600" b="1" dirty="0"/>
              <a:t>Comparative Study </a:t>
            </a:r>
            <a:r>
              <a:rPr lang="en-US" sz="3600" b="1" dirty="0"/>
              <a:t>of Existing Applications</a:t>
            </a:r>
            <a:endParaRPr lang="en-IN" sz="3600" b="1" dirty="0"/>
          </a:p>
        </p:txBody>
      </p:sp>
      <p:graphicFrame>
        <p:nvGraphicFramePr>
          <p:cNvPr id="4" name="Content Placeholder 3">
            <a:extLst>
              <a:ext uri="{FF2B5EF4-FFF2-40B4-BE49-F238E27FC236}">
                <a16:creationId xmlns:a16="http://schemas.microsoft.com/office/drawing/2014/main" id="{CFC3176C-2F57-848F-C5BE-BB18558F363D}"/>
              </a:ext>
            </a:extLst>
          </p:cNvPr>
          <p:cNvGraphicFramePr>
            <a:graphicFrameLocks noGrp="1"/>
          </p:cNvGraphicFramePr>
          <p:nvPr>
            <p:ph idx="1"/>
            <p:extLst>
              <p:ext uri="{D42A27DB-BD31-4B8C-83A1-F6EECF244321}">
                <p14:modId xmlns:p14="http://schemas.microsoft.com/office/powerpoint/2010/main" val="2204358622"/>
              </p:ext>
            </p:extLst>
          </p:nvPr>
        </p:nvGraphicFramePr>
        <p:xfrm>
          <a:off x="902367" y="1491916"/>
          <a:ext cx="10202778" cy="4836696"/>
        </p:xfrm>
        <a:graphic>
          <a:graphicData uri="http://schemas.openxmlformats.org/drawingml/2006/table">
            <a:tbl>
              <a:tblPr firstRow="1" firstCol="1" bandRow="1">
                <a:tableStyleId>{5C22544A-7EE6-4342-B048-85BDC9FD1C3A}</a:tableStyleId>
              </a:tblPr>
              <a:tblGrid>
                <a:gridCol w="673770">
                  <a:extLst>
                    <a:ext uri="{9D8B030D-6E8A-4147-A177-3AD203B41FA5}">
                      <a16:colId xmlns:a16="http://schemas.microsoft.com/office/drawing/2014/main" val="4278279150"/>
                    </a:ext>
                  </a:extLst>
                </a:gridCol>
                <a:gridCol w="2153652">
                  <a:extLst>
                    <a:ext uri="{9D8B030D-6E8A-4147-A177-3AD203B41FA5}">
                      <a16:colId xmlns:a16="http://schemas.microsoft.com/office/drawing/2014/main" val="1176360760"/>
                    </a:ext>
                  </a:extLst>
                </a:gridCol>
                <a:gridCol w="2273967">
                  <a:extLst>
                    <a:ext uri="{9D8B030D-6E8A-4147-A177-3AD203B41FA5}">
                      <a16:colId xmlns:a16="http://schemas.microsoft.com/office/drawing/2014/main" val="93590944"/>
                    </a:ext>
                  </a:extLst>
                </a:gridCol>
                <a:gridCol w="1700463">
                  <a:extLst>
                    <a:ext uri="{9D8B030D-6E8A-4147-A177-3AD203B41FA5}">
                      <a16:colId xmlns:a16="http://schemas.microsoft.com/office/drawing/2014/main" val="1403003789"/>
                    </a:ext>
                  </a:extLst>
                </a:gridCol>
                <a:gridCol w="1700463">
                  <a:extLst>
                    <a:ext uri="{9D8B030D-6E8A-4147-A177-3AD203B41FA5}">
                      <a16:colId xmlns:a16="http://schemas.microsoft.com/office/drawing/2014/main" val="776211716"/>
                    </a:ext>
                  </a:extLst>
                </a:gridCol>
                <a:gridCol w="1700463">
                  <a:extLst>
                    <a:ext uri="{9D8B030D-6E8A-4147-A177-3AD203B41FA5}">
                      <a16:colId xmlns:a16="http://schemas.microsoft.com/office/drawing/2014/main" val="4286552429"/>
                    </a:ext>
                  </a:extLst>
                </a:gridCol>
              </a:tblGrid>
              <a:tr h="594276">
                <a:tc>
                  <a:txBody>
                    <a:bodyPr/>
                    <a:lstStyle/>
                    <a:p>
                      <a:pPr>
                        <a:lnSpc>
                          <a:spcPct val="107000"/>
                        </a:lnSpc>
                        <a:spcAft>
                          <a:spcPts val="800"/>
                        </a:spcAft>
                        <a:buNone/>
                      </a:pPr>
                      <a:r>
                        <a:rPr lang="en-IN" sz="1100" kern="100" dirty="0">
                          <a:effectLst/>
                        </a:rPr>
                        <a:t>No.</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System / Approach</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Key Features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Strengths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Weaknesses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Relevance to Your Project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546753444"/>
                  </a:ext>
                </a:extLst>
              </a:tr>
              <a:tr h="806116">
                <a:tc>
                  <a:txBody>
                    <a:bodyPr/>
                    <a:lstStyle/>
                    <a:p>
                      <a:pPr>
                        <a:lnSpc>
                          <a:spcPct val="107000"/>
                        </a:lnSpc>
                        <a:spcAft>
                          <a:spcPts val="800"/>
                        </a:spcAft>
                        <a:buNone/>
                      </a:pPr>
                      <a:r>
                        <a:rPr lang="en-IN" sz="1100" kern="100" dirty="0">
                          <a:effectLst/>
                        </a:rPr>
                        <a:t>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Google Safe Browsing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Blacklist + heuristic</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dirty="0"/>
                        <a:t>Wide deployment, browser integrated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Relies on known threats; limited zero-day detection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Base comparison point for effectiveness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2132627627"/>
                  </a:ext>
                </a:extLst>
              </a:tr>
              <a:tr h="806116">
                <a:tc>
                  <a:txBody>
                    <a:bodyPr/>
                    <a:lstStyle/>
                    <a:p>
                      <a:pPr>
                        <a:lnSpc>
                          <a:spcPct val="107000"/>
                        </a:lnSpc>
                        <a:spcAft>
                          <a:spcPts val="800"/>
                        </a:spcAft>
                        <a:buNone/>
                      </a:pPr>
                      <a:r>
                        <a:rPr lang="en-IN" sz="1100" kern="100" dirty="0">
                          <a:effectLst/>
                        </a:rPr>
                        <a:t>2</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Netcraft Anti-Phishing Extension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ML + crowdsourced URL reputation, alerts in browser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Combines ML with user reports, frequent updates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Some false positives, intrusion in user experience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ML integration, real-time alerts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3322397721"/>
                  </a:ext>
                </a:extLst>
              </a:tr>
              <a:tr h="806116">
                <a:tc>
                  <a:txBody>
                    <a:bodyPr/>
                    <a:lstStyle/>
                    <a:p>
                      <a:pPr>
                        <a:lnSpc>
                          <a:spcPct val="107000"/>
                        </a:lnSpc>
                        <a:spcAft>
                          <a:spcPts val="800"/>
                        </a:spcAft>
                        <a:buNone/>
                      </a:pPr>
                      <a:r>
                        <a:rPr lang="en-IN" sz="1100" kern="100" dirty="0">
                          <a:effectLst/>
                        </a:rPr>
                        <a:t>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PhishTank Community Database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Public phishing URL repository with reporting and API access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Open, community-driven, useful dataset source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Not proactive, reactive detection only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Dataset for training and testing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4084721395"/>
                  </a:ext>
                </a:extLst>
              </a:tr>
              <a:tr h="806116">
                <a:tc>
                  <a:txBody>
                    <a:bodyPr/>
                    <a:lstStyle/>
                    <a:p>
                      <a:pPr>
                        <a:lnSpc>
                          <a:spcPct val="107000"/>
                        </a:lnSpc>
                        <a:spcAft>
                          <a:spcPts val="800"/>
                        </a:spcAft>
                        <a:buNone/>
                      </a:pPr>
                      <a:r>
                        <a:rPr lang="en-IN" sz="1100" kern="100" dirty="0">
                          <a:effectLst/>
                        </a:rPr>
                        <a:t>4</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Microsoft Defender SmartScreen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Browser and OS integrated, blacklist + heuristic scanning</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dirty="0"/>
                        <a:t>OS integrated, real-time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Limited explainability, slow to detect zero-day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Target platform relevance, heuristic supplement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630602134"/>
                  </a:ext>
                </a:extLst>
              </a:tr>
              <a:tr h="1017956">
                <a:tc>
                  <a:txBody>
                    <a:bodyPr/>
                    <a:lstStyle/>
                    <a:p>
                      <a:pPr>
                        <a:lnSpc>
                          <a:spcPct val="107000"/>
                        </a:lnSpc>
                        <a:spcAft>
                          <a:spcPts val="800"/>
                        </a:spcAft>
                        <a:buNone/>
                      </a:pPr>
                      <a:r>
                        <a:rPr lang="en-IN" sz="1100" kern="100" dirty="0">
                          <a:effectLst/>
                        </a:rPr>
                        <a:t>5</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Proposed ML Browser Extension</a:t>
                      </a:r>
                    </a:p>
                    <a:p>
                      <a:pPr>
                        <a:lnSpc>
                          <a:spcPct val="107000"/>
                        </a:lnSpc>
                        <a:spcAft>
                          <a:spcPts val="800"/>
                        </a:spcAft>
                        <a:buNone/>
                      </a:pPr>
                      <a:r>
                        <a:rPr lang="en-IN" sz="1100" kern="100" dirty="0">
                          <a:effectLst/>
                        </a:rPr>
                        <a:t>With GUI  (</a:t>
                      </a:r>
                      <a:r>
                        <a:rPr lang="en-IN" sz="1100" dirty="0"/>
                        <a:t>Our System)</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 ML/DL models with attack type classification and explainability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dirty="0"/>
                        <a:t>Proactive, explainable, educational,</a:t>
                      </a:r>
                      <a:r>
                        <a:rPr lang="en-IN" sz="1100" kern="100" dirty="0">
                          <a:effectLst/>
                        </a:rPr>
                        <a:t> attack classification, user feedback</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Needs regular updates and user action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800"/>
                        </a:spcAft>
                        <a:buNone/>
                      </a:pPr>
                      <a:r>
                        <a:rPr lang="en-IN" sz="1100" kern="100" dirty="0">
                          <a:effectLst/>
                        </a:rPr>
                        <a:t>Directly builds on existing methods; explains result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3765870943"/>
                  </a:ext>
                </a:extLst>
              </a:tr>
            </a:tbl>
          </a:graphicData>
        </a:graphic>
      </p:graphicFrame>
      <p:pic>
        <p:nvPicPr>
          <p:cNvPr id="5" name="Picture 4" descr="PES University Know All about the Indian UGC-Approved University">
            <a:extLst>
              <a:ext uri="{FF2B5EF4-FFF2-40B4-BE49-F238E27FC236}">
                <a16:creationId xmlns:a16="http://schemas.microsoft.com/office/drawing/2014/main" id="{81FDAD40-B869-0470-A0C7-9FF3A64EC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4666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0758-AC13-CE41-70AC-03823C679820}"/>
              </a:ext>
            </a:extLst>
          </p:cNvPr>
          <p:cNvSpPr>
            <a:spLocks noGrp="1"/>
          </p:cNvSpPr>
          <p:nvPr>
            <p:ph type="title"/>
          </p:nvPr>
        </p:nvSpPr>
        <p:spPr/>
        <p:txBody>
          <a:bodyPr>
            <a:normAutofit/>
          </a:bodyPr>
          <a:lstStyle/>
          <a:p>
            <a:pPr algn="l"/>
            <a:r>
              <a:rPr lang="en-US" sz="3600" b="1" dirty="0"/>
              <a:t>Functional Requirements - Users</a:t>
            </a:r>
            <a:endParaRPr lang="en-IN" sz="3600" b="1" dirty="0"/>
          </a:p>
        </p:txBody>
      </p:sp>
      <p:sp>
        <p:nvSpPr>
          <p:cNvPr id="3" name="Content Placeholder 2">
            <a:extLst>
              <a:ext uri="{FF2B5EF4-FFF2-40B4-BE49-F238E27FC236}">
                <a16:creationId xmlns:a16="http://schemas.microsoft.com/office/drawing/2014/main" id="{E01434C6-DF1D-EA26-CF26-4CD82AB1DC36}"/>
              </a:ext>
            </a:extLst>
          </p:cNvPr>
          <p:cNvSpPr>
            <a:spLocks noGrp="1"/>
          </p:cNvSpPr>
          <p:nvPr>
            <p:ph idx="1"/>
          </p:nvPr>
        </p:nvSpPr>
        <p:spPr>
          <a:xfrm>
            <a:off x="457199" y="1417638"/>
            <a:ext cx="10876547" cy="4708525"/>
          </a:xfrm>
        </p:spPr>
        <p:txBody>
          <a:bodyPr>
            <a:noAutofit/>
          </a:bodyPr>
          <a:lstStyle/>
          <a:p>
            <a:pPr marL="0" indent="0">
              <a:buNone/>
            </a:pPr>
            <a:r>
              <a:rPr lang="en-US" sz="2000" b="1" dirty="0"/>
              <a:t>1. End Users (Individual)</a:t>
            </a:r>
            <a:endParaRPr lang="en-US" sz="2000" dirty="0"/>
          </a:p>
          <a:p>
            <a:r>
              <a:rPr lang="en-US" sz="2000" b="1" dirty="0"/>
              <a:t>Goal:</a:t>
            </a:r>
            <a:r>
              <a:rPr lang="en-US" sz="2000" dirty="0"/>
              <a:t> Protect personal data from phishing attacks, </a:t>
            </a:r>
            <a:r>
              <a:rPr lang="en-US" sz="2000" b="1" dirty="0"/>
              <a:t>Access:</a:t>
            </a:r>
            <a:r>
              <a:rPr lang="en-US" sz="2000" dirty="0"/>
              <a:t> Web GUI + Browser Extension</a:t>
            </a:r>
          </a:p>
          <a:p>
            <a:r>
              <a:rPr lang="en-US" sz="2000" b="1" dirty="0"/>
              <a:t>Actions:</a:t>
            </a:r>
            <a:r>
              <a:rPr lang="en-US" sz="2000" dirty="0"/>
              <a:t> Scan URLs, view threat analysis, learn security best practices</a:t>
            </a:r>
          </a:p>
          <a:p>
            <a:pPr marL="0" indent="0">
              <a:buNone/>
            </a:pPr>
            <a:r>
              <a:rPr lang="en-US" sz="2000" b="1" dirty="0"/>
              <a:t>2. Cybersecurity Analysts</a:t>
            </a:r>
            <a:endParaRPr lang="en-US" sz="2000" dirty="0"/>
          </a:p>
          <a:p>
            <a:r>
              <a:rPr lang="en-US" sz="2000" b="1" dirty="0"/>
              <a:t>Goal:</a:t>
            </a:r>
            <a:r>
              <a:rPr lang="en-US" sz="2000" dirty="0"/>
              <a:t> Investigate suspicious URLs, generate reports, </a:t>
            </a:r>
            <a:r>
              <a:rPr lang="en-US" sz="2000" b="1" dirty="0"/>
              <a:t>Access:</a:t>
            </a:r>
            <a:r>
              <a:rPr lang="en-US" sz="2000" dirty="0"/>
              <a:t> Web GUI + API</a:t>
            </a:r>
          </a:p>
          <a:p>
            <a:r>
              <a:rPr lang="en-US" sz="2000" b="1" dirty="0"/>
              <a:t>Actions:</a:t>
            </a:r>
            <a:r>
              <a:rPr lang="en-US" sz="2000" dirty="0"/>
              <a:t> Bulk URL analysis, export reports, track attack trends</a:t>
            </a:r>
          </a:p>
          <a:p>
            <a:pPr marL="0" indent="0">
              <a:buNone/>
            </a:pPr>
            <a:r>
              <a:rPr lang="en-US" sz="2000" b="1" dirty="0"/>
              <a:t>4. Developers/Integrators</a:t>
            </a:r>
            <a:endParaRPr lang="en-US" sz="2000" dirty="0"/>
          </a:p>
          <a:p>
            <a:r>
              <a:rPr lang="en-US" sz="2000" b="1" dirty="0"/>
              <a:t>Goal:</a:t>
            </a:r>
            <a:r>
              <a:rPr lang="en-US" sz="2000" dirty="0"/>
              <a:t> Integrate phishing detection into applications,</a:t>
            </a:r>
            <a:r>
              <a:rPr lang="en-US" sz="2000" b="1" dirty="0"/>
              <a:t> Access:</a:t>
            </a:r>
            <a:r>
              <a:rPr lang="en-US" sz="2000" dirty="0"/>
              <a:t> REST API</a:t>
            </a:r>
          </a:p>
          <a:p>
            <a:r>
              <a:rPr lang="en-US" sz="2000" b="1" dirty="0"/>
              <a:t>Actions:</a:t>
            </a:r>
            <a:r>
              <a:rPr lang="en-US" sz="2000" dirty="0"/>
              <a:t> API calls, custom implementations, security automation</a:t>
            </a:r>
          </a:p>
          <a:p>
            <a:pPr marL="0" indent="0">
              <a:buNone/>
            </a:pPr>
            <a:r>
              <a:rPr lang="en-US" sz="2000" b="1" dirty="0"/>
              <a:t>5. Educators/Researchers</a:t>
            </a:r>
            <a:endParaRPr lang="en-US" sz="2000" dirty="0"/>
          </a:p>
          <a:p>
            <a:r>
              <a:rPr lang="en-US" sz="2000" b="1" dirty="0"/>
              <a:t>Goal:</a:t>
            </a:r>
            <a:r>
              <a:rPr lang="en-US" sz="2000" dirty="0"/>
              <a:t> Study phishing patterns, teach cybersecurity, </a:t>
            </a:r>
            <a:r>
              <a:rPr lang="en-US" sz="2000" b="1" dirty="0"/>
              <a:t>Access:</a:t>
            </a:r>
            <a:r>
              <a:rPr lang="en-US" sz="2000" dirty="0"/>
              <a:t> Web GUI + Educational content</a:t>
            </a:r>
          </a:p>
          <a:p>
            <a:r>
              <a:rPr lang="en-US" sz="2000" b="1" dirty="0"/>
              <a:t>Actions:</a:t>
            </a:r>
            <a:r>
              <a:rPr lang="en-US" sz="2000" dirty="0"/>
              <a:t> Access attack type data, use for training purposes</a:t>
            </a:r>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7B6828F2-81D1-678B-58F2-030A1721C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264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8560C-951D-49C3-AF5C-71A0A100FED7}"/>
              </a:ext>
            </a:extLst>
          </p:cNvPr>
          <p:cNvSpPr>
            <a:spLocks noGrp="1"/>
          </p:cNvSpPr>
          <p:nvPr>
            <p:ph type="title"/>
          </p:nvPr>
        </p:nvSpPr>
        <p:spPr/>
        <p:txBody>
          <a:bodyPr>
            <a:normAutofit/>
          </a:bodyPr>
          <a:lstStyle/>
          <a:p>
            <a:pPr algn="l"/>
            <a:r>
              <a:rPr lang="en-US" sz="3600" b="1" dirty="0"/>
              <a:t>Functional Requirements - Functionalities</a:t>
            </a:r>
            <a:endParaRPr lang="en-IN" sz="3600" b="1" dirty="0"/>
          </a:p>
        </p:txBody>
      </p:sp>
      <p:sp>
        <p:nvSpPr>
          <p:cNvPr id="3" name="Content Placeholder 2">
            <a:extLst>
              <a:ext uri="{FF2B5EF4-FFF2-40B4-BE49-F238E27FC236}">
                <a16:creationId xmlns:a16="http://schemas.microsoft.com/office/drawing/2014/main" id="{13D76DAE-207A-CDD5-D74C-61A9043EC195}"/>
              </a:ext>
            </a:extLst>
          </p:cNvPr>
          <p:cNvSpPr>
            <a:spLocks noGrp="1"/>
          </p:cNvSpPr>
          <p:nvPr>
            <p:ph idx="1"/>
          </p:nvPr>
        </p:nvSpPr>
        <p:spPr>
          <a:xfrm>
            <a:off x="457199" y="1417638"/>
            <a:ext cx="11057021" cy="5007225"/>
          </a:xfrm>
        </p:spPr>
        <p:txBody>
          <a:bodyPr>
            <a:noAutofit/>
          </a:bodyPr>
          <a:lstStyle/>
          <a:p>
            <a:pPr marL="0" indent="0">
              <a:buNone/>
            </a:pPr>
            <a:r>
              <a:rPr lang="en-IN" sz="2000" b="1" dirty="0"/>
              <a:t>1. Dataset Acquisition and Data Preprocessing </a:t>
            </a:r>
          </a:p>
          <a:p>
            <a:r>
              <a:rPr lang="en-IN" sz="2000" b="1" dirty="0"/>
              <a:t>Description: </a:t>
            </a:r>
            <a:r>
              <a:rPr lang="en-US" sz="2000" dirty="0"/>
              <a:t>Collect diverse URL datasets from trusted sources (</a:t>
            </a:r>
            <a:r>
              <a:rPr lang="en-IN" sz="2000" dirty="0"/>
              <a:t>PhishTank, Tranco site etc.), </a:t>
            </a:r>
            <a:r>
              <a:rPr lang="en-US" sz="2000" dirty="0"/>
              <a:t>Clean and structures collected URLs.</a:t>
            </a:r>
            <a:endParaRPr lang="en-IN" sz="2000" b="1" dirty="0"/>
          </a:p>
          <a:p>
            <a:pPr marL="0" indent="0">
              <a:buNone/>
            </a:pPr>
            <a:r>
              <a:rPr lang="en-IN" sz="2000" b="1" dirty="0"/>
              <a:t>2. URL Feature Extraction</a:t>
            </a:r>
            <a:endParaRPr lang="en-IN" sz="2000" dirty="0"/>
          </a:p>
          <a:p>
            <a:r>
              <a:rPr lang="en-IN" sz="2000" b="1" dirty="0"/>
              <a:t>Description:</a:t>
            </a:r>
            <a:r>
              <a:rPr lang="en-IN" sz="2000" dirty="0"/>
              <a:t> Automatically extracts 16 features from input URL</a:t>
            </a:r>
          </a:p>
          <a:p>
            <a:r>
              <a:rPr lang="en-IN" sz="2000" b="1" dirty="0"/>
              <a:t>Features:</a:t>
            </a:r>
            <a:r>
              <a:rPr lang="en-IN" sz="2000" dirty="0"/>
              <a:t> </a:t>
            </a:r>
          </a:p>
          <a:p>
            <a:pPr lvl="1"/>
            <a:r>
              <a:rPr lang="en-IN" sz="2000" dirty="0"/>
              <a:t>Address Bar (8): IP presence, @ symbol, length, depth, redirects, HTTPS in domain, URL shorteners, prefix/suffix</a:t>
            </a:r>
          </a:p>
          <a:p>
            <a:pPr lvl="1"/>
            <a:r>
              <a:rPr lang="en-IN" sz="2000" dirty="0"/>
              <a:t>Domain-based (4): DNS records, web traffic rank, domain age, domain expiration</a:t>
            </a:r>
          </a:p>
          <a:p>
            <a:pPr lvl="1"/>
            <a:r>
              <a:rPr lang="en-IN" sz="2000" dirty="0"/>
              <a:t>Content-based (4): iFrames, mouse-over manipulation, right-click disable, redirects</a:t>
            </a:r>
          </a:p>
          <a:p>
            <a:r>
              <a:rPr lang="en-IN" sz="2000" b="1" dirty="0"/>
              <a:t>Output:</a:t>
            </a:r>
            <a:r>
              <a:rPr lang="en-IN" sz="2000" dirty="0"/>
              <a:t> Feature vector for ML model</a:t>
            </a:r>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1695058C-F868-5642-6645-BD639F8BA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859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8903DB-7ABD-A482-1D18-EC9F6ADE8EAB}"/>
              </a:ext>
            </a:extLst>
          </p:cNvPr>
          <p:cNvSpPr>
            <a:spLocks noGrp="1"/>
          </p:cNvSpPr>
          <p:nvPr>
            <p:ph idx="1"/>
          </p:nvPr>
        </p:nvSpPr>
        <p:spPr>
          <a:xfrm>
            <a:off x="457199" y="1383632"/>
            <a:ext cx="11069053" cy="4957010"/>
          </a:xfrm>
        </p:spPr>
        <p:txBody>
          <a:bodyPr>
            <a:noAutofit/>
          </a:bodyPr>
          <a:lstStyle/>
          <a:p>
            <a:pPr marL="0" indent="0">
              <a:buNone/>
            </a:pPr>
            <a:r>
              <a:rPr lang="en-IN" sz="2000" b="1" dirty="0"/>
              <a:t>3. Phishing Detection</a:t>
            </a:r>
            <a:endParaRPr lang="en-IN" sz="2000" dirty="0"/>
          </a:p>
          <a:p>
            <a:r>
              <a:rPr lang="en-IN" sz="2000" b="1" dirty="0"/>
              <a:t>Description:</a:t>
            </a:r>
            <a:r>
              <a:rPr lang="en-IN" sz="2000" dirty="0"/>
              <a:t> Binary classification using trained ML model</a:t>
            </a:r>
          </a:p>
          <a:p>
            <a:r>
              <a:rPr lang="en-IN" sz="2000" b="1" dirty="0"/>
              <a:t>Algorithm:</a:t>
            </a:r>
            <a:r>
              <a:rPr lang="en-IN" sz="2000" dirty="0"/>
              <a:t> XGB (ensemble)</a:t>
            </a:r>
          </a:p>
          <a:p>
            <a:r>
              <a:rPr lang="en-IN" sz="2000" b="1" dirty="0"/>
              <a:t>Output:</a:t>
            </a:r>
            <a:r>
              <a:rPr lang="en-IN" sz="2000" dirty="0"/>
              <a:t> </a:t>
            </a:r>
          </a:p>
          <a:p>
            <a:pPr lvl="1"/>
            <a:r>
              <a:rPr lang="en-IN" sz="2000" dirty="0"/>
              <a:t>Prediction: Phishing (1) or Legitimate (0)</a:t>
            </a:r>
          </a:p>
          <a:p>
            <a:pPr lvl="1"/>
            <a:r>
              <a:rPr lang="en-IN" sz="2000" dirty="0"/>
              <a:t>Confidence Score: 0-100%</a:t>
            </a:r>
            <a:endParaRPr lang="en-IN" sz="2000" b="1" dirty="0"/>
          </a:p>
          <a:p>
            <a:pPr marL="0" indent="0">
              <a:buNone/>
            </a:pPr>
            <a:r>
              <a:rPr lang="en-IN" sz="2000" b="1" dirty="0"/>
              <a:t>4. Attack Type Classification</a:t>
            </a:r>
            <a:endParaRPr lang="en-IN" sz="2000" dirty="0"/>
          </a:p>
          <a:p>
            <a:r>
              <a:rPr lang="en-IN" sz="2000" b="1" dirty="0"/>
              <a:t>Description:</a:t>
            </a:r>
            <a:r>
              <a:rPr lang="en-IN" sz="2000" dirty="0"/>
              <a:t> Identifies specific phishing attack pattern</a:t>
            </a:r>
          </a:p>
          <a:p>
            <a:r>
              <a:rPr lang="en-IN" sz="2000" b="1" dirty="0"/>
              <a:t>Attack Types (10):</a:t>
            </a:r>
            <a:r>
              <a:rPr lang="en-IN" sz="2000" dirty="0"/>
              <a:t> IP-Based Phishing, URL Shortener Phishing, Typosquatting/Homograph Attack, Domain Spoofing, Open Redirect Phishing, New Domain Phishing, DNS Anomaly Phishing, iFrame Overlay Phishing, Social Engineering Phishing, Sophisticated Multi-Vector Attack</a:t>
            </a:r>
          </a:p>
          <a:p>
            <a:r>
              <a:rPr lang="en-IN" sz="2000" b="1" dirty="0"/>
              <a:t>Output:</a:t>
            </a:r>
            <a:r>
              <a:rPr lang="en-IN" sz="2000" dirty="0"/>
              <a:t> Primary attack type with severity level</a:t>
            </a:r>
          </a:p>
          <a:p>
            <a:pPr marL="0" indent="0">
              <a:buNone/>
            </a:pPr>
            <a:endParaRPr lang="en-IN" sz="2000" dirty="0"/>
          </a:p>
          <a:p>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715E4575-455E-B558-6F1E-3F9328B93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073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1720F9-C342-390E-798B-A57F7DA7E5C4}"/>
              </a:ext>
            </a:extLst>
          </p:cNvPr>
          <p:cNvSpPr>
            <a:spLocks noGrp="1"/>
          </p:cNvSpPr>
          <p:nvPr>
            <p:ph idx="1"/>
          </p:nvPr>
        </p:nvSpPr>
        <p:spPr>
          <a:xfrm>
            <a:off x="457200" y="1280954"/>
            <a:ext cx="11249526" cy="4845210"/>
          </a:xfrm>
        </p:spPr>
        <p:txBody>
          <a:bodyPr>
            <a:normAutofit/>
          </a:bodyPr>
          <a:lstStyle/>
          <a:p>
            <a:pPr marL="0" indent="0">
              <a:buNone/>
            </a:pPr>
            <a:r>
              <a:rPr lang="en-US" sz="2000" b="1" dirty="0"/>
              <a:t>5. Risk Scoring System</a:t>
            </a:r>
            <a:endParaRPr lang="en-US" sz="2000" dirty="0"/>
          </a:p>
          <a:p>
            <a:r>
              <a:rPr lang="en-US" sz="2000" b="1" dirty="0"/>
              <a:t>Description:</a:t>
            </a:r>
            <a:r>
              <a:rPr lang="en-US" sz="2000" dirty="0"/>
              <a:t> Calculates numerical risk score (0-100)</a:t>
            </a:r>
          </a:p>
          <a:p>
            <a:r>
              <a:rPr lang="en-US" sz="2000" b="1" dirty="0"/>
              <a:t>Factors:</a:t>
            </a:r>
            <a:r>
              <a:rPr lang="en-US" sz="2000" dirty="0"/>
              <a:t> Attack type severity, feature count, confidence level</a:t>
            </a:r>
          </a:p>
          <a:p>
            <a:r>
              <a:rPr lang="en-US" sz="2000" b="1" dirty="0"/>
              <a:t>Risk Levels:</a:t>
            </a:r>
            <a:r>
              <a:rPr lang="en-US" sz="2000" dirty="0"/>
              <a:t> </a:t>
            </a:r>
          </a:p>
          <a:p>
            <a:pPr lvl="1"/>
            <a:r>
              <a:rPr lang="en-US" sz="2000" dirty="0"/>
              <a:t>0-25: LOW (Green)</a:t>
            </a:r>
          </a:p>
          <a:p>
            <a:pPr lvl="1"/>
            <a:r>
              <a:rPr lang="en-US" sz="2000" dirty="0"/>
              <a:t>26-50: MEDIUM (Yellow)</a:t>
            </a:r>
          </a:p>
          <a:p>
            <a:pPr lvl="1"/>
            <a:r>
              <a:rPr lang="en-US" sz="2000" dirty="0"/>
              <a:t>51-75: HIGH (Orange)</a:t>
            </a:r>
          </a:p>
          <a:p>
            <a:pPr lvl="1"/>
            <a:r>
              <a:rPr lang="en-US" sz="2000" dirty="0"/>
              <a:t>76-100: CRITICAL (Red)</a:t>
            </a:r>
            <a:endParaRPr lang="en-US" sz="2000" b="1" dirty="0"/>
          </a:p>
          <a:p>
            <a:pPr marL="0" indent="0">
              <a:buNone/>
            </a:pPr>
            <a:r>
              <a:rPr lang="en-US" sz="2000" b="1" dirty="0"/>
              <a:t>6. Prevention &amp; Educational Content</a:t>
            </a:r>
            <a:endParaRPr lang="en-US" sz="2000" dirty="0"/>
          </a:p>
          <a:p>
            <a:r>
              <a:rPr lang="en-US" sz="2000" b="1" dirty="0"/>
              <a:t>Description:</a:t>
            </a:r>
            <a:r>
              <a:rPr lang="en-US" sz="2000" dirty="0"/>
              <a:t> Provides actionable security advice</a:t>
            </a:r>
          </a:p>
          <a:p>
            <a:r>
              <a:rPr lang="en-US" sz="2000" b="1" dirty="0"/>
              <a:t>Components:</a:t>
            </a:r>
            <a:r>
              <a:rPr lang="en-US" sz="2000" dirty="0"/>
              <a:t> Security warnings specific to attack type, Prevention recommendations, Technical explanation of how attack works, Real-world examples, Identification tips, Incident response guidelines</a:t>
            </a:r>
          </a:p>
          <a:p>
            <a:pPr marL="0" indent="0">
              <a:buNone/>
            </a:pPr>
            <a:endParaRPr lang="en-US" sz="2000" dirty="0"/>
          </a:p>
          <a:p>
            <a:pPr marL="0" indent="0">
              <a:buNone/>
            </a:pPr>
            <a:endParaRPr lang="en-US" sz="2000" dirty="0"/>
          </a:p>
          <a:p>
            <a:endParaRPr lang="en-IN" sz="2000" dirty="0"/>
          </a:p>
        </p:txBody>
      </p:sp>
      <p:pic>
        <p:nvPicPr>
          <p:cNvPr id="4" name="Picture 3" descr="PES University Know All about the Indian UGC-Approved University">
            <a:extLst>
              <a:ext uri="{FF2B5EF4-FFF2-40B4-BE49-F238E27FC236}">
                <a16:creationId xmlns:a16="http://schemas.microsoft.com/office/drawing/2014/main" id="{1C496BC5-11CA-C2E8-9F30-98BE04385D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805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814B78-22D3-1728-7A15-804A2919615D}"/>
              </a:ext>
            </a:extLst>
          </p:cNvPr>
          <p:cNvSpPr>
            <a:spLocks noGrp="1"/>
          </p:cNvSpPr>
          <p:nvPr>
            <p:ph idx="1"/>
          </p:nvPr>
        </p:nvSpPr>
        <p:spPr>
          <a:xfrm>
            <a:off x="457199" y="1058779"/>
            <a:ext cx="11117180" cy="5534526"/>
          </a:xfrm>
        </p:spPr>
        <p:txBody>
          <a:bodyPr>
            <a:noAutofit/>
          </a:bodyPr>
          <a:lstStyle/>
          <a:p>
            <a:pPr marL="0" indent="0">
              <a:buNone/>
            </a:pPr>
            <a:r>
              <a:rPr lang="en-US" sz="2000" b="1" dirty="0"/>
              <a:t>7. Batch URL Analysis - </a:t>
            </a:r>
            <a:r>
              <a:rPr lang="en-US" sz="2000" dirty="0"/>
              <a:t>Analyzes multiple URLs simultaneously</a:t>
            </a:r>
          </a:p>
          <a:p>
            <a:r>
              <a:rPr lang="en-US" sz="2000" b="1" dirty="0"/>
              <a:t>Input:</a:t>
            </a:r>
            <a:r>
              <a:rPr lang="en-US" sz="2000" dirty="0"/>
              <a:t> List of up to 50 URLs</a:t>
            </a:r>
          </a:p>
          <a:p>
            <a:r>
              <a:rPr lang="en-US" sz="2000" b="1" dirty="0"/>
              <a:t>Output:</a:t>
            </a:r>
            <a:r>
              <a:rPr lang="en-US" sz="2000" dirty="0"/>
              <a:t> Summary statistics, per-URL results, high-risk count</a:t>
            </a:r>
          </a:p>
          <a:p>
            <a:r>
              <a:rPr lang="en-US" sz="2000" b="1" dirty="0"/>
              <a:t>Use Case:</a:t>
            </a:r>
            <a:r>
              <a:rPr lang="en-US" sz="2000" dirty="0"/>
              <a:t> Enterprise security auditing</a:t>
            </a:r>
          </a:p>
          <a:p>
            <a:pPr marL="0" indent="0">
              <a:buNone/>
            </a:pPr>
            <a:r>
              <a:rPr lang="en-US" sz="2000" b="1" dirty="0"/>
              <a:t>8. Web-Based GUI - </a:t>
            </a:r>
            <a:r>
              <a:rPr lang="en-US" sz="2000" dirty="0"/>
              <a:t>Interactive dashboard for manual URL analysis</a:t>
            </a:r>
          </a:p>
          <a:p>
            <a:r>
              <a:rPr lang="en-US" sz="2000" b="1" dirty="0"/>
              <a:t>Features:</a:t>
            </a:r>
            <a:r>
              <a:rPr lang="en-US" sz="2000" dirty="0"/>
              <a:t> Real-time URL scanning, Session statistics tracking, Scan history (last 10 scans), Tabbed interface</a:t>
            </a:r>
            <a:r>
              <a:rPr lang="en-US" sz="2000" dirty="0">
                <a:sym typeface="Wingdings" panose="05000000000000000000" pitchFamily="2" charset="2"/>
              </a:rPr>
              <a:t>(</a:t>
            </a:r>
            <a:r>
              <a:rPr lang="en-US" sz="2000" dirty="0"/>
              <a:t>Overview: Attack type, risk score, Security Advice: Warnings, recommendations, Learn More: Educational content, Technical Details: Feature breakdown)</a:t>
            </a:r>
            <a:endParaRPr lang="en-IN" sz="2000" b="1" dirty="0"/>
          </a:p>
          <a:p>
            <a:pPr marL="0" indent="0">
              <a:buNone/>
            </a:pPr>
            <a:r>
              <a:rPr lang="en-IN" sz="2000" b="1" dirty="0"/>
              <a:t>9. REST API - </a:t>
            </a:r>
            <a:r>
              <a:rPr lang="en-IN" sz="2000" dirty="0"/>
              <a:t>Backend API for integration</a:t>
            </a:r>
          </a:p>
          <a:p>
            <a:r>
              <a:rPr lang="en-IN" sz="2000" b="1" dirty="0"/>
              <a:t>Description:</a:t>
            </a:r>
            <a:r>
              <a:rPr lang="en-IN" sz="2000" dirty="0"/>
              <a:t> </a:t>
            </a:r>
            <a:r>
              <a:rPr lang="en-IN" sz="2000" b="1" dirty="0"/>
              <a:t>Endpoints:</a:t>
            </a:r>
            <a:r>
              <a:rPr lang="en-IN" sz="2000" dirty="0"/>
              <a:t> </a:t>
            </a:r>
          </a:p>
          <a:p>
            <a:pPr lvl="1"/>
            <a:r>
              <a:rPr lang="en-IN" sz="2000" dirty="0"/>
              <a:t>POST /api/scan - Single URL analysis</a:t>
            </a:r>
          </a:p>
          <a:p>
            <a:pPr lvl="1"/>
            <a:r>
              <a:rPr lang="en-IN" sz="2000" dirty="0"/>
              <a:t>POST /api/batch - Bulk URL analysis</a:t>
            </a:r>
          </a:p>
          <a:p>
            <a:pPr lvl="1"/>
            <a:r>
              <a:rPr lang="en-IN" sz="2000" dirty="0"/>
              <a:t>GET /api/health - System status check</a:t>
            </a:r>
          </a:p>
          <a:p>
            <a:pPr lvl="1"/>
            <a:r>
              <a:rPr lang="en-IN" sz="2000" dirty="0"/>
              <a:t>GET /api/stats - Feature information</a:t>
            </a:r>
          </a:p>
          <a:p>
            <a:r>
              <a:rPr lang="en-IN" sz="2000" b="1" dirty="0"/>
              <a:t>Response Format:</a:t>
            </a:r>
            <a:r>
              <a:rPr lang="en-IN" sz="2000" dirty="0"/>
              <a:t> JSON with full analysis</a:t>
            </a:r>
          </a:p>
          <a:p>
            <a:endParaRPr lang="en-US" sz="2000" dirty="0"/>
          </a:p>
          <a:p>
            <a:endParaRPr lang="en-US"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A0F426D7-70B9-6D41-5C5D-F6F282D9A6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1793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17CEBE-9070-89D0-72A0-570DBE83AC01}"/>
              </a:ext>
            </a:extLst>
          </p:cNvPr>
          <p:cNvSpPr>
            <a:spLocks noGrp="1"/>
          </p:cNvSpPr>
          <p:nvPr>
            <p:ph idx="1"/>
          </p:nvPr>
        </p:nvSpPr>
        <p:spPr>
          <a:xfrm>
            <a:off x="457200" y="1383632"/>
            <a:ext cx="11141242" cy="5197642"/>
          </a:xfrm>
        </p:spPr>
        <p:txBody>
          <a:bodyPr>
            <a:normAutofit/>
          </a:bodyPr>
          <a:lstStyle/>
          <a:p>
            <a:pPr marL="0" indent="0">
              <a:buNone/>
            </a:pPr>
            <a:r>
              <a:rPr lang="en-IN" sz="2000" b="1" dirty="0"/>
              <a:t>10. Browser Extension</a:t>
            </a:r>
            <a:r>
              <a:rPr lang="en-IN" sz="2000" dirty="0"/>
              <a:t> - Chrome/Firefox extension for real-time URL monitoring</a:t>
            </a:r>
          </a:p>
          <a:p>
            <a:r>
              <a:rPr lang="en-IN" sz="2000" b="1" dirty="0"/>
              <a:t>Features:</a:t>
            </a:r>
            <a:r>
              <a:rPr lang="en-IN" sz="2000" dirty="0"/>
              <a:t> Enable/disable toggle for user control, Automatic URL scanning when enabled, Warning banner display (non-blocking approach), User choice: Block page or proceed with caution, Risk score and attack type display, Notification system for threats, Scan history in popup</a:t>
            </a:r>
          </a:p>
          <a:p>
            <a:r>
              <a:rPr lang="en-US" sz="2000" b="1" dirty="0"/>
              <a:t>Key Design:</a:t>
            </a:r>
            <a:r>
              <a:rPr lang="en-US" sz="2000" dirty="0"/>
              <a:t> User always has final control, not forced blocking</a:t>
            </a:r>
          </a:p>
          <a:p>
            <a:pPr marL="0" indent="0">
              <a:buNone/>
            </a:pPr>
            <a:r>
              <a:rPr lang="en-IN" sz="2000" b="1" dirty="0"/>
              <a:t>11. Logging and Reporting</a:t>
            </a:r>
          </a:p>
          <a:p>
            <a:r>
              <a:rPr lang="en-US" sz="2000" dirty="0"/>
              <a:t>Tracks all scan results with timestamps and attack metadata, supports report export for security auditing and monitoring.</a:t>
            </a:r>
          </a:p>
          <a:p>
            <a:pPr marL="0" indent="0">
              <a:buNone/>
            </a:pPr>
            <a:endParaRPr lang="en-IN" sz="2000" dirty="0"/>
          </a:p>
          <a:p>
            <a:pPr marL="0" indent="0">
              <a:buNone/>
            </a:pPr>
            <a:endParaRPr lang="en-IN" sz="2000" dirty="0"/>
          </a:p>
          <a:p>
            <a:pPr marL="0" indent="0">
              <a:buNone/>
            </a:pPr>
            <a:endParaRPr lang="en-US" sz="2000" dirty="0"/>
          </a:p>
          <a:p>
            <a:endParaRPr lang="en-US" sz="2000" dirty="0"/>
          </a:p>
          <a:p>
            <a:endParaRPr lang="en-US"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583ED3BD-3A6A-A20D-3486-D536A4143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001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3333-0A84-480E-278F-923972AD5D5D}"/>
              </a:ext>
            </a:extLst>
          </p:cNvPr>
          <p:cNvSpPr>
            <a:spLocks noGrp="1"/>
          </p:cNvSpPr>
          <p:nvPr>
            <p:ph type="title"/>
          </p:nvPr>
        </p:nvSpPr>
        <p:spPr/>
        <p:txBody>
          <a:bodyPr>
            <a:normAutofit/>
          </a:bodyPr>
          <a:lstStyle/>
          <a:p>
            <a:pPr algn="l"/>
            <a:r>
              <a:rPr lang="en-US" sz="3600" b="1" dirty="0"/>
              <a:t>Non-Functional Requirements</a:t>
            </a:r>
            <a:endParaRPr lang="en-IN" sz="3600" b="1" dirty="0"/>
          </a:p>
        </p:txBody>
      </p:sp>
      <p:sp>
        <p:nvSpPr>
          <p:cNvPr id="3" name="Content Placeholder 2">
            <a:extLst>
              <a:ext uri="{FF2B5EF4-FFF2-40B4-BE49-F238E27FC236}">
                <a16:creationId xmlns:a16="http://schemas.microsoft.com/office/drawing/2014/main" id="{871EA4F5-E065-4F50-481E-825632489BD1}"/>
              </a:ext>
            </a:extLst>
          </p:cNvPr>
          <p:cNvSpPr>
            <a:spLocks noGrp="1"/>
          </p:cNvSpPr>
          <p:nvPr>
            <p:ph idx="1"/>
          </p:nvPr>
        </p:nvSpPr>
        <p:spPr/>
        <p:txBody>
          <a:bodyPr>
            <a:normAutofit/>
          </a:bodyPr>
          <a:lstStyle/>
          <a:p>
            <a:pPr marL="0" indent="0">
              <a:buNone/>
            </a:pPr>
            <a:r>
              <a:rPr lang="en-IN" sz="2000" b="1" dirty="0"/>
              <a:t>1. Performance Requirements</a:t>
            </a:r>
          </a:p>
          <a:p>
            <a:r>
              <a:rPr lang="en-IN" sz="2000" b="1" dirty="0"/>
              <a:t>Response Time:</a:t>
            </a:r>
            <a:r>
              <a:rPr lang="en-IN" sz="2000" dirty="0"/>
              <a:t> &lt; 5 second for single URL scan</a:t>
            </a:r>
          </a:p>
          <a:p>
            <a:r>
              <a:rPr lang="en-IN" sz="2000" b="1" dirty="0"/>
              <a:t>Model Load Time:</a:t>
            </a:r>
            <a:r>
              <a:rPr lang="en-IN" sz="2000" dirty="0"/>
              <a:t> &lt; 3 seconds on startup</a:t>
            </a:r>
          </a:p>
          <a:p>
            <a:r>
              <a:rPr lang="en-IN" sz="2000" b="1" dirty="0"/>
              <a:t>Batch Processing:</a:t>
            </a:r>
            <a:r>
              <a:rPr lang="en-IN" sz="2000" dirty="0"/>
              <a:t> 50 URLs in &lt; 2 minutes</a:t>
            </a:r>
          </a:p>
          <a:p>
            <a:pPr marL="0" indent="0">
              <a:buNone/>
            </a:pPr>
            <a:r>
              <a:rPr lang="en-IN" sz="2000" b="1" dirty="0"/>
              <a:t>2. Reliability &amp; Availability</a:t>
            </a:r>
          </a:p>
          <a:p>
            <a:r>
              <a:rPr lang="en-IN" sz="2000" b="1" dirty="0"/>
              <a:t>System Uptime:</a:t>
            </a:r>
            <a:r>
              <a:rPr lang="en-IN" sz="2000" dirty="0"/>
              <a:t> 99% availability target</a:t>
            </a:r>
          </a:p>
          <a:p>
            <a:r>
              <a:rPr lang="en-IN" sz="2000" b="1" dirty="0"/>
              <a:t>Error Handling:</a:t>
            </a:r>
            <a:r>
              <a:rPr lang="en-IN" sz="2000" dirty="0"/>
              <a:t> Graceful degradation on feature extraction failures</a:t>
            </a:r>
          </a:p>
          <a:p>
            <a:r>
              <a:rPr lang="en-IN" sz="2000" b="1" dirty="0"/>
              <a:t>Model Fallback:</a:t>
            </a:r>
            <a:r>
              <a:rPr lang="en-IN" sz="2000" dirty="0"/>
              <a:t> Rule-based detection if ML model unavailable</a:t>
            </a:r>
          </a:p>
          <a:p>
            <a:pPr marL="0" indent="0">
              <a:buNone/>
            </a:pPr>
            <a:r>
              <a:rPr lang="en-IN" sz="2000" b="1" dirty="0"/>
              <a:t>3. </a:t>
            </a:r>
            <a:r>
              <a:rPr lang="en-US" sz="2000" b="1" dirty="0"/>
              <a:t>Scalability</a:t>
            </a:r>
          </a:p>
          <a:p>
            <a:r>
              <a:rPr lang="en-US" sz="2000" b="1" dirty="0"/>
              <a:t>Horizontal Scaling:</a:t>
            </a:r>
            <a:r>
              <a:rPr lang="en-US" sz="2000" dirty="0"/>
              <a:t> API can run on multiple instances</a:t>
            </a:r>
          </a:p>
          <a:p>
            <a:r>
              <a:rPr lang="en-US" sz="2000" b="1" dirty="0"/>
              <a:t>Database:</a:t>
            </a:r>
            <a:r>
              <a:rPr lang="en-US" sz="2000" dirty="0"/>
              <a:t> NoSQL support for large-scale logging (planned)</a:t>
            </a:r>
          </a:p>
          <a:p>
            <a:r>
              <a:rPr lang="en-US" sz="2000" b="1" dirty="0"/>
              <a:t>Load Balancing:</a:t>
            </a:r>
            <a:r>
              <a:rPr lang="en-US" sz="2000" dirty="0"/>
              <a:t> Support for distributed deployment</a:t>
            </a:r>
          </a:p>
          <a:p>
            <a:pPr marL="0" indent="0">
              <a:buNone/>
            </a:pP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985BE5EB-611F-BCAA-9EE9-F7D25CA5B4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874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D197AA-91AF-3AFA-B425-B5B363903E59}"/>
              </a:ext>
            </a:extLst>
          </p:cNvPr>
          <p:cNvSpPr>
            <a:spLocks noGrp="1"/>
          </p:cNvSpPr>
          <p:nvPr>
            <p:ph idx="1"/>
          </p:nvPr>
        </p:nvSpPr>
        <p:spPr>
          <a:xfrm>
            <a:off x="457199" y="1280954"/>
            <a:ext cx="10996863" cy="4845210"/>
          </a:xfrm>
        </p:spPr>
        <p:txBody>
          <a:bodyPr>
            <a:normAutofit/>
          </a:bodyPr>
          <a:lstStyle/>
          <a:p>
            <a:pPr marL="0" indent="0">
              <a:buNone/>
            </a:pPr>
            <a:r>
              <a:rPr lang="en-IN" sz="2000" b="1" dirty="0"/>
              <a:t>4. Security Requirements</a:t>
            </a:r>
          </a:p>
          <a:p>
            <a:r>
              <a:rPr lang="en-IN" sz="2000" b="1" dirty="0"/>
              <a:t>Data Privacy:</a:t>
            </a:r>
            <a:r>
              <a:rPr lang="en-IN" sz="2000" dirty="0"/>
              <a:t> No URL logging without user consent</a:t>
            </a:r>
          </a:p>
          <a:p>
            <a:r>
              <a:rPr lang="en-IN" sz="2000" b="1" dirty="0"/>
              <a:t>Model Integrity:</a:t>
            </a:r>
            <a:r>
              <a:rPr lang="en-IN" sz="2000" dirty="0"/>
              <a:t> Signed model files, version control</a:t>
            </a:r>
          </a:p>
          <a:p>
            <a:r>
              <a:rPr lang="en-IN" sz="2000" b="1" dirty="0"/>
              <a:t>Input Validation:</a:t>
            </a:r>
            <a:r>
              <a:rPr lang="en-IN" sz="2000" dirty="0"/>
              <a:t> Sanitization of user-provided URLs</a:t>
            </a:r>
          </a:p>
          <a:p>
            <a:pPr marL="0" indent="0">
              <a:buNone/>
            </a:pPr>
            <a:r>
              <a:rPr lang="en-IN" sz="2000" b="1" dirty="0"/>
              <a:t>5. Usability</a:t>
            </a:r>
          </a:p>
          <a:p>
            <a:r>
              <a:rPr lang="en-IN" sz="2000" b="1" dirty="0"/>
              <a:t>User Interface:</a:t>
            </a:r>
            <a:r>
              <a:rPr lang="en-IN" sz="2000" dirty="0"/>
              <a:t> Intuitive, &lt; 3 clicks to scan URL</a:t>
            </a:r>
          </a:p>
          <a:p>
            <a:r>
              <a:rPr lang="en-IN" sz="2000" b="1" dirty="0"/>
              <a:t>Response Clarity:</a:t>
            </a:r>
            <a:r>
              <a:rPr lang="en-IN" sz="2000" dirty="0"/>
              <a:t> Clear threat explanations, no jargon</a:t>
            </a:r>
          </a:p>
          <a:p>
            <a:r>
              <a:rPr lang="en-IN" sz="2000" b="1" dirty="0"/>
              <a:t>Cross-Platform:</a:t>
            </a:r>
            <a:r>
              <a:rPr lang="en-IN" sz="2000" dirty="0"/>
              <a:t> Works on Windows, macOS, Linux</a:t>
            </a:r>
          </a:p>
          <a:p>
            <a:r>
              <a:rPr lang="en-IN" sz="2000" b="1" dirty="0"/>
              <a:t>Browser Support:</a:t>
            </a:r>
            <a:r>
              <a:rPr lang="en-IN" sz="2000" dirty="0"/>
              <a:t> Chrome, Firefox, Edge </a:t>
            </a:r>
          </a:p>
          <a:p>
            <a:pPr marL="0" indent="0">
              <a:buNone/>
            </a:pPr>
            <a:r>
              <a:rPr lang="en-IN" sz="2000" b="1" dirty="0"/>
              <a:t>6. Maintainability</a:t>
            </a:r>
          </a:p>
          <a:p>
            <a:r>
              <a:rPr lang="en-IN" sz="2000" b="1" dirty="0"/>
              <a:t>Code Quality:</a:t>
            </a:r>
            <a:r>
              <a:rPr lang="en-IN" sz="2000" dirty="0"/>
              <a:t> Modular design, documented functions</a:t>
            </a:r>
          </a:p>
          <a:p>
            <a:r>
              <a:rPr lang="en-IN" sz="2000" b="1" dirty="0"/>
              <a:t>Model Updates:</a:t>
            </a:r>
            <a:r>
              <a:rPr lang="en-IN" sz="2000" dirty="0"/>
              <a:t> Easy retraining pipeline</a:t>
            </a:r>
          </a:p>
          <a:p>
            <a:r>
              <a:rPr lang="en-IN" sz="2000" b="1" dirty="0"/>
              <a:t>Version Control:</a:t>
            </a:r>
            <a:r>
              <a:rPr lang="en-IN" sz="2000" dirty="0"/>
              <a:t> Git-based, semantic versioning</a:t>
            </a:r>
          </a:p>
          <a:p>
            <a:pPr marL="0" indent="0">
              <a:buNone/>
            </a:pPr>
            <a:endParaRPr lang="en-IN" sz="2000" dirty="0"/>
          </a:p>
          <a:p>
            <a:pPr marL="0" indent="0">
              <a:buNone/>
            </a:pPr>
            <a:endParaRPr lang="en-IN" sz="2000" dirty="0"/>
          </a:p>
        </p:txBody>
      </p:sp>
      <p:pic>
        <p:nvPicPr>
          <p:cNvPr id="4" name="Picture 3" descr="PES University Know All about the Indian UGC-Approved University">
            <a:extLst>
              <a:ext uri="{FF2B5EF4-FFF2-40B4-BE49-F238E27FC236}">
                <a16:creationId xmlns:a16="http://schemas.microsoft.com/office/drawing/2014/main" id="{ADCB62EB-D8DB-C4C2-AE57-E72B7D24AA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289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4D25-8AF2-DBEC-B0D5-D3697E2A8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BDD4A-7971-248B-328F-ED63316D1102}"/>
              </a:ext>
            </a:extLst>
          </p:cNvPr>
          <p:cNvSpPr>
            <a:spLocks noGrp="1"/>
          </p:cNvSpPr>
          <p:nvPr>
            <p:ph type="title"/>
          </p:nvPr>
        </p:nvSpPr>
        <p:spPr>
          <a:xfrm>
            <a:off x="457200" y="141575"/>
            <a:ext cx="8229600" cy="784141"/>
          </a:xfrm>
        </p:spPr>
        <p:txBody>
          <a:bodyPr>
            <a:normAutofit/>
          </a:bodyPr>
          <a:lstStyle/>
          <a:p>
            <a:pPr algn="l"/>
            <a:r>
              <a:rPr lang="en-US" sz="3600" b="1" dirty="0"/>
              <a:t>Architecture Diagram</a:t>
            </a:r>
            <a:endParaRPr lang="en-IN" sz="3600" b="1" dirty="0"/>
          </a:p>
        </p:txBody>
      </p:sp>
      <p:sp>
        <p:nvSpPr>
          <p:cNvPr id="6" name="Content Placeholder 5">
            <a:extLst>
              <a:ext uri="{FF2B5EF4-FFF2-40B4-BE49-F238E27FC236}">
                <a16:creationId xmlns:a16="http://schemas.microsoft.com/office/drawing/2014/main" id="{36C104C6-8E15-97F6-306E-F989287F23E9}"/>
              </a:ext>
            </a:extLst>
          </p:cNvPr>
          <p:cNvSpPr>
            <a:spLocks noGrp="1"/>
          </p:cNvSpPr>
          <p:nvPr>
            <p:ph idx="1"/>
          </p:nvPr>
        </p:nvSpPr>
        <p:spPr>
          <a:xfrm>
            <a:off x="475665" y="961731"/>
            <a:ext cx="10804358" cy="5729120"/>
          </a:xfrm>
        </p:spPr>
        <p:txBody>
          <a:bodyPr/>
          <a:lstStyle/>
          <a:p>
            <a:pPr marL="0" indent="0" algn="ctr">
              <a:buNone/>
            </a:pPr>
            <a:r>
              <a:rPr lang="en-US" dirty="0"/>
              <a:t>.</a:t>
            </a:r>
            <a:endParaRPr lang="en-IN" dirty="0"/>
          </a:p>
        </p:txBody>
      </p:sp>
      <p:sp>
        <p:nvSpPr>
          <p:cNvPr id="7" name="Rectangle 6">
            <a:extLst>
              <a:ext uri="{FF2B5EF4-FFF2-40B4-BE49-F238E27FC236}">
                <a16:creationId xmlns:a16="http://schemas.microsoft.com/office/drawing/2014/main" id="{76D5B1C3-01FE-9130-A443-49B5EA6FCD3E}"/>
              </a:ext>
            </a:extLst>
          </p:cNvPr>
          <p:cNvSpPr/>
          <p:nvPr/>
        </p:nvSpPr>
        <p:spPr>
          <a:xfrm>
            <a:off x="540559" y="2460848"/>
            <a:ext cx="1873563" cy="3106449"/>
          </a:xfrm>
          <a:prstGeom prst="rect">
            <a:avLst/>
          </a:prstGeom>
          <a:solidFill>
            <a:schemeClr val="accent3">
              <a:lumMod val="20000"/>
              <a:lumOff val="8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pic>
        <p:nvPicPr>
          <p:cNvPr id="8" name="Picture 7" descr="PES University Know All about the Indian UGC-Approved University">
            <a:extLst>
              <a:ext uri="{FF2B5EF4-FFF2-40B4-BE49-F238E27FC236}">
                <a16:creationId xmlns:a16="http://schemas.microsoft.com/office/drawing/2014/main" id="{68248BBD-9C88-1584-66DA-87F14BCC0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Rounded Corners 8">
            <a:extLst>
              <a:ext uri="{FF2B5EF4-FFF2-40B4-BE49-F238E27FC236}">
                <a16:creationId xmlns:a16="http://schemas.microsoft.com/office/drawing/2014/main" id="{2E48FE1C-827D-4C16-FD6F-CCA8861544B4}"/>
              </a:ext>
            </a:extLst>
          </p:cNvPr>
          <p:cNvSpPr/>
          <p:nvPr/>
        </p:nvSpPr>
        <p:spPr>
          <a:xfrm>
            <a:off x="777139" y="3104324"/>
            <a:ext cx="1417777" cy="42397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Web Browser</a:t>
            </a:r>
          </a:p>
        </p:txBody>
      </p:sp>
      <p:sp>
        <p:nvSpPr>
          <p:cNvPr id="10" name="Rectangle: Rounded Corners 9">
            <a:extLst>
              <a:ext uri="{FF2B5EF4-FFF2-40B4-BE49-F238E27FC236}">
                <a16:creationId xmlns:a16="http://schemas.microsoft.com/office/drawing/2014/main" id="{7B545941-3F96-F221-3803-3208A319A9A8}"/>
              </a:ext>
            </a:extLst>
          </p:cNvPr>
          <p:cNvSpPr/>
          <p:nvPr/>
        </p:nvSpPr>
        <p:spPr>
          <a:xfrm>
            <a:off x="730387" y="4269308"/>
            <a:ext cx="1519069" cy="423975"/>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chemeClr val="tx1"/>
              </a:solidFill>
            </a:endParaRPr>
          </a:p>
          <a:p>
            <a:pPr algn="ctr"/>
            <a:r>
              <a:rPr lang="en-US" sz="1400" dirty="0">
                <a:solidFill>
                  <a:schemeClr val="tx1"/>
                </a:solidFill>
              </a:rPr>
              <a:t>Browser Extension</a:t>
            </a:r>
          </a:p>
          <a:p>
            <a:pPr algn="ctr"/>
            <a:endParaRPr lang="en-IN" dirty="0"/>
          </a:p>
        </p:txBody>
      </p:sp>
      <p:sp>
        <p:nvSpPr>
          <p:cNvPr id="24" name="Rectangle 23">
            <a:extLst>
              <a:ext uri="{FF2B5EF4-FFF2-40B4-BE49-F238E27FC236}">
                <a16:creationId xmlns:a16="http://schemas.microsoft.com/office/drawing/2014/main" id="{3B445007-6759-0555-C4FF-2DD47CB6A4A3}"/>
              </a:ext>
            </a:extLst>
          </p:cNvPr>
          <p:cNvSpPr/>
          <p:nvPr/>
        </p:nvSpPr>
        <p:spPr>
          <a:xfrm>
            <a:off x="2810207" y="2444625"/>
            <a:ext cx="2589882" cy="3106450"/>
          </a:xfrm>
          <a:prstGeom prst="rect">
            <a:avLst/>
          </a:prstGeom>
          <a:solidFill>
            <a:schemeClr val="accent3">
              <a:lumMod val="20000"/>
              <a:lumOff val="80000"/>
            </a:schemeClr>
          </a:solidFill>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50" name="TextBox 49">
            <a:extLst>
              <a:ext uri="{FF2B5EF4-FFF2-40B4-BE49-F238E27FC236}">
                <a16:creationId xmlns:a16="http://schemas.microsoft.com/office/drawing/2014/main" id="{6AE30BB7-BDDF-1BDA-8018-4B23B84A647E}"/>
              </a:ext>
            </a:extLst>
          </p:cNvPr>
          <p:cNvSpPr txBox="1"/>
          <p:nvPr/>
        </p:nvSpPr>
        <p:spPr>
          <a:xfrm>
            <a:off x="610257" y="2016051"/>
            <a:ext cx="1623527" cy="304908"/>
          </a:xfrm>
          <a:prstGeom prst="rect">
            <a:avLst/>
          </a:prstGeom>
          <a:noFill/>
        </p:spPr>
        <p:txBody>
          <a:bodyPr wrap="square" rtlCol="0">
            <a:spAutoFit/>
          </a:bodyPr>
          <a:lstStyle/>
          <a:p>
            <a:pPr algn="ctr"/>
            <a:r>
              <a:rPr lang="en-US" sz="1400" b="1" dirty="0"/>
              <a:t>Presentation Layer</a:t>
            </a:r>
            <a:endParaRPr lang="en-IN" sz="1400" b="1" dirty="0"/>
          </a:p>
        </p:txBody>
      </p:sp>
      <p:sp>
        <p:nvSpPr>
          <p:cNvPr id="5" name="TextBox 4">
            <a:extLst>
              <a:ext uri="{FF2B5EF4-FFF2-40B4-BE49-F238E27FC236}">
                <a16:creationId xmlns:a16="http://schemas.microsoft.com/office/drawing/2014/main" id="{82815FDE-7A87-CB89-A810-1C551C7895EF}"/>
              </a:ext>
            </a:extLst>
          </p:cNvPr>
          <p:cNvSpPr txBox="1"/>
          <p:nvPr/>
        </p:nvSpPr>
        <p:spPr>
          <a:xfrm>
            <a:off x="2711289" y="2042927"/>
            <a:ext cx="2787718" cy="307777"/>
          </a:xfrm>
          <a:prstGeom prst="rect">
            <a:avLst/>
          </a:prstGeom>
          <a:noFill/>
        </p:spPr>
        <p:txBody>
          <a:bodyPr wrap="square" rtlCol="0">
            <a:spAutoFit/>
          </a:bodyPr>
          <a:lstStyle/>
          <a:p>
            <a:pPr algn="ctr"/>
            <a:r>
              <a:rPr lang="en-US" sz="1400" b="1" dirty="0"/>
              <a:t>Business Logic (Flask REST API)</a:t>
            </a:r>
            <a:endParaRPr lang="en-IN" sz="1400" b="1" dirty="0"/>
          </a:p>
        </p:txBody>
      </p:sp>
      <p:sp>
        <p:nvSpPr>
          <p:cNvPr id="11" name="Rectangle: Rounded Corners 10">
            <a:extLst>
              <a:ext uri="{FF2B5EF4-FFF2-40B4-BE49-F238E27FC236}">
                <a16:creationId xmlns:a16="http://schemas.microsoft.com/office/drawing/2014/main" id="{649564B7-CEB0-44FC-10AA-EB3B35DA8C84}"/>
              </a:ext>
            </a:extLst>
          </p:cNvPr>
          <p:cNvSpPr/>
          <p:nvPr/>
        </p:nvSpPr>
        <p:spPr>
          <a:xfrm>
            <a:off x="3473218" y="2645949"/>
            <a:ext cx="1044596" cy="355813"/>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/api/health</a:t>
            </a:r>
            <a:endParaRPr lang="en-IN" sz="1400" dirty="0">
              <a:solidFill>
                <a:schemeClr val="tx1"/>
              </a:solidFill>
            </a:endParaRPr>
          </a:p>
        </p:txBody>
      </p:sp>
      <p:sp>
        <p:nvSpPr>
          <p:cNvPr id="12" name="Rectangle: Rounded Corners 11">
            <a:extLst>
              <a:ext uri="{FF2B5EF4-FFF2-40B4-BE49-F238E27FC236}">
                <a16:creationId xmlns:a16="http://schemas.microsoft.com/office/drawing/2014/main" id="{934F2F04-07FD-95D1-C8D0-848287ED47B7}"/>
              </a:ext>
            </a:extLst>
          </p:cNvPr>
          <p:cNvSpPr/>
          <p:nvPr/>
        </p:nvSpPr>
        <p:spPr>
          <a:xfrm>
            <a:off x="3269438" y="3166972"/>
            <a:ext cx="1444253" cy="322593"/>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/api/validate-</a:t>
            </a:r>
            <a:r>
              <a:rPr lang="en-US" sz="1400" dirty="0" err="1">
                <a:solidFill>
                  <a:schemeClr val="tx1"/>
                </a:solidFill>
              </a:rPr>
              <a:t>url</a:t>
            </a:r>
            <a:endParaRPr lang="en-IN" sz="1400" dirty="0">
              <a:solidFill>
                <a:schemeClr val="tx1"/>
              </a:solidFill>
            </a:endParaRPr>
          </a:p>
        </p:txBody>
      </p:sp>
      <p:sp>
        <p:nvSpPr>
          <p:cNvPr id="13" name="Rectangle: Rounded Corners 12">
            <a:extLst>
              <a:ext uri="{FF2B5EF4-FFF2-40B4-BE49-F238E27FC236}">
                <a16:creationId xmlns:a16="http://schemas.microsoft.com/office/drawing/2014/main" id="{94681291-B10B-1483-D780-57739823F745}"/>
              </a:ext>
            </a:extLst>
          </p:cNvPr>
          <p:cNvSpPr/>
          <p:nvPr/>
        </p:nvSpPr>
        <p:spPr>
          <a:xfrm>
            <a:off x="3473218" y="3615378"/>
            <a:ext cx="1035134" cy="329480"/>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/api/scan</a:t>
            </a:r>
            <a:endParaRPr lang="en-IN" sz="1400" dirty="0">
              <a:solidFill>
                <a:schemeClr val="tx1"/>
              </a:solidFill>
            </a:endParaRPr>
          </a:p>
        </p:txBody>
      </p:sp>
      <p:sp>
        <p:nvSpPr>
          <p:cNvPr id="14" name="Rectangle: Rounded Corners 13">
            <a:extLst>
              <a:ext uri="{FF2B5EF4-FFF2-40B4-BE49-F238E27FC236}">
                <a16:creationId xmlns:a16="http://schemas.microsoft.com/office/drawing/2014/main" id="{6241F5B5-FFD9-182E-A892-E6A08A723A0B}"/>
              </a:ext>
            </a:extLst>
          </p:cNvPr>
          <p:cNvSpPr/>
          <p:nvPr/>
        </p:nvSpPr>
        <p:spPr>
          <a:xfrm>
            <a:off x="3473218" y="4072599"/>
            <a:ext cx="1035134" cy="329480"/>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/api/batch</a:t>
            </a:r>
            <a:endParaRPr lang="en-IN" sz="1400" dirty="0">
              <a:solidFill>
                <a:schemeClr val="tx1"/>
              </a:solidFill>
            </a:endParaRPr>
          </a:p>
        </p:txBody>
      </p:sp>
      <p:sp>
        <p:nvSpPr>
          <p:cNvPr id="15" name="Rectangle: Rounded Corners 14">
            <a:extLst>
              <a:ext uri="{FF2B5EF4-FFF2-40B4-BE49-F238E27FC236}">
                <a16:creationId xmlns:a16="http://schemas.microsoft.com/office/drawing/2014/main" id="{04E285E9-71BC-FF5B-C457-9BBE3CE9ACE5}"/>
              </a:ext>
            </a:extLst>
          </p:cNvPr>
          <p:cNvSpPr/>
          <p:nvPr/>
        </p:nvSpPr>
        <p:spPr>
          <a:xfrm>
            <a:off x="3473218" y="4525055"/>
            <a:ext cx="1035134" cy="329480"/>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/api/logs</a:t>
            </a:r>
            <a:endParaRPr lang="en-IN" sz="1400" dirty="0">
              <a:solidFill>
                <a:schemeClr val="tx1"/>
              </a:solidFill>
            </a:endParaRPr>
          </a:p>
        </p:txBody>
      </p:sp>
      <p:sp>
        <p:nvSpPr>
          <p:cNvPr id="17" name="Rectangle: Rounded Corners 16">
            <a:extLst>
              <a:ext uri="{FF2B5EF4-FFF2-40B4-BE49-F238E27FC236}">
                <a16:creationId xmlns:a16="http://schemas.microsoft.com/office/drawing/2014/main" id="{789709EE-EAB4-CCE8-89BB-32B4227C63D1}"/>
              </a:ext>
            </a:extLst>
          </p:cNvPr>
          <p:cNvSpPr/>
          <p:nvPr/>
        </p:nvSpPr>
        <p:spPr>
          <a:xfrm>
            <a:off x="3482680" y="4973064"/>
            <a:ext cx="1035134" cy="329480"/>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/api/stats</a:t>
            </a:r>
            <a:endParaRPr lang="en-IN" sz="1400" dirty="0">
              <a:solidFill>
                <a:schemeClr val="tx1"/>
              </a:solidFill>
            </a:endParaRPr>
          </a:p>
        </p:txBody>
      </p:sp>
      <p:sp>
        <p:nvSpPr>
          <p:cNvPr id="26" name="Rectangle 25">
            <a:extLst>
              <a:ext uri="{FF2B5EF4-FFF2-40B4-BE49-F238E27FC236}">
                <a16:creationId xmlns:a16="http://schemas.microsoft.com/office/drawing/2014/main" id="{158784A9-5019-03FD-80F4-2BCB427CBB7F}"/>
              </a:ext>
            </a:extLst>
          </p:cNvPr>
          <p:cNvSpPr/>
          <p:nvPr/>
        </p:nvSpPr>
        <p:spPr>
          <a:xfrm>
            <a:off x="5877844" y="2438051"/>
            <a:ext cx="2787029" cy="3106449"/>
          </a:xfrm>
          <a:prstGeom prst="rect">
            <a:avLst/>
          </a:prstGeom>
          <a:solidFill>
            <a:schemeClr val="accent3">
              <a:lumMod val="20000"/>
              <a:lumOff val="80000"/>
            </a:schemeClr>
          </a:solidFill>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7" name="TextBox 26">
            <a:extLst>
              <a:ext uri="{FF2B5EF4-FFF2-40B4-BE49-F238E27FC236}">
                <a16:creationId xmlns:a16="http://schemas.microsoft.com/office/drawing/2014/main" id="{621EC818-8748-408F-74F6-9047F8401820}"/>
              </a:ext>
            </a:extLst>
          </p:cNvPr>
          <p:cNvSpPr txBox="1"/>
          <p:nvPr/>
        </p:nvSpPr>
        <p:spPr>
          <a:xfrm>
            <a:off x="5832246" y="1908935"/>
            <a:ext cx="2787718" cy="523220"/>
          </a:xfrm>
          <a:prstGeom prst="rect">
            <a:avLst/>
          </a:prstGeom>
          <a:noFill/>
        </p:spPr>
        <p:txBody>
          <a:bodyPr wrap="square" rtlCol="0">
            <a:spAutoFit/>
          </a:bodyPr>
          <a:lstStyle/>
          <a:p>
            <a:pPr algn="ctr"/>
            <a:r>
              <a:rPr lang="en-US" sz="1400" b="1" dirty="0"/>
              <a:t> Service Layer</a:t>
            </a:r>
          </a:p>
          <a:p>
            <a:pPr algn="ctr"/>
            <a:r>
              <a:rPr lang="en-US" sz="1400" b="1" dirty="0"/>
              <a:t>(Core Processing Engine)</a:t>
            </a:r>
            <a:endParaRPr lang="en-IN" sz="1400" b="1" dirty="0"/>
          </a:p>
        </p:txBody>
      </p:sp>
      <p:sp>
        <p:nvSpPr>
          <p:cNvPr id="28" name="Rectangle: Rounded Corners 27">
            <a:extLst>
              <a:ext uri="{FF2B5EF4-FFF2-40B4-BE49-F238E27FC236}">
                <a16:creationId xmlns:a16="http://schemas.microsoft.com/office/drawing/2014/main" id="{DAC06C2B-4B46-2001-E396-2C76DF11811C}"/>
              </a:ext>
            </a:extLst>
          </p:cNvPr>
          <p:cNvSpPr/>
          <p:nvPr/>
        </p:nvSpPr>
        <p:spPr>
          <a:xfrm>
            <a:off x="6051544" y="2932463"/>
            <a:ext cx="2439628" cy="2173357"/>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URL Validation Engine                                      Feature Extraction Engine</a:t>
            </a:r>
          </a:p>
          <a:p>
            <a:pPr algn="ctr"/>
            <a:r>
              <a:rPr lang="en-IN" sz="1400" dirty="0">
                <a:solidFill>
                  <a:schemeClr val="tx1"/>
                </a:solidFill>
              </a:rPr>
              <a:t>ML Prediction Engine Attack Classification Module                              </a:t>
            </a:r>
          </a:p>
          <a:p>
            <a:pPr algn="ctr"/>
            <a:r>
              <a:rPr lang="en-IN" sz="1400" dirty="0">
                <a:solidFill>
                  <a:schemeClr val="tx1"/>
                </a:solidFill>
              </a:rPr>
              <a:t>Risk Scoring Engine </a:t>
            </a:r>
          </a:p>
          <a:p>
            <a:pPr algn="ctr"/>
            <a:r>
              <a:rPr lang="en-IN" sz="1400" dirty="0">
                <a:solidFill>
                  <a:schemeClr val="tx1"/>
                </a:solidFill>
              </a:rPr>
              <a:t>Educational Content Generator</a:t>
            </a:r>
          </a:p>
        </p:txBody>
      </p:sp>
      <p:sp>
        <p:nvSpPr>
          <p:cNvPr id="30" name="Rectangle 29">
            <a:extLst>
              <a:ext uri="{FF2B5EF4-FFF2-40B4-BE49-F238E27FC236}">
                <a16:creationId xmlns:a16="http://schemas.microsoft.com/office/drawing/2014/main" id="{2CC67D3E-0499-B9DB-53FD-0ECA52063CB5}"/>
              </a:ext>
            </a:extLst>
          </p:cNvPr>
          <p:cNvSpPr/>
          <p:nvPr/>
        </p:nvSpPr>
        <p:spPr>
          <a:xfrm>
            <a:off x="9179267" y="2460848"/>
            <a:ext cx="2232419" cy="3061446"/>
          </a:xfrm>
          <a:prstGeom prst="rect">
            <a:avLst/>
          </a:prstGeom>
          <a:solidFill>
            <a:schemeClr val="accent3">
              <a:lumMod val="20000"/>
              <a:lumOff val="80000"/>
            </a:schemeClr>
          </a:solidFill>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1" name="TextBox 30">
            <a:extLst>
              <a:ext uri="{FF2B5EF4-FFF2-40B4-BE49-F238E27FC236}">
                <a16:creationId xmlns:a16="http://schemas.microsoft.com/office/drawing/2014/main" id="{28DC90F2-1338-DF4F-CC00-86CDE248F9FB}"/>
              </a:ext>
            </a:extLst>
          </p:cNvPr>
          <p:cNvSpPr txBox="1"/>
          <p:nvPr/>
        </p:nvSpPr>
        <p:spPr>
          <a:xfrm>
            <a:off x="8825273" y="2075535"/>
            <a:ext cx="2787718" cy="307777"/>
          </a:xfrm>
          <a:prstGeom prst="rect">
            <a:avLst/>
          </a:prstGeom>
          <a:noFill/>
        </p:spPr>
        <p:txBody>
          <a:bodyPr wrap="square" rtlCol="0">
            <a:spAutoFit/>
          </a:bodyPr>
          <a:lstStyle/>
          <a:p>
            <a:pPr algn="ctr"/>
            <a:r>
              <a:rPr lang="en-US" sz="1400" b="1" dirty="0"/>
              <a:t> Data Layer</a:t>
            </a:r>
          </a:p>
        </p:txBody>
      </p:sp>
      <p:sp>
        <p:nvSpPr>
          <p:cNvPr id="32" name="Rectangle: Rounded Corners 31">
            <a:extLst>
              <a:ext uri="{FF2B5EF4-FFF2-40B4-BE49-F238E27FC236}">
                <a16:creationId xmlns:a16="http://schemas.microsoft.com/office/drawing/2014/main" id="{65ECCA5D-83F1-7FB3-1011-47789E72D4E0}"/>
              </a:ext>
            </a:extLst>
          </p:cNvPr>
          <p:cNvSpPr/>
          <p:nvPr/>
        </p:nvSpPr>
        <p:spPr>
          <a:xfrm>
            <a:off x="9341530" y="2915674"/>
            <a:ext cx="1907891" cy="2173357"/>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MongoDB Database                                           Scan Logs                                           Prevention</a:t>
            </a:r>
          </a:p>
          <a:p>
            <a:pPr algn="ctr"/>
            <a:r>
              <a:rPr lang="en-US" sz="1400" dirty="0">
                <a:solidFill>
                  <a:schemeClr val="tx1"/>
                </a:solidFill>
              </a:rPr>
              <a:t>Attack Knowledge Base </a:t>
            </a:r>
          </a:p>
          <a:p>
            <a:pPr algn="ctr"/>
            <a:r>
              <a:rPr lang="en-IN" sz="1400" dirty="0">
                <a:solidFill>
                  <a:schemeClr val="tx1"/>
                </a:solidFill>
              </a:rPr>
              <a:t>ML Model (.</a:t>
            </a:r>
            <a:r>
              <a:rPr lang="en-IN" sz="1400" dirty="0" err="1">
                <a:solidFill>
                  <a:schemeClr val="tx1"/>
                </a:solidFill>
              </a:rPr>
              <a:t>pkl</a:t>
            </a:r>
            <a:r>
              <a:rPr lang="en-IN" sz="1400" dirty="0">
                <a:solidFill>
                  <a:schemeClr val="tx1"/>
                </a:solidFill>
              </a:rPr>
              <a:t> file) </a:t>
            </a:r>
          </a:p>
        </p:txBody>
      </p:sp>
      <p:sp>
        <p:nvSpPr>
          <p:cNvPr id="34" name="Rectangle 33">
            <a:extLst>
              <a:ext uri="{FF2B5EF4-FFF2-40B4-BE49-F238E27FC236}">
                <a16:creationId xmlns:a16="http://schemas.microsoft.com/office/drawing/2014/main" id="{5189B0A1-034B-905F-56D7-3F0B528FA7B3}"/>
              </a:ext>
            </a:extLst>
          </p:cNvPr>
          <p:cNvSpPr/>
          <p:nvPr/>
        </p:nvSpPr>
        <p:spPr>
          <a:xfrm>
            <a:off x="337315" y="1837917"/>
            <a:ext cx="11321274" cy="4058352"/>
          </a:xfrm>
          <a:prstGeom prst="rect">
            <a:avLst/>
          </a:prstGeom>
          <a:no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41" name="Straight Arrow Connector 40">
            <a:extLst>
              <a:ext uri="{FF2B5EF4-FFF2-40B4-BE49-F238E27FC236}">
                <a16:creationId xmlns:a16="http://schemas.microsoft.com/office/drawing/2014/main" id="{33A18102-0D66-EE28-E8C7-467B2A75D4EE}"/>
              </a:ext>
            </a:extLst>
          </p:cNvPr>
          <p:cNvCxnSpPr/>
          <p:nvPr/>
        </p:nvCxnSpPr>
        <p:spPr>
          <a:xfrm>
            <a:off x="2411447" y="3282974"/>
            <a:ext cx="39876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1FCBB3E-8C2E-4926-0302-FDCE42AD0316}"/>
              </a:ext>
            </a:extLst>
          </p:cNvPr>
          <p:cNvCxnSpPr/>
          <p:nvPr/>
        </p:nvCxnSpPr>
        <p:spPr>
          <a:xfrm>
            <a:off x="2394152" y="4431006"/>
            <a:ext cx="39876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3C998F6D-82F5-92AD-DCE7-A9A0A9772773}"/>
              </a:ext>
            </a:extLst>
          </p:cNvPr>
          <p:cNvCxnSpPr/>
          <p:nvPr/>
        </p:nvCxnSpPr>
        <p:spPr>
          <a:xfrm>
            <a:off x="5433486" y="3247360"/>
            <a:ext cx="398760"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9B60D1D-6BB9-C55F-7547-DBCFAB4B4868}"/>
              </a:ext>
            </a:extLst>
          </p:cNvPr>
          <p:cNvCxnSpPr>
            <a:cxnSpLocks/>
          </p:cNvCxnSpPr>
          <p:nvPr/>
        </p:nvCxnSpPr>
        <p:spPr>
          <a:xfrm>
            <a:off x="5400089" y="4498772"/>
            <a:ext cx="432157"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A392B2C9-7EBA-2ABB-872A-4E8F0B7BCC7D}"/>
              </a:ext>
            </a:extLst>
          </p:cNvPr>
          <p:cNvCxnSpPr>
            <a:cxnSpLocks/>
          </p:cNvCxnSpPr>
          <p:nvPr/>
        </p:nvCxnSpPr>
        <p:spPr>
          <a:xfrm>
            <a:off x="8686800" y="3239738"/>
            <a:ext cx="492467"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FFA30E9-1804-1CEF-B948-3262F59827F8}"/>
              </a:ext>
            </a:extLst>
          </p:cNvPr>
          <p:cNvCxnSpPr>
            <a:cxnSpLocks/>
          </p:cNvCxnSpPr>
          <p:nvPr/>
        </p:nvCxnSpPr>
        <p:spPr>
          <a:xfrm>
            <a:off x="8664873" y="4498772"/>
            <a:ext cx="514394" cy="0"/>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8241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CBF65-A864-9DBB-CF8C-BE685B2A1A15}"/>
              </a:ext>
            </a:extLst>
          </p:cNvPr>
          <p:cNvSpPr>
            <a:spLocks noGrp="1"/>
          </p:cNvSpPr>
          <p:nvPr>
            <p:ph type="title"/>
          </p:nvPr>
        </p:nvSpPr>
        <p:spPr/>
        <p:txBody>
          <a:bodyPr>
            <a:normAutofit/>
          </a:bodyPr>
          <a:lstStyle/>
          <a:p>
            <a:pPr algn="l"/>
            <a:r>
              <a:rPr lang="en-US" sz="3600" b="1" dirty="0"/>
              <a:t>Process Flow Diagram</a:t>
            </a:r>
            <a:endParaRPr lang="en-IN" sz="3600" b="1" dirty="0"/>
          </a:p>
        </p:txBody>
      </p:sp>
      <p:sp>
        <p:nvSpPr>
          <p:cNvPr id="3" name="Content Placeholder 2">
            <a:extLst>
              <a:ext uri="{FF2B5EF4-FFF2-40B4-BE49-F238E27FC236}">
                <a16:creationId xmlns:a16="http://schemas.microsoft.com/office/drawing/2014/main" id="{31DB48B2-81E3-F53E-140B-1C5676EE93C2}"/>
              </a:ext>
            </a:extLst>
          </p:cNvPr>
          <p:cNvSpPr>
            <a:spLocks noGrp="1"/>
          </p:cNvSpPr>
          <p:nvPr>
            <p:ph idx="1"/>
          </p:nvPr>
        </p:nvSpPr>
        <p:spPr>
          <a:xfrm>
            <a:off x="457199" y="1280954"/>
            <a:ext cx="10996863" cy="4845210"/>
          </a:xfrm>
        </p:spPr>
        <p:txBody>
          <a:bodyPr/>
          <a:lstStyle/>
          <a:p>
            <a:pPr marL="0" indent="0">
              <a:buNone/>
            </a:pPr>
            <a:r>
              <a:rPr lang="en-US" dirty="0"/>
              <a:t>.</a:t>
            </a:r>
            <a:endParaRPr lang="en-IN" dirty="0"/>
          </a:p>
        </p:txBody>
      </p:sp>
      <p:pic>
        <p:nvPicPr>
          <p:cNvPr id="4" name="Picture 3" descr="PES University Know All about the Indian UGC-Approved University">
            <a:extLst>
              <a:ext uri="{FF2B5EF4-FFF2-40B4-BE49-F238E27FC236}">
                <a16:creationId xmlns:a16="http://schemas.microsoft.com/office/drawing/2014/main" id="{491C5FB5-42E3-D1A4-E059-B6D920E29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9F75545-AC57-253E-0BAA-81CB4058AC85}"/>
              </a:ext>
            </a:extLst>
          </p:cNvPr>
          <p:cNvPicPr>
            <a:picLocks noChangeAspect="1"/>
          </p:cNvPicPr>
          <p:nvPr/>
        </p:nvPicPr>
        <p:blipFill>
          <a:blip r:embed="rId3"/>
          <a:stretch>
            <a:fillRect/>
          </a:stretch>
        </p:blipFill>
        <p:spPr>
          <a:xfrm>
            <a:off x="4306456" y="1129773"/>
            <a:ext cx="4643119" cy="5553972"/>
          </a:xfrm>
          <a:prstGeom prst="rect">
            <a:avLst/>
          </a:prstGeom>
        </p:spPr>
      </p:pic>
    </p:spTree>
    <p:extLst>
      <p:ext uri="{BB962C8B-B14F-4D97-AF65-F5344CB8AC3E}">
        <p14:creationId xmlns:p14="http://schemas.microsoft.com/office/powerpoint/2010/main" val="3387995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33B3B-2099-AB8F-91B0-89811F8B20C5}"/>
              </a:ext>
            </a:extLst>
          </p:cNvPr>
          <p:cNvSpPr>
            <a:spLocks noGrp="1"/>
          </p:cNvSpPr>
          <p:nvPr>
            <p:ph type="title"/>
          </p:nvPr>
        </p:nvSpPr>
        <p:spPr>
          <a:xfrm>
            <a:off x="457200" y="274638"/>
            <a:ext cx="8666480" cy="1143000"/>
          </a:xfrm>
        </p:spPr>
        <p:txBody>
          <a:bodyPr>
            <a:noAutofit/>
          </a:bodyPr>
          <a:lstStyle/>
          <a:p>
            <a:pPr algn="l"/>
            <a:r>
              <a:rPr lang="en-US" sz="3600" b="1" dirty="0"/>
              <a:t>Design Methodology </a:t>
            </a:r>
            <a:r>
              <a:rPr lang="en-IN" sz="3600" dirty="0"/>
              <a:t>- </a:t>
            </a:r>
            <a:r>
              <a:rPr lang="en-IN" sz="3600" b="1" dirty="0"/>
              <a:t>ML Training Pipeline</a:t>
            </a:r>
          </a:p>
        </p:txBody>
      </p:sp>
      <p:sp>
        <p:nvSpPr>
          <p:cNvPr id="11" name="Content Placeholder 10">
            <a:extLst>
              <a:ext uri="{FF2B5EF4-FFF2-40B4-BE49-F238E27FC236}">
                <a16:creationId xmlns:a16="http://schemas.microsoft.com/office/drawing/2014/main" id="{B60F9470-1178-3455-DE54-0A1DD6C97E22}"/>
              </a:ext>
            </a:extLst>
          </p:cNvPr>
          <p:cNvSpPr>
            <a:spLocks noGrp="1"/>
          </p:cNvSpPr>
          <p:nvPr>
            <p:ph idx="1"/>
          </p:nvPr>
        </p:nvSpPr>
        <p:spPr>
          <a:xfrm>
            <a:off x="457200" y="1600200"/>
            <a:ext cx="11145520" cy="4525963"/>
          </a:xfrm>
        </p:spPr>
        <p:txBody>
          <a:bodyPr>
            <a:normAutofit/>
          </a:bodyPr>
          <a:lstStyle/>
          <a:p>
            <a:pPr marL="0" indent="0">
              <a:buNone/>
            </a:pPr>
            <a:r>
              <a:rPr lang="en-US" sz="200" dirty="0"/>
              <a:t>.</a:t>
            </a:r>
            <a:endParaRPr lang="en-IN" sz="200" dirty="0"/>
          </a:p>
        </p:txBody>
      </p:sp>
      <p:pic>
        <p:nvPicPr>
          <p:cNvPr id="12" name="Picture 11" descr="PES University Know All about the Indian UGC-Approved University">
            <a:extLst>
              <a:ext uri="{FF2B5EF4-FFF2-40B4-BE49-F238E27FC236}">
                <a16:creationId xmlns:a16="http://schemas.microsoft.com/office/drawing/2014/main" id="{9E15AC25-9F4D-EF95-CA35-03CA516E38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8E474160-55C2-C51C-A7E9-42F9F8BD5FE5}"/>
              </a:ext>
            </a:extLst>
          </p:cNvPr>
          <p:cNvSpPr/>
          <p:nvPr/>
        </p:nvSpPr>
        <p:spPr>
          <a:xfrm>
            <a:off x="701040" y="1621355"/>
            <a:ext cx="4714240" cy="988092"/>
          </a:xfrm>
          <a:prstGeom prst="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4" name="Rectangle: Rounded Corners 13">
            <a:extLst>
              <a:ext uri="{FF2B5EF4-FFF2-40B4-BE49-F238E27FC236}">
                <a16:creationId xmlns:a16="http://schemas.microsoft.com/office/drawing/2014/main" id="{DDFF4072-32DB-C57B-0E7C-1DC2E2AC9536}"/>
              </a:ext>
            </a:extLst>
          </p:cNvPr>
          <p:cNvSpPr/>
          <p:nvPr/>
        </p:nvSpPr>
        <p:spPr>
          <a:xfrm>
            <a:off x="772160" y="1990207"/>
            <a:ext cx="1198880" cy="50058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Dataset Collection</a:t>
            </a:r>
          </a:p>
        </p:txBody>
      </p:sp>
      <p:sp>
        <p:nvSpPr>
          <p:cNvPr id="15" name="Rectangle: Rounded Corners 14">
            <a:extLst>
              <a:ext uri="{FF2B5EF4-FFF2-40B4-BE49-F238E27FC236}">
                <a16:creationId xmlns:a16="http://schemas.microsoft.com/office/drawing/2014/main" id="{1F8A21B2-DA73-235A-A804-83E53BBCEF67}"/>
              </a:ext>
            </a:extLst>
          </p:cNvPr>
          <p:cNvSpPr/>
          <p:nvPr/>
        </p:nvSpPr>
        <p:spPr>
          <a:xfrm>
            <a:off x="2316480" y="2015223"/>
            <a:ext cx="1330960" cy="500584"/>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Data Cleaning</a:t>
            </a:r>
          </a:p>
        </p:txBody>
      </p:sp>
      <p:sp>
        <p:nvSpPr>
          <p:cNvPr id="16" name="Rectangle: Rounded Corners 15">
            <a:extLst>
              <a:ext uri="{FF2B5EF4-FFF2-40B4-BE49-F238E27FC236}">
                <a16:creationId xmlns:a16="http://schemas.microsoft.com/office/drawing/2014/main" id="{D8EBED3A-40BA-A356-D198-6FDFFD2E50D7}"/>
              </a:ext>
            </a:extLst>
          </p:cNvPr>
          <p:cNvSpPr/>
          <p:nvPr/>
        </p:nvSpPr>
        <p:spPr>
          <a:xfrm>
            <a:off x="3947160" y="2034595"/>
            <a:ext cx="1391920" cy="47267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Feature Extraction</a:t>
            </a:r>
          </a:p>
        </p:txBody>
      </p:sp>
      <p:sp>
        <p:nvSpPr>
          <p:cNvPr id="18" name="TextBox 17">
            <a:extLst>
              <a:ext uri="{FF2B5EF4-FFF2-40B4-BE49-F238E27FC236}">
                <a16:creationId xmlns:a16="http://schemas.microsoft.com/office/drawing/2014/main" id="{CA409892-9D9E-263B-397C-22A1C31D9629}"/>
              </a:ext>
            </a:extLst>
          </p:cNvPr>
          <p:cNvSpPr txBox="1"/>
          <p:nvPr/>
        </p:nvSpPr>
        <p:spPr>
          <a:xfrm>
            <a:off x="1259840" y="1643868"/>
            <a:ext cx="3444240" cy="307777"/>
          </a:xfrm>
          <a:prstGeom prst="rect">
            <a:avLst/>
          </a:prstGeom>
          <a:noFill/>
        </p:spPr>
        <p:txBody>
          <a:bodyPr wrap="square" rtlCol="0">
            <a:spAutoFit/>
          </a:bodyPr>
          <a:lstStyle/>
          <a:p>
            <a:pPr algn="ctr"/>
            <a:r>
              <a:rPr lang="en-IN" sz="1400" b="1" dirty="0"/>
              <a:t>PHASE 1: DATA PREPARATION</a:t>
            </a:r>
          </a:p>
        </p:txBody>
      </p:sp>
      <p:sp>
        <p:nvSpPr>
          <p:cNvPr id="20" name="Rectangle 19">
            <a:extLst>
              <a:ext uri="{FF2B5EF4-FFF2-40B4-BE49-F238E27FC236}">
                <a16:creationId xmlns:a16="http://schemas.microsoft.com/office/drawing/2014/main" id="{E62926C3-4984-27CB-73F3-0165AB511773}"/>
              </a:ext>
            </a:extLst>
          </p:cNvPr>
          <p:cNvSpPr/>
          <p:nvPr/>
        </p:nvSpPr>
        <p:spPr>
          <a:xfrm>
            <a:off x="1915160" y="2804233"/>
            <a:ext cx="5674360" cy="905028"/>
          </a:xfrm>
          <a:prstGeom prst="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82EF8FD7-0F32-6A1E-987D-AAC4D66BA205}"/>
              </a:ext>
            </a:extLst>
          </p:cNvPr>
          <p:cNvSpPr/>
          <p:nvPr/>
        </p:nvSpPr>
        <p:spPr>
          <a:xfrm>
            <a:off x="1991360" y="3135720"/>
            <a:ext cx="1300480"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Data Split (80/20)</a:t>
            </a:r>
          </a:p>
        </p:txBody>
      </p:sp>
      <p:sp>
        <p:nvSpPr>
          <p:cNvPr id="22" name="TextBox 21">
            <a:extLst>
              <a:ext uri="{FF2B5EF4-FFF2-40B4-BE49-F238E27FC236}">
                <a16:creationId xmlns:a16="http://schemas.microsoft.com/office/drawing/2014/main" id="{889523CD-88FE-4D40-403E-090BCCA63E90}"/>
              </a:ext>
            </a:extLst>
          </p:cNvPr>
          <p:cNvSpPr txBox="1"/>
          <p:nvPr/>
        </p:nvSpPr>
        <p:spPr>
          <a:xfrm>
            <a:off x="3166427" y="2869281"/>
            <a:ext cx="2811146" cy="307777"/>
          </a:xfrm>
          <a:prstGeom prst="rect">
            <a:avLst/>
          </a:prstGeom>
          <a:noFill/>
        </p:spPr>
        <p:txBody>
          <a:bodyPr wrap="square" rtlCol="0">
            <a:spAutoFit/>
          </a:bodyPr>
          <a:lstStyle/>
          <a:p>
            <a:pPr algn="ctr"/>
            <a:r>
              <a:rPr lang="en-IN" sz="1400" b="1" dirty="0"/>
              <a:t>PHASE 2: MODEL TRAINING</a:t>
            </a:r>
          </a:p>
        </p:txBody>
      </p:sp>
      <p:sp>
        <p:nvSpPr>
          <p:cNvPr id="23" name="Rectangle: Rounded Corners 22">
            <a:extLst>
              <a:ext uri="{FF2B5EF4-FFF2-40B4-BE49-F238E27FC236}">
                <a16:creationId xmlns:a16="http://schemas.microsoft.com/office/drawing/2014/main" id="{186F61A8-DA01-9EA8-53C8-26097AF1EE1A}"/>
              </a:ext>
            </a:extLst>
          </p:cNvPr>
          <p:cNvSpPr/>
          <p:nvPr/>
        </p:nvSpPr>
        <p:spPr>
          <a:xfrm>
            <a:off x="3717766" y="3147097"/>
            <a:ext cx="1854200" cy="502089"/>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Model Selection &amp; Training</a:t>
            </a:r>
          </a:p>
        </p:txBody>
      </p:sp>
      <p:sp>
        <p:nvSpPr>
          <p:cNvPr id="24" name="Rectangle: Rounded Corners 23">
            <a:extLst>
              <a:ext uri="{FF2B5EF4-FFF2-40B4-BE49-F238E27FC236}">
                <a16:creationId xmlns:a16="http://schemas.microsoft.com/office/drawing/2014/main" id="{A5478775-2C64-DA82-8EC8-B1025A4F0961}"/>
              </a:ext>
            </a:extLst>
          </p:cNvPr>
          <p:cNvSpPr/>
          <p:nvPr/>
        </p:nvSpPr>
        <p:spPr>
          <a:xfrm>
            <a:off x="6029960" y="3135720"/>
            <a:ext cx="1488440" cy="502089"/>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Model Evaluation</a:t>
            </a:r>
          </a:p>
        </p:txBody>
      </p:sp>
      <p:sp>
        <p:nvSpPr>
          <p:cNvPr id="25" name="Rectangle 24">
            <a:extLst>
              <a:ext uri="{FF2B5EF4-FFF2-40B4-BE49-F238E27FC236}">
                <a16:creationId xmlns:a16="http://schemas.microsoft.com/office/drawing/2014/main" id="{D44FC7E8-34F0-695B-3175-3CF7262A655A}"/>
              </a:ext>
            </a:extLst>
          </p:cNvPr>
          <p:cNvSpPr/>
          <p:nvPr/>
        </p:nvSpPr>
        <p:spPr>
          <a:xfrm>
            <a:off x="3291840" y="3915625"/>
            <a:ext cx="5674360" cy="929175"/>
          </a:xfrm>
          <a:prstGeom prst="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26" name="TextBox 25">
            <a:extLst>
              <a:ext uri="{FF2B5EF4-FFF2-40B4-BE49-F238E27FC236}">
                <a16:creationId xmlns:a16="http://schemas.microsoft.com/office/drawing/2014/main" id="{62C5D5E6-948C-DBA6-85A9-159C7F2B4903}"/>
              </a:ext>
            </a:extLst>
          </p:cNvPr>
          <p:cNvSpPr txBox="1"/>
          <p:nvPr/>
        </p:nvSpPr>
        <p:spPr>
          <a:xfrm>
            <a:off x="4522470" y="3933909"/>
            <a:ext cx="3139440" cy="307777"/>
          </a:xfrm>
          <a:prstGeom prst="rect">
            <a:avLst/>
          </a:prstGeom>
          <a:noFill/>
        </p:spPr>
        <p:txBody>
          <a:bodyPr wrap="square" rtlCol="0">
            <a:spAutoFit/>
          </a:bodyPr>
          <a:lstStyle/>
          <a:p>
            <a:pPr algn="ctr"/>
            <a:r>
              <a:rPr lang="en-IN" sz="1400" b="1" dirty="0"/>
              <a:t>PHASE 3: MODEL DEPLOYMENT</a:t>
            </a:r>
          </a:p>
        </p:txBody>
      </p:sp>
      <p:sp>
        <p:nvSpPr>
          <p:cNvPr id="27" name="Rectangle: Rounded Corners 26">
            <a:extLst>
              <a:ext uri="{FF2B5EF4-FFF2-40B4-BE49-F238E27FC236}">
                <a16:creationId xmlns:a16="http://schemas.microsoft.com/office/drawing/2014/main" id="{08C979A5-FB09-6620-9408-DAADFFD68653}"/>
              </a:ext>
            </a:extLst>
          </p:cNvPr>
          <p:cNvSpPr/>
          <p:nvPr/>
        </p:nvSpPr>
        <p:spPr>
          <a:xfrm>
            <a:off x="3331210" y="4259970"/>
            <a:ext cx="1544320"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Model Serialization(.</a:t>
            </a:r>
            <a:r>
              <a:rPr lang="en-IN" sz="1400" dirty="0" err="1">
                <a:solidFill>
                  <a:schemeClr val="tx1"/>
                </a:solidFill>
              </a:rPr>
              <a:t>pkl</a:t>
            </a:r>
            <a:r>
              <a:rPr lang="en-IN" sz="1400" dirty="0">
                <a:solidFill>
                  <a:schemeClr val="tx1"/>
                </a:solidFill>
              </a:rPr>
              <a:t>)</a:t>
            </a:r>
          </a:p>
        </p:txBody>
      </p:sp>
      <p:sp>
        <p:nvSpPr>
          <p:cNvPr id="28" name="Rectangle: Rounded Corners 27">
            <a:extLst>
              <a:ext uri="{FF2B5EF4-FFF2-40B4-BE49-F238E27FC236}">
                <a16:creationId xmlns:a16="http://schemas.microsoft.com/office/drawing/2014/main" id="{95015FBB-177D-10BB-1AA1-8B18ECF580B5}"/>
              </a:ext>
            </a:extLst>
          </p:cNvPr>
          <p:cNvSpPr/>
          <p:nvPr/>
        </p:nvSpPr>
        <p:spPr>
          <a:xfrm>
            <a:off x="5320030" y="4251342"/>
            <a:ext cx="1544320"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Integration with Flask API</a:t>
            </a:r>
          </a:p>
        </p:txBody>
      </p:sp>
      <p:sp>
        <p:nvSpPr>
          <p:cNvPr id="29" name="Rectangle: Rounded Corners 28">
            <a:extLst>
              <a:ext uri="{FF2B5EF4-FFF2-40B4-BE49-F238E27FC236}">
                <a16:creationId xmlns:a16="http://schemas.microsoft.com/office/drawing/2014/main" id="{E0A1801F-6F78-74BB-4CD2-8A9F820C5AE9}"/>
              </a:ext>
            </a:extLst>
          </p:cNvPr>
          <p:cNvSpPr/>
          <p:nvPr/>
        </p:nvSpPr>
        <p:spPr>
          <a:xfrm>
            <a:off x="7334250" y="4251342"/>
            <a:ext cx="1544320"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Performance Monitoring</a:t>
            </a:r>
          </a:p>
        </p:txBody>
      </p:sp>
      <p:sp>
        <p:nvSpPr>
          <p:cNvPr id="30" name="Rectangle 29">
            <a:extLst>
              <a:ext uri="{FF2B5EF4-FFF2-40B4-BE49-F238E27FC236}">
                <a16:creationId xmlns:a16="http://schemas.microsoft.com/office/drawing/2014/main" id="{E35A6721-DB8F-57D1-CD3E-0B843A686353}"/>
              </a:ext>
            </a:extLst>
          </p:cNvPr>
          <p:cNvSpPr/>
          <p:nvPr/>
        </p:nvSpPr>
        <p:spPr>
          <a:xfrm>
            <a:off x="6663690" y="5051164"/>
            <a:ext cx="4299780" cy="929175"/>
          </a:xfrm>
          <a:prstGeom prst="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31" name="Rectangle: Rounded Corners 30">
            <a:extLst>
              <a:ext uri="{FF2B5EF4-FFF2-40B4-BE49-F238E27FC236}">
                <a16:creationId xmlns:a16="http://schemas.microsoft.com/office/drawing/2014/main" id="{15200182-5E27-19E6-15DE-16052033586E}"/>
              </a:ext>
            </a:extLst>
          </p:cNvPr>
          <p:cNvSpPr/>
          <p:nvPr/>
        </p:nvSpPr>
        <p:spPr>
          <a:xfrm>
            <a:off x="6746240" y="5391690"/>
            <a:ext cx="1138127"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Log Monitoring</a:t>
            </a:r>
          </a:p>
        </p:txBody>
      </p:sp>
      <p:sp>
        <p:nvSpPr>
          <p:cNvPr id="32" name="Rectangle: Rounded Corners 31">
            <a:extLst>
              <a:ext uri="{FF2B5EF4-FFF2-40B4-BE49-F238E27FC236}">
                <a16:creationId xmlns:a16="http://schemas.microsoft.com/office/drawing/2014/main" id="{00551A84-162D-1F27-8277-32818119B671}"/>
              </a:ext>
            </a:extLst>
          </p:cNvPr>
          <p:cNvSpPr/>
          <p:nvPr/>
        </p:nvSpPr>
        <p:spPr>
          <a:xfrm>
            <a:off x="8144082" y="5376886"/>
            <a:ext cx="979598"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Threat Analysis </a:t>
            </a:r>
          </a:p>
        </p:txBody>
      </p:sp>
      <p:sp>
        <p:nvSpPr>
          <p:cNvPr id="33" name="TextBox 32">
            <a:extLst>
              <a:ext uri="{FF2B5EF4-FFF2-40B4-BE49-F238E27FC236}">
                <a16:creationId xmlns:a16="http://schemas.microsoft.com/office/drawing/2014/main" id="{EB38A1D1-F933-F935-88EA-13D72735E886}"/>
              </a:ext>
            </a:extLst>
          </p:cNvPr>
          <p:cNvSpPr txBox="1"/>
          <p:nvPr/>
        </p:nvSpPr>
        <p:spPr>
          <a:xfrm>
            <a:off x="6428740" y="5051282"/>
            <a:ext cx="3954780" cy="307777"/>
          </a:xfrm>
          <a:prstGeom prst="rect">
            <a:avLst/>
          </a:prstGeom>
          <a:noFill/>
        </p:spPr>
        <p:txBody>
          <a:bodyPr wrap="square" rtlCol="0">
            <a:spAutoFit/>
          </a:bodyPr>
          <a:lstStyle/>
          <a:p>
            <a:pPr algn="ctr"/>
            <a:r>
              <a:rPr lang="en-IN" sz="1400" b="1" dirty="0"/>
              <a:t>PHASE 4: SYSTEM OPTIMIZATION</a:t>
            </a:r>
          </a:p>
        </p:txBody>
      </p:sp>
      <p:cxnSp>
        <p:nvCxnSpPr>
          <p:cNvPr id="41" name="Connector: Elbow 40">
            <a:extLst>
              <a:ext uri="{FF2B5EF4-FFF2-40B4-BE49-F238E27FC236}">
                <a16:creationId xmlns:a16="http://schemas.microsoft.com/office/drawing/2014/main" id="{CE0F97EE-4D63-FD2B-BAC7-339AD3B0C790}"/>
              </a:ext>
            </a:extLst>
          </p:cNvPr>
          <p:cNvCxnSpPr>
            <a:cxnSpLocks/>
            <a:stCxn id="13" idx="3"/>
          </p:cNvCxnSpPr>
          <p:nvPr/>
        </p:nvCxnSpPr>
        <p:spPr>
          <a:xfrm>
            <a:off x="5415280" y="2115401"/>
            <a:ext cx="614680" cy="70041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Elbow 42">
            <a:extLst>
              <a:ext uri="{FF2B5EF4-FFF2-40B4-BE49-F238E27FC236}">
                <a16:creationId xmlns:a16="http://schemas.microsoft.com/office/drawing/2014/main" id="{2C10ACD1-2129-D257-2483-BE3456D53F58}"/>
              </a:ext>
            </a:extLst>
          </p:cNvPr>
          <p:cNvCxnSpPr>
            <a:cxnSpLocks/>
          </p:cNvCxnSpPr>
          <p:nvPr/>
        </p:nvCxnSpPr>
        <p:spPr>
          <a:xfrm>
            <a:off x="7564120" y="3200483"/>
            <a:ext cx="614680" cy="70041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BCEA6063-4341-18EF-69ED-6E246A14F372}"/>
              </a:ext>
            </a:extLst>
          </p:cNvPr>
          <p:cNvCxnSpPr>
            <a:cxnSpLocks/>
          </p:cNvCxnSpPr>
          <p:nvPr/>
        </p:nvCxnSpPr>
        <p:spPr>
          <a:xfrm>
            <a:off x="8981440" y="4350695"/>
            <a:ext cx="614680" cy="700410"/>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06C7F0B4-53FC-D943-E4A9-762805C96896}"/>
              </a:ext>
            </a:extLst>
          </p:cNvPr>
          <p:cNvCxnSpPr>
            <a:cxnSpLocks/>
            <a:endCxn id="15" idx="1"/>
          </p:cNvCxnSpPr>
          <p:nvPr/>
        </p:nvCxnSpPr>
        <p:spPr>
          <a:xfrm>
            <a:off x="2024380" y="2265515"/>
            <a:ext cx="29210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C3FD3D4-7457-4210-0949-D89CCE9D128A}"/>
              </a:ext>
            </a:extLst>
          </p:cNvPr>
          <p:cNvCxnSpPr>
            <a:cxnSpLocks/>
          </p:cNvCxnSpPr>
          <p:nvPr/>
        </p:nvCxnSpPr>
        <p:spPr>
          <a:xfrm>
            <a:off x="3655060" y="2265515"/>
            <a:ext cx="29210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D982F34-7040-A1A5-B0B6-42262270A92F}"/>
              </a:ext>
            </a:extLst>
          </p:cNvPr>
          <p:cNvCxnSpPr>
            <a:cxnSpLocks/>
          </p:cNvCxnSpPr>
          <p:nvPr/>
        </p:nvCxnSpPr>
        <p:spPr>
          <a:xfrm>
            <a:off x="3266678" y="3398141"/>
            <a:ext cx="503396"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04BD9178-95DD-FB64-4D4F-A3CA1A20C949}"/>
              </a:ext>
            </a:extLst>
          </p:cNvPr>
          <p:cNvCxnSpPr>
            <a:cxnSpLocks/>
            <a:endCxn id="24" idx="1"/>
          </p:cNvCxnSpPr>
          <p:nvPr/>
        </p:nvCxnSpPr>
        <p:spPr>
          <a:xfrm flipV="1">
            <a:off x="5576570" y="3386765"/>
            <a:ext cx="453390" cy="113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74D665BE-C7D0-EDB5-0B53-E6F2CDFD9DE0}"/>
              </a:ext>
            </a:extLst>
          </p:cNvPr>
          <p:cNvCxnSpPr>
            <a:cxnSpLocks/>
          </p:cNvCxnSpPr>
          <p:nvPr/>
        </p:nvCxnSpPr>
        <p:spPr>
          <a:xfrm>
            <a:off x="4875530" y="4516703"/>
            <a:ext cx="44450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9EC443FF-6260-C9EF-A43C-663DEF217FDD}"/>
              </a:ext>
            </a:extLst>
          </p:cNvPr>
          <p:cNvCxnSpPr>
            <a:cxnSpLocks/>
            <a:endCxn id="29" idx="1"/>
          </p:cNvCxnSpPr>
          <p:nvPr/>
        </p:nvCxnSpPr>
        <p:spPr>
          <a:xfrm>
            <a:off x="6903720" y="4508075"/>
            <a:ext cx="43053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9E765DFA-68AD-593F-99F7-ED2A49775118}"/>
              </a:ext>
            </a:extLst>
          </p:cNvPr>
          <p:cNvCxnSpPr>
            <a:cxnSpLocks/>
          </p:cNvCxnSpPr>
          <p:nvPr/>
        </p:nvCxnSpPr>
        <p:spPr>
          <a:xfrm>
            <a:off x="7884367" y="5648423"/>
            <a:ext cx="29443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52EC20F4-182E-4805-574B-C64BF5353A6D}"/>
              </a:ext>
            </a:extLst>
          </p:cNvPr>
          <p:cNvCxnSpPr>
            <a:cxnSpLocks/>
          </p:cNvCxnSpPr>
          <p:nvPr/>
        </p:nvCxnSpPr>
        <p:spPr>
          <a:xfrm>
            <a:off x="9123680" y="5648423"/>
            <a:ext cx="29443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F69CDA1D-341A-18B1-5952-AE37AD06CD46}"/>
              </a:ext>
            </a:extLst>
          </p:cNvPr>
          <p:cNvSpPr/>
          <p:nvPr/>
        </p:nvSpPr>
        <p:spPr>
          <a:xfrm>
            <a:off x="9429586" y="5359059"/>
            <a:ext cx="1458570" cy="513466"/>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Performance Review</a:t>
            </a:r>
          </a:p>
        </p:txBody>
      </p:sp>
    </p:spTree>
    <p:extLst>
      <p:ext uri="{BB962C8B-B14F-4D97-AF65-F5344CB8AC3E}">
        <p14:creationId xmlns:p14="http://schemas.microsoft.com/office/powerpoint/2010/main" val="15165262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DD994-1CA4-5E69-0261-B9E548E46C3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0C5FF49-9E74-E10A-6823-8850FE044ABD}"/>
              </a:ext>
            </a:extLst>
          </p:cNvPr>
          <p:cNvSpPr>
            <a:spLocks noGrp="1"/>
          </p:cNvSpPr>
          <p:nvPr>
            <p:ph type="subTitle" idx="1"/>
          </p:nvPr>
        </p:nvSpPr>
        <p:spPr>
          <a:xfrm>
            <a:off x="365232" y="4665569"/>
            <a:ext cx="3271002" cy="1380667"/>
          </a:xfrm>
        </p:spPr>
        <p:txBody>
          <a:bodyPr>
            <a:normAutofit fontScale="92500" lnSpcReduction="20000"/>
          </a:bodyPr>
          <a:lstStyle/>
          <a:p>
            <a:pPr algn="l">
              <a:defRPr sz="2400">
                <a:solidFill>
                  <a:srgbClr val="000000"/>
                </a:solidFill>
              </a:defRPr>
            </a:pPr>
            <a:r>
              <a:rPr lang="en-US" sz="2400" b="1" dirty="0"/>
              <a:t>Presented By:</a:t>
            </a:r>
          </a:p>
          <a:p>
            <a:pPr algn="l">
              <a:defRPr sz="2400">
                <a:solidFill>
                  <a:srgbClr val="000000"/>
                </a:solidFill>
              </a:defRPr>
            </a:pPr>
            <a:r>
              <a:rPr lang="en-US" sz="2400" b="1" dirty="0"/>
              <a:t>Madhura Naik</a:t>
            </a:r>
          </a:p>
          <a:p>
            <a:pPr algn="l">
              <a:defRPr sz="2400">
                <a:solidFill>
                  <a:srgbClr val="000000"/>
                </a:solidFill>
              </a:defRPr>
            </a:pPr>
            <a:r>
              <a:rPr lang="en-US" sz="2400" dirty="0"/>
              <a:t>PES1PG24CA260</a:t>
            </a:r>
          </a:p>
          <a:p>
            <a:pPr algn="l">
              <a:defRPr sz="2400">
                <a:solidFill>
                  <a:srgbClr val="000000"/>
                </a:solidFill>
              </a:defRPr>
            </a:pPr>
            <a:r>
              <a:rPr lang="en-US" sz="2400" dirty="0"/>
              <a:t>Section D</a:t>
            </a:r>
          </a:p>
        </p:txBody>
      </p:sp>
      <p:pic>
        <p:nvPicPr>
          <p:cNvPr id="1028" name="Picture 4" descr="PES University Know All about the Indian UGC-Approved University">
            <a:extLst>
              <a:ext uri="{FF2B5EF4-FFF2-40B4-BE49-F238E27FC236}">
                <a16:creationId xmlns:a16="http://schemas.microsoft.com/office/drawing/2014/main" id="{7B17F4DC-83FE-8D39-991C-67091BDA9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A19ED09-E03C-2636-388E-747F8695BE79}"/>
              </a:ext>
            </a:extLst>
          </p:cNvPr>
          <p:cNvSpPr txBox="1"/>
          <p:nvPr/>
        </p:nvSpPr>
        <p:spPr>
          <a:xfrm>
            <a:off x="8691647" y="4665570"/>
            <a:ext cx="3271002" cy="830997"/>
          </a:xfrm>
          <a:prstGeom prst="rect">
            <a:avLst/>
          </a:prstGeom>
          <a:noFill/>
        </p:spPr>
        <p:txBody>
          <a:bodyPr wrap="square">
            <a:spAutoFit/>
          </a:bodyPr>
          <a:lstStyle/>
          <a:p>
            <a:pPr algn="r">
              <a:defRPr sz="2400">
                <a:solidFill>
                  <a:srgbClr val="000000"/>
                </a:solidFill>
              </a:defRPr>
            </a:pPr>
            <a:r>
              <a:rPr lang="en-US" b="1" dirty="0"/>
              <a:t>Under the Guidance of:</a:t>
            </a:r>
          </a:p>
          <a:p>
            <a:pPr algn="ctr">
              <a:defRPr sz="2400">
                <a:solidFill>
                  <a:srgbClr val="000000"/>
                </a:solidFill>
              </a:defRPr>
            </a:pPr>
            <a:r>
              <a:rPr lang="en-US" dirty="0"/>
              <a:t>Prof. Archana A</a:t>
            </a:r>
          </a:p>
        </p:txBody>
      </p:sp>
      <p:sp>
        <p:nvSpPr>
          <p:cNvPr id="7" name="Rectangle 2">
            <a:extLst>
              <a:ext uri="{FF2B5EF4-FFF2-40B4-BE49-F238E27FC236}">
                <a16:creationId xmlns:a16="http://schemas.microsoft.com/office/drawing/2014/main" id="{0657CFDB-A412-DE78-59C8-775FDEB575C4}"/>
              </a:ext>
            </a:extLst>
          </p:cNvPr>
          <p:cNvSpPr>
            <a:spLocks noGrp="1" noChangeArrowheads="1"/>
          </p:cNvSpPr>
          <p:nvPr>
            <p:ph type="ctrTitle"/>
          </p:nvPr>
        </p:nvSpPr>
        <p:spPr bwMode="auto">
          <a:xfrm>
            <a:off x="673278" y="2322220"/>
            <a:ext cx="10492027"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Aft>
                <a:spcPct val="0"/>
              </a:spcAft>
            </a:pPr>
            <a:r>
              <a:rPr lang="en-IN" sz="2800" b="1" dirty="0"/>
              <a:t>Implementation and Model Testing</a:t>
            </a:r>
            <a:br>
              <a:rPr lang="en-IN" sz="4800" b="1" dirty="0"/>
            </a:br>
            <a:r>
              <a:rPr lang="en-IN" sz="4800" b="1" dirty="0"/>
              <a:t>PhishShield ML</a:t>
            </a:r>
            <a:br>
              <a:rPr lang="en-IN" sz="4800" b="1" dirty="0"/>
            </a:br>
            <a:endParaRPr kumimoji="0" lang="en-US" altLang="en-US" sz="2400" b="1" i="1" u="none" strike="noStrike" cap="none" normalizeH="0" baseline="0" dirty="0">
              <a:ln>
                <a:noFill/>
              </a:ln>
              <a:solidFill>
                <a:schemeClr val="tx1"/>
              </a:solidFill>
              <a:effectLst/>
            </a:endParaRPr>
          </a:p>
        </p:txBody>
      </p:sp>
      <p:sp>
        <p:nvSpPr>
          <p:cNvPr id="2" name="TextBox 1">
            <a:extLst>
              <a:ext uri="{FF2B5EF4-FFF2-40B4-BE49-F238E27FC236}">
                <a16:creationId xmlns:a16="http://schemas.microsoft.com/office/drawing/2014/main" id="{1BAFA51B-B4D7-B52F-3170-FAEAA6F77E7B}"/>
              </a:ext>
            </a:extLst>
          </p:cNvPr>
          <p:cNvSpPr txBox="1"/>
          <p:nvPr/>
        </p:nvSpPr>
        <p:spPr>
          <a:xfrm>
            <a:off x="3676741" y="1280953"/>
            <a:ext cx="4758131" cy="584775"/>
          </a:xfrm>
          <a:prstGeom prst="rect">
            <a:avLst/>
          </a:prstGeom>
          <a:noFill/>
        </p:spPr>
        <p:txBody>
          <a:bodyPr wrap="square" rtlCol="0">
            <a:spAutoFit/>
          </a:bodyPr>
          <a:lstStyle/>
          <a:p>
            <a:pPr algn="ctr"/>
            <a:r>
              <a:rPr lang="en-IN" sz="3200" u="sng" dirty="0"/>
              <a:t>Capstone Project Phase - 3</a:t>
            </a:r>
          </a:p>
        </p:txBody>
      </p:sp>
    </p:spTree>
    <p:extLst>
      <p:ext uri="{BB962C8B-B14F-4D97-AF65-F5344CB8AC3E}">
        <p14:creationId xmlns:p14="http://schemas.microsoft.com/office/powerpoint/2010/main" val="2926131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2E05B-B7F2-2B47-9507-106345C2474E}"/>
              </a:ext>
            </a:extLst>
          </p:cNvPr>
          <p:cNvSpPr>
            <a:spLocks noGrp="1"/>
          </p:cNvSpPr>
          <p:nvPr>
            <p:ph type="title"/>
          </p:nvPr>
        </p:nvSpPr>
        <p:spPr/>
        <p:txBody>
          <a:bodyPr>
            <a:normAutofit/>
          </a:bodyPr>
          <a:lstStyle/>
          <a:p>
            <a:pPr algn="l"/>
            <a:r>
              <a:rPr lang="en-IN" sz="3600" b="1" dirty="0"/>
              <a:t>Implementation Status</a:t>
            </a:r>
            <a:br>
              <a:rPr lang="en-IN" sz="3600" b="1" dirty="0"/>
            </a:br>
            <a:r>
              <a:rPr lang="en-IN" sz="1900" i="1" dirty="0"/>
              <a:t>Completed (80% )</a:t>
            </a:r>
            <a:endParaRPr lang="en-IN" sz="1900" b="1" i="1" dirty="0"/>
          </a:p>
        </p:txBody>
      </p:sp>
      <p:pic>
        <p:nvPicPr>
          <p:cNvPr id="4" name="Picture 3" descr="PES University Know All about the Indian UGC-Approved University">
            <a:extLst>
              <a:ext uri="{FF2B5EF4-FFF2-40B4-BE49-F238E27FC236}">
                <a16:creationId xmlns:a16="http://schemas.microsoft.com/office/drawing/2014/main" id="{FF0C2E29-706B-25F4-F2D3-67E185CF3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A7B977B8-DA3D-841B-1197-6810E0E46DFD}"/>
              </a:ext>
            </a:extLst>
          </p:cNvPr>
          <p:cNvGraphicFramePr>
            <a:graphicFrameLocks noGrp="1"/>
          </p:cNvGraphicFramePr>
          <p:nvPr>
            <p:extLst>
              <p:ext uri="{D42A27DB-BD31-4B8C-83A1-F6EECF244321}">
                <p14:modId xmlns:p14="http://schemas.microsoft.com/office/powerpoint/2010/main" val="1296126543"/>
              </p:ext>
            </p:extLst>
          </p:nvPr>
        </p:nvGraphicFramePr>
        <p:xfrm>
          <a:off x="740174" y="2117712"/>
          <a:ext cx="10410306" cy="4206240"/>
        </p:xfrm>
        <a:graphic>
          <a:graphicData uri="http://schemas.openxmlformats.org/drawingml/2006/table">
            <a:tbl>
              <a:tblPr firstRow="1" bandRow="1">
                <a:tableStyleId>{F5AB1C69-6EDB-4FF4-983F-18BD219EF322}</a:tableStyleId>
              </a:tblPr>
              <a:tblGrid>
                <a:gridCol w="5205153">
                  <a:extLst>
                    <a:ext uri="{9D8B030D-6E8A-4147-A177-3AD203B41FA5}">
                      <a16:colId xmlns:a16="http://schemas.microsoft.com/office/drawing/2014/main" val="3837370713"/>
                    </a:ext>
                  </a:extLst>
                </a:gridCol>
                <a:gridCol w="5205153">
                  <a:extLst>
                    <a:ext uri="{9D8B030D-6E8A-4147-A177-3AD203B41FA5}">
                      <a16:colId xmlns:a16="http://schemas.microsoft.com/office/drawing/2014/main" val="1055840731"/>
                    </a:ext>
                  </a:extLst>
                </a:gridCol>
              </a:tblGrid>
              <a:tr h="3923810">
                <a:tc>
                  <a:txBody>
                    <a:bodyPr/>
                    <a:lstStyle/>
                    <a:p>
                      <a:pPr marL="0" indent="0">
                        <a:buNone/>
                      </a:pPr>
                      <a:r>
                        <a:rPr lang="en-IN" sz="1800" b="0" dirty="0">
                          <a:solidFill>
                            <a:schemeClr val="tx1"/>
                          </a:solidFill>
                        </a:rPr>
                        <a:t>FUNCTION featureExtraction(url):</a:t>
                      </a:r>
                    </a:p>
                    <a:p>
                      <a:pPr marL="0" indent="0">
                        <a:buNone/>
                      </a:pPr>
                      <a:r>
                        <a:rPr lang="en-IN" sz="1800" b="0" dirty="0">
                          <a:solidFill>
                            <a:schemeClr val="tx1"/>
                          </a:solidFill>
                        </a:rPr>
                        <a:t>    Initialize feature_list = []</a:t>
                      </a:r>
                    </a:p>
                    <a:p>
                      <a:pPr marL="0" indent="0">
                        <a:buNone/>
                      </a:pPr>
                      <a:r>
                        <a:rPr lang="en-IN" sz="1800" b="0" dirty="0">
                          <a:solidFill>
                            <a:schemeClr val="tx1"/>
                          </a:solidFill>
                        </a:rPr>
                        <a:t>    </a:t>
                      </a:r>
                      <a:r>
                        <a:rPr lang="en-IN" sz="1800" b="1" dirty="0">
                          <a:solidFill>
                            <a:schemeClr val="tx1"/>
                          </a:solidFill>
                        </a:rPr>
                        <a:t>// Address Bar Features</a:t>
                      </a:r>
                    </a:p>
                    <a:p>
                      <a:pPr marL="0" indent="0">
                        <a:buNone/>
                      </a:pPr>
                      <a:r>
                        <a:rPr lang="en-IN" sz="1800" b="0" dirty="0">
                          <a:solidFill>
                            <a:schemeClr val="tx1"/>
                          </a:solidFill>
                        </a:rPr>
                        <a:t>    Check if URL contains IP address → add 0/1</a:t>
                      </a:r>
                    </a:p>
                    <a:p>
                      <a:pPr marL="0" indent="0">
                        <a:buNone/>
                      </a:pPr>
                      <a:r>
                        <a:rPr lang="en-IN" sz="1800" b="0" dirty="0">
                          <a:solidFill>
                            <a:schemeClr val="tx1"/>
                          </a:solidFill>
                        </a:rPr>
                        <a:t>    Check for '@' symbol → add 0/1</a:t>
                      </a:r>
                    </a:p>
                    <a:p>
                      <a:pPr marL="0" indent="0">
                        <a:buNone/>
                      </a:pPr>
                      <a:r>
                        <a:rPr lang="en-IN" sz="1800" b="0" dirty="0">
                          <a:solidFill>
                            <a:schemeClr val="tx1"/>
                          </a:solidFill>
                        </a:rPr>
                        <a:t>    Compute URL length → add 0/1</a:t>
                      </a:r>
                    </a:p>
                    <a:p>
                      <a:pPr marL="0" indent="0">
                        <a:buNone/>
                      </a:pPr>
                      <a:r>
                        <a:rPr lang="en-IN" sz="1800" b="0" dirty="0">
                          <a:solidFill>
                            <a:schemeClr val="tx1"/>
                          </a:solidFill>
                        </a:rPr>
                        <a:t>    Extract URL depth → add 0/1</a:t>
                      </a:r>
                    </a:p>
                    <a:p>
                      <a:pPr marL="0" indent="0">
                        <a:buNone/>
                      </a:pPr>
                      <a:r>
                        <a:rPr lang="en-IN" sz="1800" b="0" dirty="0">
                          <a:solidFill>
                            <a:schemeClr val="tx1"/>
                          </a:solidFill>
                        </a:rPr>
                        <a:t>    Detect multiple redirects → add 0/1</a:t>
                      </a:r>
                    </a:p>
                    <a:p>
                      <a:pPr marL="0" indent="0">
                        <a:buNone/>
                      </a:pPr>
                      <a:r>
                        <a:rPr lang="en-IN" sz="1800" b="0" dirty="0">
                          <a:solidFill>
                            <a:schemeClr val="tx1"/>
                          </a:solidFill>
                        </a:rPr>
                        <a:t>    Detect "https" inside domain → add 0/1</a:t>
                      </a:r>
                    </a:p>
                    <a:p>
                      <a:pPr marL="0" indent="0">
                        <a:buNone/>
                      </a:pPr>
                      <a:r>
                        <a:rPr lang="en-IN" sz="1800" b="0" dirty="0">
                          <a:solidFill>
                            <a:schemeClr val="tx1"/>
                          </a:solidFill>
                        </a:rPr>
                        <a:t>    Check if URL is shortened → add 0/1</a:t>
                      </a:r>
                    </a:p>
                    <a:p>
                      <a:pPr marL="0" indent="0">
                        <a:buNone/>
                      </a:pPr>
                      <a:r>
                        <a:rPr lang="en-IN" sz="1800" b="0" dirty="0">
                          <a:solidFill>
                            <a:schemeClr val="tx1"/>
                          </a:solidFill>
                        </a:rPr>
                        <a:t>    Check for prefix/suffix '-' in domain → add 0/1</a:t>
                      </a:r>
                    </a:p>
                    <a:p>
                      <a:endParaRPr lang="en-IN" sz="1800" b="0" dirty="0">
                        <a:solidFill>
                          <a:schemeClr val="tx1"/>
                        </a:solidFill>
                      </a:endParaRPr>
                    </a:p>
                  </a:txBody>
                  <a:tcPr>
                    <a:solidFill>
                      <a:schemeClr val="accent3">
                        <a:lumMod val="20000"/>
                        <a:lumOff val="80000"/>
                      </a:schemeClr>
                    </a:solidFill>
                  </a:tcPr>
                </a:tc>
                <a:tc>
                  <a:txBody>
                    <a:bodyPr/>
                    <a:lstStyle/>
                    <a:p>
                      <a:r>
                        <a:rPr lang="en-IN" sz="1800" b="1" dirty="0">
                          <a:solidFill>
                            <a:schemeClr val="tx1"/>
                          </a:solidFill>
                        </a:rPr>
                        <a:t>// Domain-based Features</a:t>
                      </a:r>
                    </a:p>
                    <a:p>
                      <a:r>
                        <a:rPr lang="en-IN" sz="1800" b="0" dirty="0">
                          <a:solidFill>
                            <a:schemeClr val="tx1"/>
                          </a:solidFill>
                        </a:rPr>
                        <a:t>    Resolve DNS records → add 0/1</a:t>
                      </a:r>
                    </a:p>
                    <a:p>
                      <a:r>
                        <a:rPr lang="en-IN" sz="1800" b="0" dirty="0">
                          <a:solidFill>
                            <a:schemeClr val="tx1"/>
                          </a:solidFill>
                        </a:rPr>
                        <a:t>    Estimate web traffic using Tranco ranking → add 0/1</a:t>
                      </a:r>
                    </a:p>
                    <a:p>
                      <a:r>
                        <a:rPr lang="en-IN" sz="1800" b="0" dirty="0">
                          <a:solidFill>
                            <a:schemeClr val="tx1"/>
                          </a:solidFill>
                        </a:rPr>
                        <a:t>    Calculate domain age from WHOIS → add 0/1</a:t>
                      </a:r>
                    </a:p>
                    <a:p>
                      <a:r>
                        <a:rPr lang="en-IN" sz="1800" b="0" dirty="0">
                          <a:solidFill>
                            <a:schemeClr val="tx1"/>
                          </a:solidFill>
                        </a:rPr>
                        <a:t>    Check domain expiration date → add 0/1</a:t>
                      </a:r>
                    </a:p>
                    <a:p>
                      <a:endParaRPr lang="en-IN" sz="1800" b="0" dirty="0">
                        <a:solidFill>
                          <a:schemeClr val="tx1"/>
                        </a:solidFill>
                      </a:endParaRPr>
                    </a:p>
                    <a:p>
                      <a:r>
                        <a:rPr lang="en-IN" sz="1800" b="0" dirty="0">
                          <a:solidFill>
                            <a:schemeClr val="tx1"/>
                          </a:solidFill>
                        </a:rPr>
                        <a:t>    </a:t>
                      </a:r>
                      <a:r>
                        <a:rPr lang="en-IN" sz="1800" b="1" dirty="0">
                          <a:solidFill>
                            <a:schemeClr val="tx1"/>
                          </a:solidFill>
                        </a:rPr>
                        <a:t>// HTML / JavaScript Features</a:t>
                      </a:r>
                    </a:p>
                    <a:p>
                      <a:r>
                        <a:rPr lang="en-IN" sz="1800" b="0" dirty="0">
                          <a:solidFill>
                            <a:schemeClr val="tx1"/>
                          </a:solidFill>
                        </a:rPr>
                        <a:t>    request webpage</a:t>
                      </a:r>
                    </a:p>
                    <a:p>
                      <a:r>
                        <a:rPr lang="en-IN" sz="1800" b="0" dirty="0">
                          <a:solidFill>
                            <a:schemeClr val="tx1"/>
                          </a:solidFill>
                        </a:rPr>
                        <a:t>        Detect hidden iframe(s) → add 0/1</a:t>
                      </a:r>
                    </a:p>
                    <a:p>
                      <a:r>
                        <a:rPr lang="en-IN" sz="1800" b="0" dirty="0">
                          <a:solidFill>
                            <a:schemeClr val="tx1"/>
                          </a:solidFill>
                        </a:rPr>
                        <a:t>        Detect mouse-over manipulation → add 0/1</a:t>
                      </a:r>
                    </a:p>
                    <a:p>
                      <a:r>
                        <a:rPr lang="en-IN" sz="1800" b="0" dirty="0">
                          <a:solidFill>
                            <a:schemeClr val="tx1"/>
                          </a:solidFill>
                        </a:rPr>
                        <a:t>        Detect right-click disable → add 0/1</a:t>
                      </a:r>
                    </a:p>
                    <a:p>
                      <a:r>
                        <a:rPr lang="en-IN" sz="1800" b="0" dirty="0">
                          <a:solidFill>
                            <a:schemeClr val="tx1"/>
                          </a:solidFill>
                        </a:rPr>
                        <a:t>        Count redirections → add 0/1</a:t>
                      </a:r>
                    </a:p>
                    <a:p>
                      <a:r>
                        <a:rPr lang="en-IN" sz="1800" b="0" dirty="0">
                          <a:solidFill>
                            <a:schemeClr val="tx1"/>
                          </a:solidFill>
                        </a:rPr>
                        <a:t>    </a:t>
                      </a:r>
                    </a:p>
                    <a:p>
                      <a:r>
                        <a:rPr lang="en-IN" sz="1800" b="0" dirty="0">
                          <a:solidFill>
                            <a:schemeClr val="tx1"/>
                          </a:solidFill>
                        </a:rPr>
                        <a:t>    RETURN feature_list (16 features)</a:t>
                      </a:r>
                    </a:p>
                  </a:txBody>
                  <a:tcPr>
                    <a:solidFill>
                      <a:schemeClr val="accent3">
                        <a:lumMod val="20000"/>
                        <a:lumOff val="80000"/>
                      </a:schemeClr>
                    </a:solidFill>
                  </a:tcPr>
                </a:tc>
                <a:extLst>
                  <a:ext uri="{0D108BD9-81ED-4DB2-BD59-A6C34878D82A}">
                    <a16:rowId xmlns:a16="http://schemas.microsoft.com/office/drawing/2014/main" val="1029854779"/>
                  </a:ext>
                </a:extLst>
              </a:tr>
            </a:tbl>
          </a:graphicData>
        </a:graphic>
      </p:graphicFrame>
      <p:sp>
        <p:nvSpPr>
          <p:cNvPr id="7" name="Content Placeholder 6">
            <a:extLst>
              <a:ext uri="{FF2B5EF4-FFF2-40B4-BE49-F238E27FC236}">
                <a16:creationId xmlns:a16="http://schemas.microsoft.com/office/drawing/2014/main" id="{C3433198-70E2-320F-1B63-FAF171A6B0F3}"/>
              </a:ext>
            </a:extLst>
          </p:cNvPr>
          <p:cNvSpPr>
            <a:spLocks noGrp="1"/>
          </p:cNvSpPr>
          <p:nvPr>
            <p:ph idx="1"/>
          </p:nvPr>
        </p:nvSpPr>
        <p:spPr>
          <a:xfrm>
            <a:off x="457200" y="1517516"/>
            <a:ext cx="10525328" cy="5065846"/>
          </a:xfrm>
        </p:spPr>
        <p:txBody>
          <a:bodyPr>
            <a:normAutofit/>
          </a:bodyPr>
          <a:lstStyle/>
          <a:p>
            <a:pPr marL="0" indent="0">
              <a:buNone/>
            </a:pPr>
            <a:r>
              <a:rPr lang="en-US" sz="2400" b="1" dirty="0"/>
              <a:t>1. Feature Extraction </a:t>
            </a:r>
            <a:endParaRPr lang="en-IN" sz="2400" b="1" dirty="0"/>
          </a:p>
        </p:txBody>
      </p:sp>
    </p:spTree>
    <p:extLst>
      <p:ext uri="{BB962C8B-B14F-4D97-AF65-F5344CB8AC3E}">
        <p14:creationId xmlns:p14="http://schemas.microsoft.com/office/powerpoint/2010/main" val="2602383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5CF722-0960-0CC6-E0C6-A4C01B0B7AA7}"/>
              </a:ext>
            </a:extLst>
          </p:cNvPr>
          <p:cNvSpPr>
            <a:spLocks noGrp="1"/>
          </p:cNvSpPr>
          <p:nvPr>
            <p:ph idx="1"/>
          </p:nvPr>
        </p:nvSpPr>
        <p:spPr>
          <a:xfrm>
            <a:off x="457200" y="914400"/>
            <a:ext cx="11010122" cy="5211763"/>
          </a:xfrm>
        </p:spPr>
        <p:txBody>
          <a:bodyPr>
            <a:normAutofit/>
          </a:bodyPr>
          <a:lstStyle/>
          <a:p>
            <a:pPr marL="0" indent="0">
              <a:buNone/>
            </a:pPr>
            <a:r>
              <a:rPr lang="en-US" sz="2400" b="1" dirty="0"/>
              <a:t>2. EDA and Preprocessing</a:t>
            </a:r>
          </a:p>
          <a:p>
            <a:r>
              <a:rPr lang="en-IN" sz="1800" dirty="0"/>
              <a:t>Loading the final dataset(Finaldataset.csv) and performing data inspection.</a:t>
            </a:r>
          </a:p>
          <a:p>
            <a:r>
              <a:rPr lang="en-IN" sz="1800" dirty="0"/>
              <a:t>Data Visualization:</a:t>
            </a:r>
          </a:p>
          <a:p>
            <a:endParaRPr lang="en-IN" sz="1800" dirty="0"/>
          </a:p>
          <a:p>
            <a:endParaRPr lang="en-IN" sz="1800" dirty="0"/>
          </a:p>
          <a:p>
            <a:endParaRPr lang="en-IN" sz="1800" dirty="0"/>
          </a:p>
          <a:p>
            <a:endParaRPr lang="en-IN" sz="1800" dirty="0"/>
          </a:p>
          <a:p>
            <a:pPr marL="0" indent="0">
              <a:buNone/>
            </a:pPr>
            <a:r>
              <a:rPr lang="en-IN" sz="1800" dirty="0"/>
              <a:t>	</a:t>
            </a:r>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r>
              <a:rPr lang="en-US" sz="1800" dirty="0"/>
              <a:t>Shuffling the data -&gt; data = df.sample().reset_index(drop=True)</a:t>
            </a:r>
          </a:p>
          <a:p>
            <a:r>
              <a:rPr lang="en-US" sz="1800" dirty="0"/>
              <a:t>Separate target and feature columns, split the dataset into train and test dataset.</a:t>
            </a:r>
          </a:p>
          <a:p>
            <a:pPr marL="0" indent="0">
              <a:buNone/>
            </a:pPr>
            <a:endParaRPr lang="en-US" sz="1800" dirty="0"/>
          </a:p>
          <a:p>
            <a:pPr marL="0" indent="0">
              <a:buNone/>
            </a:pPr>
            <a:endParaRPr lang="en-US" sz="1800" dirty="0"/>
          </a:p>
          <a:p>
            <a:endParaRPr lang="en-US" sz="1800" dirty="0"/>
          </a:p>
          <a:p>
            <a:pPr marL="0" indent="0">
              <a:buNone/>
            </a:pPr>
            <a:endParaRPr lang="en-IN" sz="1800" dirty="0"/>
          </a:p>
          <a:p>
            <a:pPr marL="0" indent="0">
              <a:buNone/>
            </a:pPr>
            <a:endParaRPr lang="en-US" sz="1800" dirty="0"/>
          </a:p>
          <a:p>
            <a:pPr marL="0" indent="0">
              <a:buNone/>
            </a:pPr>
            <a:endParaRPr lang="en-US" sz="1800" dirty="0"/>
          </a:p>
          <a:p>
            <a:pPr marL="0" indent="0">
              <a:buNone/>
            </a:pPr>
            <a:endParaRPr lang="en-IN" sz="1800" dirty="0"/>
          </a:p>
          <a:p>
            <a:pPr marL="0" indent="0">
              <a:buNone/>
            </a:pPr>
            <a:endParaRPr lang="en-US" sz="1800" dirty="0"/>
          </a:p>
          <a:p>
            <a:endParaRPr lang="en-IN" sz="1800" dirty="0"/>
          </a:p>
          <a:p>
            <a:endParaRPr lang="en-IN" sz="2400" b="1" dirty="0"/>
          </a:p>
        </p:txBody>
      </p:sp>
      <p:pic>
        <p:nvPicPr>
          <p:cNvPr id="4" name="Picture 3" descr="PES University Know All about the Indian UGC-Approved University">
            <a:extLst>
              <a:ext uri="{FF2B5EF4-FFF2-40B4-BE49-F238E27FC236}">
                <a16:creationId xmlns:a16="http://schemas.microsoft.com/office/drawing/2014/main" id="{87866C29-5DD0-EF2C-C527-A9E5D56CF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272BE7D-0DCD-94D9-24D3-5BFF7F98483F}"/>
              </a:ext>
            </a:extLst>
          </p:cNvPr>
          <p:cNvSpPr/>
          <p:nvPr/>
        </p:nvSpPr>
        <p:spPr>
          <a:xfrm>
            <a:off x="886408" y="2134684"/>
            <a:ext cx="7800392" cy="2745225"/>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IN" b="1" dirty="0">
                <a:solidFill>
                  <a:schemeClr val="tx1"/>
                </a:solidFill>
              </a:rPr>
              <a:t>1. Class Distribution Analysis</a:t>
            </a:r>
            <a:r>
              <a:rPr lang="en-IN" dirty="0">
                <a:solidFill>
                  <a:schemeClr val="tx1"/>
                </a:solidFill>
              </a:rPr>
              <a:t>(pie chart)</a:t>
            </a:r>
          </a:p>
          <a:p>
            <a:r>
              <a:rPr lang="en-US" dirty="0">
                <a:solidFill>
                  <a:schemeClr val="tx1"/>
                </a:solidFill>
              </a:rPr>
              <a:t>label_counts = df['label'].value_counts()</a:t>
            </a:r>
          </a:p>
          <a:p>
            <a:r>
              <a:rPr lang="en-US" b="1" dirty="0">
                <a:solidFill>
                  <a:schemeClr val="tx1"/>
                </a:solidFill>
              </a:rPr>
              <a:t>2. F</a:t>
            </a:r>
            <a:r>
              <a:rPr lang="en-IN" b="1" dirty="0">
                <a:solidFill>
                  <a:schemeClr val="tx1"/>
                </a:solidFill>
              </a:rPr>
              <a:t>eature-Wise Distribution Analysis </a:t>
            </a:r>
          </a:p>
          <a:p>
            <a:r>
              <a:rPr lang="en-US" dirty="0">
                <a:solidFill>
                  <a:schemeClr val="tx1"/>
                </a:solidFill>
              </a:rPr>
              <a:t>df.hist(figsize=(18, 14))</a:t>
            </a:r>
          </a:p>
          <a:p>
            <a:r>
              <a:rPr lang="en-US" b="1" dirty="0">
                <a:solidFill>
                  <a:schemeClr val="tx1"/>
                </a:solidFill>
              </a:rPr>
              <a:t>3. Correlation Analysis </a:t>
            </a:r>
          </a:p>
          <a:p>
            <a:r>
              <a:rPr lang="en-IN" dirty="0">
                <a:solidFill>
                  <a:schemeClr val="tx1"/>
                </a:solidFill>
              </a:rPr>
              <a:t>corr = df.corr()</a:t>
            </a:r>
          </a:p>
          <a:p>
            <a:r>
              <a:rPr lang="en-IN" b="1" dirty="0">
                <a:solidFill>
                  <a:schemeClr val="tx1"/>
                </a:solidFill>
              </a:rPr>
              <a:t>4. Outlier Detection(boxplot) </a:t>
            </a:r>
          </a:p>
          <a:p>
            <a:r>
              <a:rPr lang="en-US" dirty="0">
                <a:solidFill>
                  <a:schemeClr val="tx1"/>
                </a:solidFill>
              </a:rPr>
              <a:t>df[numeric_cols].boxplot(grid=False)</a:t>
            </a:r>
          </a:p>
          <a:p>
            <a:r>
              <a:rPr lang="en-US" b="1" dirty="0">
                <a:solidFill>
                  <a:schemeClr val="tx1"/>
                </a:solidFill>
              </a:rPr>
              <a:t>5. Statistical Fetaure Importance</a:t>
            </a:r>
          </a:p>
          <a:p>
            <a:r>
              <a:rPr lang="en-US" dirty="0">
                <a:solidFill>
                  <a:schemeClr val="tx1"/>
                </a:solidFill>
              </a:rPr>
              <a:t>Chi-Squared (</a:t>
            </a:r>
            <a:r>
              <a:rPr lang="el-GR" dirty="0">
                <a:solidFill>
                  <a:schemeClr val="tx1"/>
                </a:solidFill>
              </a:rPr>
              <a:t>χ²)</a:t>
            </a:r>
            <a:endParaRPr lang="en-US" dirty="0">
              <a:solidFill>
                <a:schemeClr val="tx1"/>
              </a:solidFill>
            </a:endParaRPr>
          </a:p>
        </p:txBody>
      </p:sp>
    </p:spTree>
    <p:extLst>
      <p:ext uri="{BB962C8B-B14F-4D97-AF65-F5344CB8AC3E}">
        <p14:creationId xmlns:p14="http://schemas.microsoft.com/office/powerpoint/2010/main" val="1699921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BD86B-A406-6697-AB87-A170AC9F56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B81E3D-475A-2B0E-C177-831B0D3F4FF0}"/>
              </a:ext>
            </a:extLst>
          </p:cNvPr>
          <p:cNvSpPr>
            <a:spLocks noGrp="1"/>
          </p:cNvSpPr>
          <p:nvPr>
            <p:ph idx="1"/>
          </p:nvPr>
        </p:nvSpPr>
        <p:spPr>
          <a:xfrm>
            <a:off x="457200" y="914400"/>
            <a:ext cx="11010122" cy="5211763"/>
          </a:xfrm>
        </p:spPr>
        <p:txBody>
          <a:bodyPr>
            <a:normAutofit/>
          </a:bodyPr>
          <a:lstStyle/>
          <a:p>
            <a:pPr marL="0" indent="0">
              <a:buNone/>
            </a:pPr>
            <a:r>
              <a:rPr lang="en-US" sz="2400" b="1" dirty="0"/>
              <a:t>3. </a:t>
            </a:r>
            <a:r>
              <a:rPr lang="en-IN" sz="2400" b="1" dirty="0"/>
              <a:t>Model Evaluation Workflow</a:t>
            </a:r>
          </a:p>
          <a:p>
            <a:pPr marL="0" indent="0">
              <a:buNone/>
            </a:pPr>
            <a:endParaRPr lang="en-US" sz="2400" b="1" dirty="0"/>
          </a:p>
          <a:p>
            <a:pPr marL="0" indent="0">
              <a:buNone/>
            </a:pPr>
            <a:endParaRPr lang="en-US" sz="1800" dirty="0"/>
          </a:p>
          <a:p>
            <a:pPr marL="0" indent="0">
              <a:buNone/>
            </a:pPr>
            <a:endParaRPr lang="en-US" sz="1800" dirty="0"/>
          </a:p>
          <a:p>
            <a:endParaRPr lang="en-US" sz="1800" dirty="0"/>
          </a:p>
          <a:p>
            <a:pPr marL="0" indent="0">
              <a:buNone/>
            </a:pPr>
            <a:endParaRPr lang="en-IN" sz="1800" dirty="0"/>
          </a:p>
          <a:p>
            <a:pPr marL="0" indent="0">
              <a:buNone/>
            </a:pPr>
            <a:endParaRPr lang="en-US" sz="1800" dirty="0"/>
          </a:p>
          <a:p>
            <a:pPr marL="0" indent="0">
              <a:buNone/>
            </a:pPr>
            <a:endParaRPr lang="en-US" sz="1800" dirty="0"/>
          </a:p>
          <a:p>
            <a:pPr marL="0" indent="0">
              <a:buNone/>
            </a:pPr>
            <a:endParaRPr lang="en-IN" sz="1800" dirty="0"/>
          </a:p>
          <a:p>
            <a:pPr marL="0" indent="0">
              <a:buNone/>
            </a:pPr>
            <a:endParaRPr lang="en-US" sz="1800" dirty="0"/>
          </a:p>
          <a:p>
            <a:endParaRPr lang="en-IN" sz="1800" dirty="0"/>
          </a:p>
          <a:p>
            <a:endParaRPr lang="en-IN" sz="2400" b="1" dirty="0"/>
          </a:p>
        </p:txBody>
      </p:sp>
      <p:pic>
        <p:nvPicPr>
          <p:cNvPr id="4" name="Picture 3" descr="PES University Know All about the Indian UGC-Approved University">
            <a:extLst>
              <a:ext uri="{FF2B5EF4-FFF2-40B4-BE49-F238E27FC236}">
                <a16:creationId xmlns:a16="http://schemas.microsoft.com/office/drawing/2014/main" id="{A2398360-5570-F147-E97F-D805BDE61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CC289B9-3883-B4A1-F3A8-35B701823C15}"/>
              </a:ext>
            </a:extLst>
          </p:cNvPr>
          <p:cNvSpPr/>
          <p:nvPr/>
        </p:nvSpPr>
        <p:spPr>
          <a:xfrm>
            <a:off x="914399" y="1446246"/>
            <a:ext cx="6895323" cy="4795934"/>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dirty="0">
                <a:solidFill>
                  <a:schemeClr val="tx1"/>
                </a:solidFill>
              </a:rPr>
              <a:t>FUNCTION </a:t>
            </a:r>
            <a:r>
              <a:rPr lang="en-US" b="1" dirty="0">
                <a:solidFill>
                  <a:schemeClr val="tx1"/>
                </a:solidFill>
              </a:rPr>
              <a:t>evaluate_model</a:t>
            </a:r>
            <a:r>
              <a:rPr lang="en-US" dirty="0">
                <a:solidFill>
                  <a:schemeClr val="tx1"/>
                </a:solidFill>
              </a:rPr>
              <a:t>(model, X_train, X_test, y_train, y_test):</a:t>
            </a:r>
          </a:p>
          <a:p>
            <a:endParaRPr lang="en-US" dirty="0">
              <a:solidFill>
                <a:schemeClr val="tx1"/>
              </a:solidFill>
            </a:endParaRPr>
          </a:p>
          <a:p>
            <a:r>
              <a:rPr lang="en-US" dirty="0">
                <a:solidFill>
                  <a:schemeClr val="tx1"/>
                </a:solidFill>
              </a:rPr>
              <a:t>    TRAIN model on (X_train, y_train)</a:t>
            </a:r>
          </a:p>
          <a:p>
            <a:r>
              <a:rPr lang="en-US" dirty="0">
                <a:solidFill>
                  <a:schemeClr val="tx1"/>
                </a:solidFill>
              </a:rPr>
              <a:t>    PREDICT y_train_pred = model.predict(X_train)</a:t>
            </a:r>
          </a:p>
          <a:p>
            <a:r>
              <a:rPr lang="en-US" dirty="0">
                <a:solidFill>
                  <a:schemeClr val="tx1"/>
                </a:solidFill>
              </a:rPr>
              <a:t>    PREDICT y_test_pred  = model.predict(X_test)</a:t>
            </a:r>
          </a:p>
          <a:p>
            <a:r>
              <a:rPr lang="en-US" dirty="0">
                <a:solidFill>
                  <a:schemeClr val="tx1"/>
                </a:solidFill>
              </a:rPr>
              <a:t>    IF model has predict_proba:</a:t>
            </a:r>
          </a:p>
          <a:p>
            <a:r>
              <a:rPr lang="en-US" dirty="0">
                <a:solidFill>
                  <a:schemeClr val="tx1"/>
                </a:solidFill>
              </a:rPr>
              <a:t>         y_prob = model.predict_proba(X_test)[1]</a:t>
            </a:r>
          </a:p>
          <a:p>
            <a:r>
              <a:rPr lang="en-US" dirty="0">
                <a:solidFill>
                  <a:schemeClr val="tx1"/>
                </a:solidFill>
              </a:rPr>
              <a:t>         roc = ROC_AUC(y_test, y_prob)</a:t>
            </a:r>
          </a:p>
          <a:p>
            <a:r>
              <a:rPr lang="en-US" dirty="0">
                <a:solidFill>
                  <a:schemeClr val="tx1"/>
                </a:solidFill>
              </a:rPr>
              <a:t>    ELSE:</a:t>
            </a:r>
          </a:p>
          <a:p>
            <a:r>
              <a:rPr lang="en-US" dirty="0">
                <a:solidFill>
                  <a:schemeClr val="tx1"/>
                </a:solidFill>
              </a:rPr>
              <a:t>         roc = None</a:t>
            </a:r>
          </a:p>
          <a:p>
            <a:r>
              <a:rPr lang="en-US" dirty="0">
                <a:solidFill>
                  <a:schemeClr val="tx1"/>
                </a:solidFill>
              </a:rPr>
              <a:t>    CALCULATE train_accuracy, test_accuracy</a:t>
            </a:r>
          </a:p>
          <a:p>
            <a:r>
              <a:rPr lang="en-US" dirty="0">
                <a:solidFill>
                  <a:schemeClr val="tx1"/>
                </a:solidFill>
              </a:rPr>
              <a:t>    DISPLAY classification_report, confusion_matrix, roc (if available)</a:t>
            </a:r>
          </a:p>
          <a:p>
            <a:endParaRPr lang="en-US" dirty="0">
              <a:solidFill>
                <a:schemeClr val="tx1"/>
              </a:solidFill>
            </a:endParaRPr>
          </a:p>
          <a:p>
            <a:r>
              <a:rPr lang="en-US" dirty="0">
                <a:solidFill>
                  <a:schemeClr val="tx1"/>
                </a:solidFill>
              </a:rPr>
              <a:t>    IF model has feature_importances:</a:t>
            </a:r>
          </a:p>
          <a:p>
            <a:r>
              <a:rPr lang="en-US" dirty="0">
                <a:solidFill>
                  <a:schemeClr val="tx1"/>
                </a:solidFill>
              </a:rPr>
              <a:t>         PLOT bar chart of importances</a:t>
            </a:r>
          </a:p>
          <a:p>
            <a:r>
              <a:rPr lang="en-US" dirty="0">
                <a:solidFill>
                  <a:schemeClr val="tx1"/>
                </a:solidFill>
              </a:rPr>
              <a:t>END FUNCTION</a:t>
            </a:r>
          </a:p>
        </p:txBody>
      </p:sp>
    </p:spTree>
    <p:extLst>
      <p:ext uri="{BB962C8B-B14F-4D97-AF65-F5344CB8AC3E}">
        <p14:creationId xmlns:p14="http://schemas.microsoft.com/office/powerpoint/2010/main" val="1726120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245FE-9D40-0AEF-A85B-7D062F533E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0C3EB-05B1-4B5F-DE2C-A8136D33FA93}"/>
              </a:ext>
            </a:extLst>
          </p:cNvPr>
          <p:cNvSpPr>
            <a:spLocks noGrp="1"/>
          </p:cNvSpPr>
          <p:nvPr>
            <p:ph idx="1"/>
          </p:nvPr>
        </p:nvSpPr>
        <p:spPr>
          <a:xfrm>
            <a:off x="457200" y="914400"/>
            <a:ext cx="11010122" cy="5211763"/>
          </a:xfrm>
        </p:spPr>
        <p:txBody>
          <a:bodyPr>
            <a:normAutofit/>
          </a:bodyPr>
          <a:lstStyle/>
          <a:p>
            <a:pPr marL="0" indent="0">
              <a:buNone/>
            </a:pPr>
            <a:r>
              <a:rPr lang="en-US" sz="2400" b="1" dirty="0"/>
              <a:t>4. </a:t>
            </a:r>
            <a:r>
              <a:rPr lang="en-IN" sz="2400" b="1" dirty="0"/>
              <a:t>Multi-Model Training &amp; Metrics Comparison</a:t>
            </a:r>
            <a:endParaRPr lang="en-US" sz="2400" b="1" dirty="0"/>
          </a:p>
          <a:p>
            <a:pPr marL="0" indent="0">
              <a:buNone/>
            </a:pPr>
            <a:endParaRPr lang="en-US" sz="1800" dirty="0"/>
          </a:p>
          <a:p>
            <a:pPr marL="0" indent="0">
              <a:buNone/>
            </a:pPr>
            <a:endParaRPr lang="en-US" sz="1800" dirty="0"/>
          </a:p>
          <a:p>
            <a:endParaRPr lang="en-US" sz="1800" dirty="0"/>
          </a:p>
          <a:p>
            <a:pPr marL="0" indent="0">
              <a:buNone/>
            </a:pPr>
            <a:endParaRPr lang="en-IN" sz="1800" dirty="0"/>
          </a:p>
          <a:p>
            <a:pPr marL="0" indent="0">
              <a:buNone/>
            </a:pPr>
            <a:endParaRPr lang="en-US" sz="1800" dirty="0"/>
          </a:p>
          <a:p>
            <a:pPr marL="0" indent="0">
              <a:buNone/>
            </a:pPr>
            <a:endParaRPr lang="en-US" sz="1800" dirty="0"/>
          </a:p>
          <a:p>
            <a:pPr marL="0" indent="0">
              <a:buNone/>
            </a:pPr>
            <a:endParaRPr lang="en-IN" sz="1800" dirty="0"/>
          </a:p>
          <a:p>
            <a:endParaRPr lang="en-IN" sz="2400" b="1" dirty="0"/>
          </a:p>
        </p:txBody>
      </p:sp>
      <p:pic>
        <p:nvPicPr>
          <p:cNvPr id="4" name="Picture 3" descr="PES University Know All about the Indian UGC-Approved University">
            <a:extLst>
              <a:ext uri="{FF2B5EF4-FFF2-40B4-BE49-F238E27FC236}">
                <a16:creationId xmlns:a16="http://schemas.microsoft.com/office/drawing/2014/main" id="{8255D1BA-32D8-F3D6-1741-D1C82D5A9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B6CB833-729F-7C41-06BE-F3729FBC4256}"/>
              </a:ext>
            </a:extLst>
          </p:cNvPr>
          <p:cNvSpPr/>
          <p:nvPr/>
        </p:nvSpPr>
        <p:spPr>
          <a:xfrm>
            <a:off x="914400" y="1446246"/>
            <a:ext cx="5047862" cy="4805264"/>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dirty="0">
                <a:solidFill>
                  <a:schemeClr val="tx1"/>
                </a:solidFill>
              </a:rPr>
              <a:t>INITIALIZE results_table</a:t>
            </a:r>
          </a:p>
          <a:p>
            <a:endParaRPr lang="en-US" dirty="0">
              <a:solidFill>
                <a:schemeClr val="tx1"/>
              </a:solidFill>
            </a:endParaRPr>
          </a:p>
          <a:p>
            <a:r>
              <a:rPr lang="en-US" b="1" dirty="0">
                <a:solidFill>
                  <a:schemeClr val="tx1"/>
                </a:solidFill>
              </a:rPr>
              <a:t>FOR each (name, model, use_scaled) in model_list</a:t>
            </a:r>
            <a:r>
              <a:rPr lang="en-US" dirty="0">
                <a:solidFill>
                  <a:schemeClr val="tx1"/>
                </a:solidFill>
              </a:rPr>
              <a:t>:</a:t>
            </a:r>
          </a:p>
          <a:p>
            <a:r>
              <a:rPr lang="en-US" dirty="0">
                <a:solidFill>
                  <a:schemeClr val="tx1"/>
                </a:solidFill>
              </a:rPr>
              <a:t>    SELECT X_train_set, X_test_set based on scaling flag</a:t>
            </a:r>
          </a:p>
          <a:p>
            <a:endParaRPr lang="en-US" dirty="0">
              <a:solidFill>
                <a:schemeClr val="tx1"/>
              </a:solidFill>
            </a:endParaRPr>
          </a:p>
          <a:p>
            <a:r>
              <a:rPr lang="en-US" dirty="0">
                <a:solidFill>
                  <a:schemeClr val="tx1"/>
                </a:solidFill>
              </a:rPr>
              <a:t>    TRAIN model on training data</a:t>
            </a:r>
          </a:p>
          <a:p>
            <a:endParaRPr lang="en-US" dirty="0">
              <a:solidFill>
                <a:schemeClr val="tx1"/>
              </a:solidFill>
            </a:endParaRPr>
          </a:p>
          <a:p>
            <a:r>
              <a:rPr lang="en-US" dirty="0">
                <a:solidFill>
                  <a:schemeClr val="tx1"/>
                </a:solidFill>
              </a:rPr>
              <a:t>    PREDICT y_pred on test data</a:t>
            </a:r>
          </a:p>
          <a:p>
            <a:endParaRPr lang="en-US" dirty="0">
              <a:solidFill>
                <a:schemeClr val="tx1"/>
              </a:solidFill>
            </a:endParaRPr>
          </a:p>
          <a:p>
            <a:r>
              <a:rPr lang="en-US" dirty="0">
                <a:solidFill>
                  <a:schemeClr val="tx1"/>
                </a:solidFill>
              </a:rPr>
              <a:t>    IF model has predict_proba:</a:t>
            </a:r>
          </a:p>
          <a:p>
            <a:r>
              <a:rPr lang="en-US" dirty="0">
                <a:solidFill>
                  <a:schemeClr val="tx1"/>
                </a:solidFill>
              </a:rPr>
              <a:t>         y_prob = model.predict_proba()[1]</a:t>
            </a:r>
          </a:p>
          <a:p>
            <a:r>
              <a:rPr lang="en-US" dirty="0">
                <a:solidFill>
                  <a:schemeClr val="tx1"/>
                </a:solidFill>
              </a:rPr>
              <a:t>         roc_auc = ROC_AUC(y_test, y_prob)</a:t>
            </a:r>
          </a:p>
          <a:p>
            <a:r>
              <a:rPr lang="en-US" dirty="0">
                <a:solidFill>
                  <a:schemeClr val="tx1"/>
                </a:solidFill>
              </a:rPr>
              <a:t>    ELSE:</a:t>
            </a:r>
          </a:p>
          <a:p>
            <a:r>
              <a:rPr lang="en-US" dirty="0">
                <a:solidFill>
                  <a:schemeClr val="tx1"/>
                </a:solidFill>
              </a:rPr>
              <a:t>         roc_auc = None</a:t>
            </a:r>
          </a:p>
          <a:p>
            <a:r>
              <a:rPr lang="en-US" dirty="0">
                <a:solidFill>
                  <a:schemeClr val="tx1"/>
                </a:solidFill>
              </a:rPr>
              <a:t>    COMPUTE accuracy, f1, precision, recall</a:t>
            </a:r>
          </a:p>
          <a:p>
            <a:endParaRPr lang="en-US" dirty="0">
              <a:solidFill>
                <a:schemeClr val="tx1"/>
              </a:solidFill>
            </a:endParaRPr>
          </a:p>
        </p:txBody>
      </p:sp>
      <p:sp>
        <p:nvSpPr>
          <p:cNvPr id="2" name="Rectangle 1">
            <a:extLst>
              <a:ext uri="{FF2B5EF4-FFF2-40B4-BE49-F238E27FC236}">
                <a16:creationId xmlns:a16="http://schemas.microsoft.com/office/drawing/2014/main" id="{E3D86B7F-C295-CE71-0540-7194F6EDCCF4}"/>
              </a:ext>
            </a:extLst>
          </p:cNvPr>
          <p:cNvSpPr/>
          <p:nvPr/>
        </p:nvSpPr>
        <p:spPr>
          <a:xfrm>
            <a:off x="6316825" y="1446245"/>
            <a:ext cx="5234474" cy="4742591"/>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endParaRPr lang="en-US" dirty="0">
              <a:solidFill>
                <a:schemeClr val="tx1"/>
              </a:solidFill>
            </a:endParaRPr>
          </a:p>
          <a:p>
            <a:r>
              <a:rPr lang="en-US" dirty="0">
                <a:solidFill>
                  <a:schemeClr val="tx1"/>
                </a:solidFill>
              </a:rPr>
              <a:t>    ADD [name, accuracy, f1, precision, recall, roc_auc] to results_table</a:t>
            </a:r>
          </a:p>
          <a:p>
            <a:r>
              <a:rPr lang="en-US" dirty="0">
                <a:solidFill>
                  <a:schemeClr val="tx1"/>
                </a:solidFill>
              </a:rPr>
              <a:t>DISPLAY results_table as dataframe (rounded)</a:t>
            </a:r>
          </a:p>
          <a:p>
            <a:endParaRPr lang="en-US" dirty="0">
              <a:solidFill>
                <a:schemeClr val="tx1"/>
              </a:solidFill>
            </a:endParaRPr>
          </a:p>
          <a:p>
            <a:r>
              <a:rPr lang="en-IN" b="1" dirty="0"/>
              <a:t>models</a:t>
            </a:r>
            <a:r>
              <a:rPr lang="en-IN" dirty="0"/>
              <a:t> = [</a:t>
            </a:r>
          </a:p>
          <a:p>
            <a:r>
              <a:rPr lang="en-IN" dirty="0"/>
              <a:t>    ("XGBoost", </a:t>
            </a:r>
            <a:r>
              <a:rPr lang="en-IN" dirty="0" err="1"/>
              <a:t>xgb</a:t>
            </a:r>
            <a:r>
              <a:rPr lang="en-IN" dirty="0"/>
              <a:t>, False),</a:t>
            </a:r>
          </a:p>
          <a:p>
            <a:r>
              <a:rPr lang="en-IN" dirty="0"/>
              <a:t>    ("Random Forest", forest, False),</a:t>
            </a:r>
          </a:p>
          <a:p>
            <a:r>
              <a:rPr lang="en-IN" dirty="0"/>
              <a:t>    ("Decision Tree", tree, False),</a:t>
            </a:r>
          </a:p>
          <a:p>
            <a:r>
              <a:rPr lang="en-IN" dirty="0"/>
              <a:t>    ("MLP Neural Network", </a:t>
            </a:r>
            <a:r>
              <a:rPr lang="en-IN" dirty="0" err="1"/>
              <a:t>mlp</a:t>
            </a:r>
            <a:r>
              <a:rPr lang="en-IN" dirty="0"/>
              <a:t>, True),</a:t>
            </a:r>
          </a:p>
          <a:p>
            <a:r>
              <a:rPr lang="en-IN" dirty="0"/>
              <a:t>    ("LightGBM", </a:t>
            </a:r>
            <a:r>
              <a:rPr lang="en-IN" dirty="0" err="1"/>
              <a:t>lgbm</a:t>
            </a:r>
            <a:r>
              <a:rPr lang="en-IN" dirty="0"/>
              <a:t>, False),</a:t>
            </a:r>
          </a:p>
          <a:p>
            <a:r>
              <a:rPr lang="en-IN" dirty="0"/>
              <a:t>    ("K-Nearest Neighbors", </a:t>
            </a:r>
            <a:r>
              <a:rPr lang="en-IN" dirty="0" err="1"/>
              <a:t>knn_model</a:t>
            </a:r>
            <a:r>
              <a:rPr lang="en-IN" dirty="0"/>
              <a:t>, True),</a:t>
            </a:r>
          </a:p>
          <a:p>
            <a:r>
              <a:rPr lang="en-IN" dirty="0"/>
              <a:t>    ("Gradient Boosting", </a:t>
            </a:r>
            <a:r>
              <a:rPr lang="en-IN" dirty="0" err="1"/>
              <a:t>gbc</a:t>
            </a:r>
            <a:r>
              <a:rPr lang="en-IN" dirty="0"/>
              <a:t>, False),</a:t>
            </a:r>
          </a:p>
          <a:p>
            <a:r>
              <a:rPr lang="en-IN" dirty="0"/>
              <a:t>     ("Hybrid Autoencoder-XGBoost", </a:t>
            </a:r>
            <a:r>
              <a:rPr lang="en-IN" dirty="0" err="1"/>
              <a:t>hybrid_xgb</a:t>
            </a:r>
            <a:r>
              <a:rPr lang="en-IN" dirty="0"/>
              <a:t>, False)</a:t>
            </a:r>
          </a:p>
          <a:p>
            <a:r>
              <a:rPr lang="en-IN" dirty="0"/>
              <a:t>]</a:t>
            </a:r>
          </a:p>
          <a:p>
            <a:endParaRPr lang="en-US" dirty="0">
              <a:solidFill>
                <a:schemeClr val="tx1"/>
              </a:solidFill>
            </a:endParaRPr>
          </a:p>
        </p:txBody>
      </p:sp>
    </p:spTree>
    <p:extLst>
      <p:ext uri="{BB962C8B-B14F-4D97-AF65-F5344CB8AC3E}">
        <p14:creationId xmlns:p14="http://schemas.microsoft.com/office/powerpoint/2010/main" val="342339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3A55C-695D-0095-F70F-F5BA799AA4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5675D3-6431-BBED-5329-48DC53937A2C}"/>
              </a:ext>
            </a:extLst>
          </p:cNvPr>
          <p:cNvSpPr>
            <a:spLocks noGrp="1"/>
          </p:cNvSpPr>
          <p:nvPr>
            <p:ph idx="1"/>
          </p:nvPr>
        </p:nvSpPr>
        <p:spPr>
          <a:xfrm>
            <a:off x="457200" y="914400"/>
            <a:ext cx="11010122" cy="5211763"/>
          </a:xfrm>
        </p:spPr>
        <p:txBody>
          <a:bodyPr>
            <a:normAutofit/>
          </a:bodyPr>
          <a:lstStyle/>
          <a:p>
            <a:pPr marL="0" indent="0">
              <a:buNone/>
            </a:pPr>
            <a:r>
              <a:rPr lang="en-US" sz="2400" b="1" dirty="0"/>
              <a:t>5. Enhanced Attack Classification</a:t>
            </a:r>
          </a:p>
          <a:p>
            <a:pPr marL="0" indent="0">
              <a:buNone/>
            </a:pPr>
            <a:endParaRPr lang="en-US" sz="1800" dirty="0"/>
          </a:p>
          <a:p>
            <a:endParaRPr lang="en-US" sz="1800" dirty="0"/>
          </a:p>
          <a:p>
            <a:pPr marL="0" indent="0">
              <a:buNone/>
            </a:pPr>
            <a:endParaRPr lang="en-IN" sz="1800" dirty="0"/>
          </a:p>
          <a:p>
            <a:pPr marL="0" indent="0">
              <a:buNone/>
            </a:pPr>
            <a:endParaRPr lang="en-US" sz="1800" dirty="0"/>
          </a:p>
          <a:p>
            <a:pPr marL="0" indent="0">
              <a:buNone/>
            </a:pPr>
            <a:endParaRPr lang="en-US" sz="1800" dirty="0"/>
          </a:p>
          <a:p>
            <a:pPr marL="0" indent="0">
              <a:buNone/>
            </a:pPr>
            <a:endParaRPr lang="en-IN" sz="1800" dirty="0"/>
          </a:p>
          <a:p>
            <a:endParaRPr lang="en-IN" sz="2400" b="1" dirty="0"/>
          </a:p>
        </p:txBody>
      </p:sp>
      <p:pic>
        <p:nvPicPr>
          <p:cNvPr id="4" name="Picture 3" descr="PES University Know All about the Indian UGC-Approved University">
            <a:extLst>
              <a:ext uri="{FF2B5EF4-FFF2-40B4-BE49-F238E27FC236}">
                <a16:creationId xmlns:a16="http://schemas.microsoft.com/office/drawing/2014/main" id="{16929AA1-5767-27A1-9203-0700B9EA5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329E698-69B5-5569-ADC9-10071DF5620E}"/>
              </a:ext>
            </a:extLst>
          </p:cNvPr>
          <p:cNvSpPr/>
          <p:nvPr/>
        </p:nvSpPr>
        <p:spPr>
          <a:xfrm>
            <a:off x="721504" y="1446246"/>
            <a:ext cx="8599778" cy="4497354"/>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b="1" dirty="0"/>
              <a:t>classify_attack_type(features):</a:t>
            </a:r>
          </a:p>
          <a:p>
            <a:r>
              <a:rPr lang="en-US" dirty="0"/>
              <a:t>	 </a:t>
            </a:r>
            <a:r>
              <a:rPr lang="en-IN" dirty="0"/>
              <a:t>if suspicious_count &gt;= 5:	return ['SOPHISTICATED_MULTI_VECTOR_ATTACK’]</a:t>
            </a:r>
          </a:p>
          <a:p>
            <a:r>
              <a:rPr lang="en-IN" dirty="0"/>
              <a:t>	 if feature_dict['Have_IP’]:	return ['IP_BASED_PHISHING’]</a:t>
            </a:r>
          </a:p>
          <a:p>
            <a:r>
              <a:rPr lang="en-IN" dirty="0"/>
              <a:t>	 if feature_dict['Prefix/Suffix’]: return ['TYPOSQUATTING_HOMOGRAPH’]</a:t>
            </a:r>
          </a:p>
          <a:p>
            <a:r>
              <a:rPr lang="en-IN" dirty="0"/>
              <a:t>	 if feature_dict['https_Domain’]: return ['DOMAIN_SPOOFING’]</a:t>
            </a:r>
          </a:p>
          <a:p>
            <a:r>
              <a:rPr lang="en-IN" dirty="0"/>
              <a:t>	 if feature_dict['iFrame’]:	return ['IFRAME_OVERLAY_PHISHING’]</a:t>
            </a:r>
          </a:p>
          <a:p>
            <a:r>
              <a:rPr lang="en-IN" dirty="0"/>
              <a:t>	 if feature_dict['DNS_Record’]: return ['DNS_ANOMALY_PHISHING’]</a:t>
            </a:r>
          </a:p>
          <a:p>
            <a:r>
              <a:rPr lang="en-IN" dirty="0"/>
              <a:t>	 if feature_dict['Redirection’]: return ['OPEN_REDIRECT_PHISHING’]</a:t>
            </a:r>
          </a:p>
          <a:p>
            <a:r>
              <a:rPr lang="en-IN" dirty="0"/>
              <a:t>	 if feature_dict['TinyURL’]:	return ['URL_SHORTENER_PHISHING’]</a:t>
            </a:r>
          </a:p>
          <a:p>
            <a:r>
              <a:rPr lang="en-IN" dirty="0"/>
              <a:t>	 if feature_dict['Domain_Age’]: return ['NEW_DOMAIN_PHISHING’]</a:t>
            </a:r>
          </a:p>
          <a:p>
            <a:r>
              <a:rPr lang="en-IN" dirty="0"/>
              <a:t>	 if feature_dict['Mouse_Over'] or feature_dict['Right_Click’]: return ['SOCIAL_ENGINEERING_PHISHING’]</a:t>
            </a:r>
          </a:p>
          <a:p>
            <a:r>
              <a:rPr lang="en-IN" dirty="0"/>
              <a:t>	 return ['GENERAL_PHISHING’]</a:t>
            </a:r>
          </a:p>
        </p:txBody>
      </p:sp>
    </p:spTree>
    <p:extLst>
      <p:ext uri="{BB962C8B-B14F-4D97-AF65-F5344CB8AC3E}">
        <p14:creationId xmlns:p14="http://schemas.microsoft.com/office/powerpoint/2010/main" val="2579062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7B4FF-F05B-CEC3-395F-35E196940AA8}"/>
              </a:ext>
            </a:extLst>
          </p:cNvPr>
          <p:cNvSpPr>
            <a:spLocks noGrp="1"/>
          </p:cNvSpPr>
          <p:nvPr>
            <p:ph idx="1"/>
          </p:nvPr>
        </p:nvSpPr>
        <p:spPr>
          <a:xfrm>
            <a:off x="457200" y="933856"/>
            <a:ext cx="11089532" cy="5535038"/>
          </a:xfrm>
        </p:spPr>
        <p:txBody>
          <a:bodyPr>
            <a:noAutofit/>
          </a:bodyPr>
          <a:lstStyle/>
          <a:p>
            <a:pPr marL="0" indent="0">
              <a:buNone/>
            </a:pPr>
            <a:r>
              <a:rPr lang="en-IN" sz="2400" b="1" dirty="0"/>
              <a:t>6. </a:t>
            </a:r>
            <a:r>
              <a:rPr lang="en-US" sz="2400" b="1" dirty="0"/>
              <a:t>Risk Score Calculation</a:t>
            </a: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1CDF1C98-7C4B-2BAB-4CFE-4F5D979DD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882AC3E-7326-745D-2DCE-1689CB54464D}"/>
              </a:ext>
            </a:extLst>
          </p:cNvPr>
          <p:cNvSpPr/>
          <p:nvPr/>
        </p:nvSpPr>
        <p:spPr>
          <a:xfrm>
            <a:off x="914399" y="1446245"/>
            <a:ext cx="8042989" cy="4105469"/>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b="1" dirty="0"/>
              <a:t>Formula:</a:t>
            </a:r>
          </a:p>
          <a:p>
            <a:r>
              <a:rPr lang="en-US" dirty="0">
                <a:solidFill>
                  <a:schemeClr val="tx1"/>
                </a:solidFill>
              </a:rPr>
              <a:t>risk_score = max_risk_score_from_attack_type + 5 * max(0, suspicious_features - 2)</a:t>
            </a:r>
          </a:p>
          <a:p>
            <a:r>
              <a:rPr lang="en-US" dirty="0">
                <a:solidFill>
                  <a:schemeClr val="tx1"/>
                </a:solidFill>
              </a:rPr>
              <a:t>Final_risk_score = min(100, calculated_score)</a:t>
            </a:r>
          </a:p>
          <a:p>
            <a:endParaRPr lang="en-US" dirty="0">
              <a:solidFill>
                <a:schemeClr val="tx1"/>
              </a:solidFill>
            </a:endParaRPr>
          </a:p>
          <a:p>
            <a:r>
              <a:rPr lang="en-US" b="1" dirty="0"/>
              <a:t>calculate_risk_score(features, attack_types)</a:t>
            </a:r>
            <a:endParaRPr lang="en-IN" b="1" dirty="0"/>
          </a:p>
          <a:p>
            <a:r>
              <a:rPr lang="en-US" dirty="0">
                <a:solidFill>
                  <a:schemeClr val="tx1"/>
                </a:solidFill>
              </a:rPr>
              <a:t>Set base_score = highest risk_score among attack_types</a:t>
            </a:r>
          </a:p>
          <a:p>
            <a:endParaRPr lang="en-US" dirty="0">
              <a:solidFill>
                <a:schemeClr val="tx1"/>
              </a:solidFill>
            </a:endParaRPr>
          </a:p>
          <a:p>
            <a:r>
              <a:rPr lang="en-US" dirty="0">
                <a:solidFill>
                  <a:schemeClr val="tx1"/>
                </a:solidFill>
              </a:rPr>
              <a:t>Count suspicious features</a:t>
            </a:r>
          </a:p>
          <a:p>
            <a:endParaRPr lang="en-US" dirty="0">
              <a:solidFill>
                <a:schemeClr val="tx1"/>
              </a:solidFill>
            </a:endParaRPr>
          </a:p>
          <a:p>
            <a:r>
              <a:rPr lang="en-US" dirty="0">
                <a:solidFill>
                  <a:schemeClr val="tx1"/>
                </a:solidFill>
              </a:rPr>
              <a:t>IF suspicious_features ≥ 3:</a:t>
            </a:r>
          </a:p>
          <a:p>
            <a:r>
              <a:rPr lang="en-US" dirty="0">
                <a:solidFill>
                  <a:schemeClr val="tx1"/>
                </a:solidFill>
              </a:rPr>
              <a:t>    Add 5 points for each feature above 2</a:t>
            </a:r>
          </a:p>
          <a:p>
            <a:endParaRPr lang="en-US" dirty="0">
              <a:solidFill>
                <a:schemeClr val="tx1"/>
              </a:solidFill>
            </a:endParaRPr>
          </a:p>
          <a:p>
            <a:r>
              <a:rPr lang="en-US" dirty="0">
                <a:solidFill>
                  <a:schemeClr val="tx1"/>
                </a:solidFill>
              </a:rPr>
              <a:t>RETURN final risk_score</a:t>
            </a:r>
          </a:p>
        </p:txBody>
      </p:sp>
    </p:spTree>
    <p:extLst>
      <p:ext uri="{BB962C8B-B14F-4D97-AF65-F5344CB8AC3E}">
        <p14:creationId xmlns:p14="http://schemas.microsoft.com/office/powerpoint/2010/main" val="2246084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064-AEA5-4E1B-C51C-928DE1636D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0098B-06F0-743D-C11E-0DADA65793B6}"/>
              </a:ext>
            </a:extLst>
          </p:cNvPr>
          <p:cNvSpPr>
            <a:spLocks noGrp="1"/>
          </p:cNvSpPr>
          <p:nvPr>
            <p:ph idx="1"/>
          </p:nvPr>
        </p:nvSpPr>
        <p:spPr>
          <a:xfrm>
            <a:off x="457200" y="933856"/>
            <a:ext cx="11089532" cy="5535038"/>
          </a:xfrm>
        </p:spPr>
        <p:txBody>
          <a:bodyPr>
            <a:noAutofit/>
          </a:bodyPr>
          <a:lstStyle/>
          <a:p>
            <a:pPr marL="0" indent="0">
              <a:buNone/>
            </a:pPr>
            <a:r>
              <a:rPr lang="en-IN" sz="2400" b="1" dirty="0"/>
              <a:t>7. Prevention + Educational Content</a:t>
            </a:r>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66BBFCA5-3D70-259B-0A30-0ACBB29B76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C758AA3-A61A-50B3-29F7-D7BA065BB2DF}"/>
              </a:ext>
            </a:extLst>
          </p:cNvPr>
          <p:cNvSpPr/>
          <p:nvPr/>
        </p:nvSpPr>
        <p:spPr>
          <a:xfrm>
            <a:off x="914399" y="1446245"/>
            <a:ext cx="3956181" cy="4226767"/>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IN" b="1" dirty="0"/>
              <a:t>ENHANCED_PREVENTION Database</a:t>
            </a:r>
          </a:p>
          <a:p>
            <a:endParaRPr lang="en-IN" dirty="0">
              <a:solidFill>
                <a:schemeClr val="tx1"/>
              </a:solidFill>
            </a:endParaRPr>
          </a:p>
          <a:p>
            <a:r>
              <a:rPr lang="en-US" dirty="0">
                <a:solidFill>
                  <a:schemeClr val="tx1"/>
                </a:solidFill>
              </a:rPr>
              <a:t>Dictionary mapping each attack type → {</a:t>
            </a:r>
          </a:p>
          <a:p>
            <a:r>
              <a:rPr lang="en-US" dirty="0">
                <a:solidFill>
                  <a:schemeClr val="tx1"/>
                </a:solidFill>
              </a:rPr>
              <a:t>    severity,</a:t>
            </a:r>
          </a:p>
          <a:p>
            <a:r>
              <a:rPr lang="en-US" dirty="0">
                <a:solidFill>
                  <a:schemeClr val="tx1"/>
                </a:solidFill>
              </a:rPr>
              <a:t>    risk_score,</a:t>
            </a:r>
          </a:p>
          <a:p>
            <a:r>
              <a:rPr lang="en-US" dirty="0">
                <a:solidFill>
                  <a:schemeClr val="tx1"/>
                </a:solidFill>
              </a:rPr>
              <a:t>    warning,</a:t>
            </a:r>
          </a:p>
          <a:p>
            <a:r>
              <a:rPr lang="en-US" dirty="0">
                <a:solidFill>
                  <a:schemeClr val="tx1"/>
                </a:solidFill>
              </a:rPr>
              <a:t>    technical_details,</a:t>
            </a:r>
          </a:p>
          <a:p>
            <a:r>
              <a:rPr lang="en-US" dirty="0">
                <a:solidFill>
                  <a:schemeClr val="tx1"/>
                </a:solidFill>
              </a:rPr>
              <a:t>    advice,</a:t>
            </a:r>
          </a:p>
          <a:p>
            <a:r>
              <a:rPr lang="en-US" dirty="0">
                <a:solidFill>
                  <a:schemeClr val="tx1"/>
                </a:solidFill>
              </a:rPr>
              <a:t>    how_to_identify,</a:t>
            </a:r>
          </a:p>
          <a:p>
            <a:r>
              <a:rPr lang="en-US" dirty="0">
                <a:solidFill>
                  <a:schemeClr val="tx1"/>
                </a:solidFill>
              </a:rPr>
              <a:t>    real_examples,</a:t>
            </a:r>
          </a:p>
          <a:p>
            <a:r>
              <a:rPr lang="en-US" dirty="0">
                <a:solidFill>
                  <a:schemeClr val="tx1"/>
                </a:solidFill>
              </a:rPr>
              <a:t>    prevention_techniques,</a:t>
            </a:r>
          </a:p>
          <a:p>
            <a:r>
              <a:rPr lang="en-US" dirty="0">
                <a:solidFill>
                  <a:schemeClr val="tx1"/>
                </a:solidFill>
              </a:rPr>
              <a:t>    if_clicked</a:t>
            </a:r>
          </a:p>
          <a:p>
            <a:r>
              <a:rPr lang="en-US" dirty="0">
                <a:solidFill>
                  <a:schemeClr val="tx1"/>
                </a:solidFill>
              </a:rPr>
              <a:t>}</a:t>
            </a:r>
          </a:p>
        </p:txBody>
      </p:sp>
      <p:sp>
        <p:nvSpPr>
          <p:cNvPr id="5" name="Rectangle 4">
            <a:extLst>
              <a:ext uri="{FF2B5EF4-FFF2-40B4-BE49-F238E27FC236}">
                <a16:creationId xmlns:a16="http://schemas.microsoft.com/office/drawing/2014/main" id="{180B641E-689C-1F8B-515E-621467002C22}"/>
              </a:ext>
            </a:extLst>
          </p:cNvPr>
          <p:cNvSpPr/>
          <p:nvPr/>
        </p:nvSpPr>
        <p:spPr>
          <a:xfrm>
            <a:off x="5144277" y="1446245"/>
            <a:ext cx="5996474" cy="4226767"/>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tx1"/>
                </a:solidFill>
              </a:rPr>
              <a:t>FOR each attack:</a:t>
            </a:r>
          </a:p>
          <a:p>
            <a:endParaRPr lang="en-US" b="1" dirty="0">
              <a:solidFill>
                <a:schemeClr val="tx1"/>
              </a:solidFill>
            </a:endParaRPr>
          </a:p>
          <a:p>
            <a:r>
              <a:rPr lang="en-US" dirty="0">
                <a:solidFill>
                  <a:schemeClr val="tx1"/>
                </a:solidFill>
              </a:rPr>
              <a:t>    load info from prevention database</a:t>
            </a:r>
          </a:p>
          <a:p>
            <a:r>
              <a:rPr lang="en-US" dirty="0">
                <a:solidFill>
                  <a:schemeClr val="tx1"/>
                </a:solidFill>
              </a:rPr>
              <a:t>    fill prevention fields (severity, advice, warnings, etc.)</a:t>
            </a:r>
          </a:p>
          <a:p>
            <a:r>
              <a:rPr lang="en-US" dirty="0">
                <a:solidFill>
                  <a:schemeClr val="tx1"/>
                </a:solidFill>
              </a:rPr>
              <a:t>    build education fields:</a:t>
            </a:r>
          </a:p>
          <a:p>
            <a:r>
              <a:rPr lang="en-US" dirty="0">
                <a:solidFill>
                  <a:schemeClr val="tx1"/>
                </a:solidFill>
              </a:rPr>
              <a:t>        - overview</a:t>
            </a:r>
          </a:p>
          <a:p>
            <a:r>
              <a:rPr lang="en-US" dirty="0">
                <a:solidFill>
                  <a:schemeClr val="tx1"/>
                </a:solidFill>
              </a:rPr>
              <a:t>        - how it works</a:t>
            </a:r>
          </a:p>
          <a:p>
            <a:r>
              <a:rPr lang="en-US" dirty="0">
                <a:solidFill>
                  <a:schemeClr val="tx1"/>
                </a:solidFill>
              </a:rPr>
              <a:t>        - why dangerous</a:t>
            </a:r>
          </a:p>
          <a:p>
            <a:r>
              <a:rPr lang="en-US" dirty="0">
                <a:solidFill>
                  <a:schemeClr val="tx1"/>
                </a:solidFill>
              </a:rPr>
              <a:t>        - identification tips</a:t>
            </a:r>
          </a:p>
          <a:p>
            <a:r>
              <a:rPr lang="en-US" dirty="0">
                <a:solidFill>
                  <a:schemeClr val="tx1"/>
                </a:solidFill>
              </a:rPr>
              <a:t>        - examples</a:t>
            </a:r>
          </a:p>
          <a:p>
            <a:r>
              <a:rPr lang="en-US" dirty="0">
                <a:solidFill>
                  <a:schemeClr val="tx1"/>
                </a:solidFill>
              </a:rPr>
              <a:t>        - prevention steps</a:t>
            </a:r>
          </a:p>
          <a:p>
            <a:r>
              <a:rPr lang="en-US" dirty="0">
                <a:solidFill>
                  <a:schemeClr val="tx1"/>
                </a:solidFill>
              </a:rPr>
              <a:t>        - incident response</a:t>
            </a:r>
          </a:p>
          <a:p>
            <a:r>
              <a:rPr lang="en-US" dirty="0">
                <a:solidFill>
                  <a:schemeClr val="tx1"/>
                </a:solidFill>
              </a:rPr>
              <a:t>APPEND general reading resources</a:t>
            </a:r>
          </a:p>
          <a:p>
            <a:r>
              <a:rPr lang="en-US" dirty="0">
                <a:solidFill>
                  <a:schemeClr val="tx1"/>
                </a:solidFill>
              </a:rPr>
              <a:t>RETURN prevention + educational content</a:t>
            </a:r>
          </a:p>
        </p:txBody>
      </p:sp>
    </p:spTree>
    <p:extLst>
      <p:ext uri="{BB962C8B-B14F-4D97-AF65-F5344CB8AC3E}">
        <p14:creationId xmlns:p14="http://schemas.microsoft.com/office/powerpoint/2010/main" val="1638971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62F9A-7C3E-CCF4-3193-7C581FE3BD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332A19-A12B-7A9D-6CCF-B6DECF06DD92}"/>
              </a:ext>
            </a:extLst>
          </p:cNvPr>
          <p:cNvSpPr>
            <a:spLocks noGrp="1"/>
          </p:cNvSpPr>
          <p:nvPr>
            <p:ph idx="1"/>
          </p:nvPr>
        </p:nvSpPr>
        <p:spPr>
          <a:xfrm>
            <a:off x="457200" y="933856"/>
            <a:ext cx="11089532" cy="5535038"/>
          </a:xfrm>
        </p:spPr>
        <p:txBody>
          <a:bodyPr>
            <a:noAutofit/>
          </a:bodyPr>
          <a:lstStyle/>
          <a:p>
            <a:pPr marL="0" indent="0">
              <a:buNone/>
            </a:pPr>
            <a:r>
              <a:rPr lang="en-IN" sz="2400" b="1" dirty="0"/>
              <a:t>8. </a:t>
            </a:r>
            <a:r>
              <a:rPr lang="en-US" sz="2400" b="1" dirty="0"/>
              <a:t>Phishing Detection Backend – Core Logic (app.py)</a:t>
            </a: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CEE9E594-03C6-94D3-97A8-11D44A259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C1DA282-9D33-4CB4-3B31-61F813C0053D}"/>
              </a:ext>
            </a:extLst>
          </p:cNvPr>
          <p:cNvSpPr/>
          <p:nvPr/>
        </p:nvSpPr>
        <p:spPr>
          <a:xfrm>
            <a:off x="914399" y="1446246"/>
            <a:ext cx="4663916" cy="4842588"/>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dirty="0">
                <a:solidFill>
                  <a:schemeClr val="tx1"/>
                </a:solidFill>
              </a:rPr>
              <a:t>LOAD model(</a:t>
            </a:r>
            <a:r>
              <a:rPr lang="en-IN" dirty="0"/>
              <a:t>phishing_model.pkl)</a:t>
            </a:r>
          </a:p>
          <a:p>
            <a:endParaRPr lang="en-US" dirty="0">
              <a:solidFill>
                <a:schemeClr val="tx1"/>
              </a:solidFill>
            </a:endParaRPr>
          </a:p>
          <a:p>
            <a:r>
              <a:rPr lang="en-US" dirty="0">
                <a:solidFill>
                  <a:schemeClr val="tx1"/>
                </a:solidFill>
              </a:rPr>
              <a:t>START Flask app</a:t>
            </a:r>
          </a:p>
          <a:p>
            <a:endParaRPr lang="en-US" dirty="0">
              <a:solidFill>
                <a:schemeClr val="tx1"/>
              </a:solidFill>
            </a:endParaRPr>
          </a:p>
          <a:p>
            <a:r>
              <a:rPr lang="en-US" b="1" dirty="0">
                <a:solidFill>
                  <a:schemeClr val="tx1"/>
                </a:solidFill>
              </a:rPr>
              <a:t>validate_url(url):</a:t>
            </a:r>
          </a:p>
          <a:p>
            <a:r>
              <a:rPr lang="en-US" dirty="0">
                <a:solidFill>
                  <a:schemeClr val="tx1"/>
                </a:solidFill>
              </a:rPr>
              <a:t>    check format → return valid/invalid</a:t>
            </a:r>
          </a:p>
          <a:p>
            <a:endParaRPr lang="en-US" dirty="0">
              <a:solidFill>
                <a:schemeClr val="tx1"/>
              </a:solidFill>
            </a:endParaRPr>
          </a:p>
          <a:p>
            <a:r>
              <a:rPr lang="en-US" b="1" dirty="0">
                <a:solidFill>
                  <a:schemeClr val="tx1"/>
                </a:solidFill>
              </a:rPr>
              <a:t>/api/health:</a:t>
            </a:r>
          </a:p>
          <a:p>
            <a:r>
              <a:rPr lang="en-US" dirty="0">
                <a:solidFill>
                  <a:schemeClr val="tx1"/>
                </a:solidFill>
              </a:rPr>
              <a:t> return status + </a:t>
            </a:r>
            <a:r>
              <a:rPr lang="en-US" dirty="0" err="1">
                <a:solidFill>
                  <a:schemeClr val="tx1"/>
                </a:solidFill>
              </a:rPr>
              <a:t>model_loaded</a:t>
            </a:r>
            <a:r>
              <a:rPr lang="en-US" dirty="0">
                <a:solidFill>
                  <a:schemeClr val="tx1"/>
                </a:solidFill>
              </a:rPr>
              <a:t> + validation status</a:t>
            </a:r>
          </a:p>
          <a:p>
            <a:endParaRPr lang="en-US" b="1" dirty="0">
              <a:solidFill>
                <a:schemeClr val="tx1"/>
              </a:solidFill>
            </a:endParaRPr>
          </a:p>
          <a:p>
            <a:r>
              <a:rPr lang="en-US" b="1" dirty="0">
                <a:solidFill>
                  <a:schemeClr val="tx1"/>
                </a:solidFill>
              </a:rPr>
              <a:t>/api/validate-url:</a:t>
            </a:r>
          </a:p>
          <a:p>
            <a:r>
              <a:rPr lang="en-US" dirty="0">
                <a:solidFill>
                  <a:schemeClr val="tx1"/>
                </a:solidFill>
              </a:rPr>
              <a:t>    validate url → return formatted or error</a:t>
            </a:r>
          </a:p>
        </p:txBody>
      </p:sp>
      <p:sp>
        <p:nvSpPr>
          <p:cNvPr id="5" name="Rectangle 4">
            <a:extLst>
              <a:ext uri="{FF2B5EF4-FFF2-40B4-BE49-F238E27FC236}">
                <a16:creationId xmlns:a16="http://schemas.microsoft.com/office/drawing/2014/main" id="{C6BF203F-14A5-9AF3-D0D7-C1B71357697B}"/>
              </a:ext>
            </a:extLst>
          </p:cNvPr>
          <p:cNvSpPr/>
          <p:nvPr/>
        </p:nvSpPr>
        <p:spPr>
          <a:xfrm>
            <a:off x="5868955" y="1446245"/>
            <a:ext cx="5271796" cy="4767943"/>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tx1"/>
                </a:solidFill>
              </a:rPr>
              <a:t>/api/scan:</a:t>
            </a:r>
          </a:p>
          <a:p>
            <a:r>
              <a:rPr lang="en-US" dirty="0">
                <a:solidFill>
                  <a:schemeClr val="tx1"/>
                </a:solidFill>
              </a:rPr>
              <a:t>    validate url</a:t>
            </a:r>
          </a:p>
          <a:p>
            <a:r>
              <a:rPr lang="en-US" dirty="0">
                <a:solidFill>
                  <a:schemeClr val="tx1"/>
                </a:solidFill>
              </a:rPr>
              <a:t>    extract features</a:t>
            </a:r>
          </a:p>
          <a:p>
            <a:r>
              <a:rPr lang="en-US" dirty="0">
                <a:solidFill>
                  <a:schemeClr val="tx1"/>
                </a:solidFill>
              </a:rPr>
              <a:t>    predict (label + confidence)</a:t>
            </a:r>
          </a:p>
          <a:p>
            <a:r>
              <a:rPr lang="en-US" dirty="0">
                <a:solidFill>
                  <a:schemeClr val="tx1"/>
                </a:solidFill>
              </a:rPr>
              <a:t>    classify attack + risk score</a:t>
            </a:r>
          </a:p>
          <a:p>
            <a:r>
              <a:rPr lang="en-US" dirty="0">
                <a:solidFill>
                  <a:schemeClr val="tx1"/>
                </a:solidFill>
              </a:rPr>
              <a:t>    generate prevention + educational content</a:t>
            </a:r>
          </a:p>
          <a:p>
            <a:r>
              <a:rPr lang="en-US" dirty="0">
                <a:solidFill>
                  <a:schemeClr val="tx1"/>
                </a:solidFill>
              </a:rPr>
              <a:t>    log and return result</a:t>
            </a:r>
            <a:endParaRPr lang="en-US" b="1" dirty="0">
              <a:solidFill>
                <a:schemeClr val="tx1"/>
              </a:solidFill>
            </a:endParaRPr>
          </a:p>
          <a:p>
            <a:r>
              <a:rPr lang="en-US" b="1" dirty="0">
                <a:solidFill>
                  <a:schemeClr val="tx1"/>
                </a:solidFill>
              </a:rPr>
              <a:t>/api/batch:</a:t>
            </a:r>
          </a:p>
          <a:p>
            <a:r>
              <a:rPr lang="en-US" dirty="0">
                <a:solidFill>
                  <a:schemeClr val="tx1"/>
                </a:solidFill>
              </a:rPr>
              <a:t>     for each url:</a:t>
            </a:r>
          </a:p>
          <a:p>
            <a:r>
              <a:rPr lang="en-US" dirty="0">
                <a:solidFill>
                  <a:schemeClr val="tx1"/>
                </a:solidFill>
              </a:rPr>
              <a:t>        validate, extract, predict, classify, score</a:t>
            </a:r>
          </a:p>
          <a:p>
            <a:r>
              <a:rPr lang="en-US" dirty="0">
                <a:solidFill>
                  <a:schemeClr val="tx1"/>
                </a:solidFill>
              </a:rPr>
              <a:t>    build summary</a:t>
            </a:r>
          </a:p>
          <a:p>
            <a:r>
              <a:rPr lang="en-US" dirty="0">
                <a:solidFill>
                  <a:schemeClr val="tx1"/>
                </a:solidFill>
              </a:rPr>
              <a:t>    log and return batch results</a:t>
            </a:r>
          </a:p>
          <a:p>
            <a:r>
              <a:rPr lang="en-US" b="1" dirty="0">
                <a:solidFill>
                  <a:schemeClr val="tx1"/>
                </a:solidFill>
              </a:rPr>
              <a:t>/api/logs:</a:t>
            </a:r>
          </a:p>
          <a:p>
            <a:r>
              <a:rPr lang="en-US" dirty="0">
                <a:solidFill>
                  <a:schemeClr val="tx1"/>
                </a:solidFill>
              </a:rPr>
              <a:t>    return saved scan logs</a:t>
            </a:r>
          </a:p>
          <a:p>
            <a:r>
              <a:rPr lang="en-US" b="1" dirty="0">
                <a:solidFill>
                  <a:schemeClr val="tx1"/>
                </a:solidFill>
              </a:rPr>
              <a:t>/api/stats:</a:t>
            </a:r>
          </a:p>
          <a:p>
            <a:r>
              <a:rPr lang="en-US" dirty="0">
                <a:solidFill>
                  <a:schemeClr val="tx1"/>
                </a:solidFill>
              </a:rPr>
              <a:t>    return model + feature + attack info</a:t>
            </a:r>
          </a:p>
          <a:p>
            <a:r>
              <a:rPr lang="en-US" dirty="0">
                <a:solidFill>
                  <a:schemeClr val="tx1"/>
                </a:solidFill>
              </a:rPr>
              <a:t>RUN server</a:t>
            </a:r>
          </a:p>
        </p:txBody>
      </p:sp>
    </p:spTree>
    <p:extLst>
      <p:ext uri="{BB962C8B-B14F-4D97-AF65-F5344CB8AC3E}">
        <p14:creationId xmlns:p14="http://schemas.microsoft.com/office/powerpoint/2010/main" val="263374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3BD02-684C-F34E-A013-1C0DD494B6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22F3D7-F79B-A37C-FEA0-AA13EB92E38A}"/>
              </a:ext>
            </a:extLst>
          </p:cNvPr>
          <p:cNvSpPr>
            <a:spLocks noGrp="1"/>
          </p:cNvSpPr>
          <p:nvPr>
            <p:ph idx="1"/>
          </p:nvPr>
        </p:nvSpPr>
        <p:spPr>
          <a:xfrm>
            <a:off x="457200" y="933856"/>
            <a:ext cx="11089532" cy="5535038"/>
          </a:xfrm>
        </p:spPr>
        <p:txBody>
          <a:bodyPr>
            <a:noAutofit/>
          </a:bodyPr>
          <a:lstStyle/>
          <a:p>
            <a:pPr marL="0" indent="0">
              <a:buNone/>
            </a:pPr>
            <a:r>
              <a:rPr lang="en-IN" sz="2400" b="1" dirty="0"/>
              <a:t>9. </a:t>
            </a:r>
            <a:r>
              <a:rPr lang="en-US" sz="2400" b="1" dirty="0"/>
              <a:t>Database Configuration and </a:t>
            </a:r>
            <a:r>
              <a:rPr lang="en-IN" sz="2400" b="1" dirty="0"/>
              <a:t>Logging Engine</a:t>
            </a:r>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99CD9759-9C7A-F0E1-39B5-58244833F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E69A353-2F90-24DF-C1AF-5EB7F712D874}"/>
              </a:ext>
            </a:extLst>
          </p:cNvPr>
          <p:cNvSpPr/>
          <p:nvPr/>
        </p:nvSpPr>
        <p:spPr>
          <a:xfrm>
            <a:off x="914399" y="1446246"/>
            <a:ext cx="4663916" cy="4049485"/>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tx1"/>
                </a:solidFill>
              </a:rPr>
              <a:t>Config.py</a:t>
            </a:r>
          </a:p>
          <a:p>
            <a:r>
              <a:rPr lang="en-US" dirty="0"/>
              <a:t>System Configuration Module (</a:t>
            </a:r>
            <a:r>
              <a:rPr lang="en-US" b="1" dirty="0"/>
              <a:t>MongoDB conn &amp; Log Retention Settings</a:t>
            </a:r>
            <a:r>
              <a:rPr lang="en-US" dirty="0"/>
              <a:t>)</a:t>
            </a:r>
            <a:endParaRPr lang="en-US" b="1" dirty="0">
              <a:solidFill>
                <a:schemeClr val="tx1"/>
              </a:solidFill>
            </a:endParaRPr>
          </a:p>
          <a:p>
            <a:endParaRPr lang="en-US" dirty="0">
              <a:solidFill>
                <a:schemeClr val="tx1"/>
              </a:solidFill>
            </a:endParaRPr>
          </a:p>
          <a:p>
            <a:pPr marL="285750" indent="-285750">
              <a:buFont typeface="Arial" panose="020B0604020202020204" pitchFamily="34" charset="0"/>
              <a:buChar char="•"/>
            </a:pPr>
            <a:r>
              <a:rPr lang="en-US" dirty="0">
                <a:solidFill>
                  <a:schemeClr val="tx1"/>
                </a:solidFill>
              </a:rPr>
              <a:t>define MongoDB URI, database name(</a:t>
            </a:r>
            <a:r>
              <a:rPr lang="en-US" dirty="0" err="1">
                <a:solidFill>
                  <a:schemeClr val="tx1"/>
                </a:solidFill>
              </a:rPr>
              <a:t>PhishingDB</a:t>
            </a:r>
            <a:r>
              <a:rPr lang="en-US" dirty="0">
                <a:solidFill>
                  <a:schemeClr val="tx1"/>
                </a:solidFill>
              </a:rPr>
              <a:t>), collection name(</a:t>
            </a:r>
            <a:r>
              <a:rPr lang="en-US" dirty="0" err="1">
                <a:solidFill>
                  <a:schemeClr val="tx1"/>
                </a:solidFill>
              </a:rPr>
              <a:t>scan_logs</a:t>
            </a:r>
            <a:r>
              <a:rPr lang="en-US" dirty="0">
                <a:solidFill>
                  <a:schemeClr val="tx1"/>
                </a:solidFill>
              </a:rPr>
              <a:t>)</a:t>
            </a:r>
          </a:p>
          <a:p>
            <a:pPr marL="285750" indent="-285750">
              <a:buFont typeface="Arial" panose="020B0604020202020204" pitchFamily="34" charset="0"/>
              <a:buChar char="•"/>
            </a:pPr>
            <a:r>
              <a:rPr lang="en-US" dirty="0">
                <a:solidFill>
                  <a:schemeClr val="tx1"/>
                </a:solidFill>
              </a:rPr>
              <a:t>define log retention period (auto-deletion rules for old logs)</a:t>
            </a:r>
          </a:p>
          <a:p>
            <a:endParaRPr lang="en-US" dirty="0">
              <a:solidFill>
                <a:schemeClr val="tx1"/>
              </a:solidFill>
            </a:endParaRPr>
          </a:p>
          <a:p>
            <a:r>
              <a:rPr lang="en-US" b="1" dirty="0">
                <a:solidFill>
                  <a:schemeClr val="tx1"/>
                </a:solidFill>
              </a:rPr>
              <a:t>Logger.py</a:t>
            </a:r>
          </a:p>
          <a:p>
            <a:r>
              <a:rPr lang="en-IN" dirty="0"/>
              <a:t>Scan Logging Engine (</a:t>
            </a:r>
            <a:r>
              <a:rPr lang="en-IN" b="1" dirty="0"/>
              <a:t>Store &amp; Retrieve Analysis Logs</a:t>
            </a:r>
            <a:r>
              <a:rPr lang="en-IN" dirty="0"/>
              <a:t>)</a:t>
            </a:r>
          </a:p>
          <a:p>
            <a:r>
              <a:rPr lang="en-US" dirty="0">
                <a:solidFill>
                  <a:schemeClr val="tx1"/>
                </a:solidFill>
              </a:rPr>
              <a:t>IMPORT config file settings</a:t>
            </a:r>
          </a:p>
          <a:p>
            <a:endParaRPr lang="en-US" b="1" dirty="0">
              <a:solidFill>
                <a:schemeClr val="tx1"/>
              </a:solidFill>
            </a:endParaRPr>
          </a:p>
        </p:txBody>
      </p:sp>
      <p:sp>
        <p:nvSpPr>
          <p:cNvPr id="5" name="Rectangle 4">
            <a:extLst>
              <a:ext uri="{FF2B5EF4-FFF2-40B4-BE49-F238E27FC236}">
                <a16:creationId xmlns:a16="http://schemas.microsoft.com/office/drawing/2014/main" id="{58CE2DB9-C5D2-DB17-3B09-A3DA8EE08AF7}"/>
              </a:ext>
            </a:extLst>
          </p:cNvPr>
          <p:cNvSpPr/>
          <p:nvPr/>
        </p:nvSpPr>
        <p:spPr>
          <a:xfrm>
            <a:off x="5868955" y="1446247"/>
            <a:ext cx="5271796" cy="4049484"/>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tx1"/>
                </a:solidFill>
              </a:rPr>
              <a:t>CONNECT to MongoDB</a:t>
            </a:r>
          </a:p>
          <a:p>
            <a:r>
              <a:rPr lang="en-US" dirty="0">
                <a:solidFill>
                  <a:schemeClr val="tx1"/>
                </a:solidFill>
              </a:rPr>
              <a:t>    access </a:t>
            </a:r>
            <a:r>
              <a:rPr lang="en-US" dirty="0" err="1">
                <a:solidFill>
                  <a:schemeClr val="tx1"/>
                </a:solidFill>
              </a:rPr>
              <a:t>scan_logs</a:t>
            </a:r>
            <a:r>
              <a:rPr lang="en-US" dirty="0">
                <a:solidFill>
                  <a:schemeClr val="tx1"/>
                </a:solidFill>
              </a:rPr>
              <a:t> collection</a:t>
            </a:r>
          </a:p>
          <a:p>
            <a:r>
              <a:rPr lang="en-US" dirty="0">
                <a:solidFill>
                  <a:schemeClr val="tx1"/>
                </a:solidFill>
              </a:rPr>
              <a:t>    apply TTL index for automatic log expiry</a:t>
            </a:r>
          </a:p>
          <a:p>
            <a:r>
              <a:rPr lang="en-US" b="1" dirty="0">
                <a:solidFill>
                  <a:schemeClr val="tx1"/>
                </a:solidFill>
              </a:rPr>
              <a:t>FUNCTION </a:t>
            </a:r>
            <a:r>
              <a:rPr lang="en-US" b="1" dirty="0" err="1">
                <a:solidFill>
                  <a:schemeClr val="tx1"/>
                </a:solidFill>
              </a:rPr>
              <a:t>log_scan_result</a:t>
            </a:r>
            <a:r>
              <a:rPr lang="en-US" b="1" dirty="0">
                <a:solidFill>
                  <a:schemeClr val="tx1"/>
                </a:solidFill>
              </a:rPr>
              <a:t>(data, </a:t>
            </a:r>
            <a:r>
              <a:rPr lang="en-US" b="1" dirty="0" err="1">
                <a:solidFill>
                  <a:schemeClr val="tx1"/>
                </a:solidFill>
              </a:rPr>
              <a:t>is_batch</a:t>
            </a:r>
            <a:r>
              <a:rPr lang="en-US" b="1" dirty="0">
                <a:solidFill>
                  <a:schemeClr val="tx1"/>
                </a:solidFill>
              </a:rPr>
              <a:t>):</a:t>
            </a:r>
          </a:p>
          <a:p>
            <a:r>
              <a:rPr lang="en-US" dirty="0">
                <a:solidFill>
                  <a:schemeClr val="tx1"/>
                </a:solidFill>
              </a:rPr>
              <a:t>    add timestamp</a:t>
            </a:r>
          </a:p>
          <a:p>
            <a:r>
              <a:rPr lang="en-US" dirty="0">
                <a:solidFill>
                  <a:schemeClr val="tx1"/>
                </a:solidFill>
              </a:rPr>
              <a:t>    mark entry as batch or single</a:t>
            </a:r>
          </a:p>
          <a:p>
            <a:r>
              <a:rPr lang="en-US" dirty="0">
                <a:solidFill>
                  <a:schemeClr val="tx1"/>
                </a:solidFill>
              </a:rPr>
              <a:t>    insert record into MongoDB</a:t>
            </a:r>
          </a:p>
          <a:p>
            <a:r>
              <a:rPr lang="en-US" dirty="0">
                <a:solidFill>
                  <a:schemeClr val="tx1"/>
                </a:solidFill>
              </a:rPr>
              <a:t>    return inserted </a:t>
            </a:r>
            <a:r>
              <a:rPr lang="en-US" dirty="0" err="1">
                <a:solidFill>
                  <a:schemeClr val="tx1"/>
                </a:solidFill>
              </a:rPr>
              <a:t>log_id</a:t>
            </a:r>
            <a:endParaRPr lang="en-US" dirty="0">
              <a:solidFill>
                <a:schemeClr val="tx1"/>
              </a:solidFill>
            </a:endParaRPr>
          </a:p>
          <a:p>
            <a:r>
              <a:rPr lang="en-US" b="1" dirty="0">
                <a:solidFill>
                  <a:schemeClr val="tx1"/>
                </a:solidFill>
              </a:rPr>
              <a:t>FUNCTION </a:t>
            </a:r>
            <a:r>
              <a:rPr lang="en-US" b="1" dirty="0" err="1">
                <a:solidFill>
                  <a:schemeClr val="tx1"/>
                </a:solidFill>
              </a:rPr>
              <a:t>get_scan_reports</a:t>
            </a:r>
            <a:r>
              <a:rPr lang="en-US" b="1" dirty="0">
                <a:solidFill>
                  <a:schemeClr val="tx1"/>
                </a:solidFill>
              </a:rPr>
              <a:t>(limit, </a:t>
            </a:r>
            <a:r>
              <a:rPr lang="en-US" b="1" dirty="0" err="1">
                <a:solidFill>
                  <a:schemeClr val="tx1"/>
                </a:solidFill>
              </a:rPr>
              <a:t>start_date</a:t>
            </a:r>
            <a:r>
              <a:rPr lang="en-US" b="1" dirty="0">
                <a:solidFill>
                  <a:schemeClr val="tx1"/>
                </a:solidFill>
              </a:rPr>
              <a:t>):</a:t>
            </a:r>
          </a:p>
          <a:p>
            <a:r>
              <a:rPr lang="en-US" dirty="0">
                <a:solidFill>
                  <a:schemeClr val="tx1"/>
                </a:solidFill>
              </a:rPr>
              <a:t>    build query with optional date filter</a:t>
            </a:r>
          </a:p>
          <a:p>
            <a:r>
              <a:rPr lang="en-US" dirty="0">
                <a:solidFill>
                  <a:schemeClr val="tx1"/>
                </a:solidFill>
              </a:rPr>
              <a:t>    fetch logs sorted by newest</a:t>
            </a:r>
          </a:p>
          <a:p>
            <a:r>
              <a:rPr lang="en-US" dirty="0">
                <a:solidFill>
                  <a:schemeClr val="tx1"/>
                </a:solidFill>
              </a:rPr>
              <a:t>    convert timestamps to readable format</a:t>
            </a:r>
          </a:p>
          <a:p>
            <a:r>
              <a:rPr lang="en-US" dirty="0">
                <a:solidFill>
                  <a:schemeClr val="tx1"/>
                </a:solidFill>
              </a:rPr>
              <a:t>    ensure confidence exists for single scans</a:t>
            </a:r>
          </a:p>
          <a:p>
            <a:r>
              <a:rPr lang="en-US" dirty="0">
                <a:solidFill>
                  <a:schemeClr val="tx1"/>
                </a:solidFill>
              </a:rPr>
              <a:t>    return list of formatted logs</a:t>
            </a:r>
          </a:p>
        </p:txBody>
      </p:sp>
    </p:spTree>
    <p:extLst>
      <p:ext uri="{BB962C8B-B14F-4D97-AF65-F5344CB8AC3E}">
        <p14:creationId xmlns:p14="http://schemas.microsoft.com/office/powerpoint/2010/main" val="2030042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D44A-59E6-8A70-7B40-8709C98BF9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13AF49-0907-B55F-9816-62BEDA3C32F2}"/>
              </a:ext>
            </a:extLst>
          </p:cNvPr>
          <p:cNvSpPr>
            <a:spLocks noGrp="1"/>
          </p:cNvSpPr>
          <p:nvPr>
            <p:ph idx="1"/>
          </p:nvPr>
        </p:nvSpPr>
        <p:spPr>
          <a:xfrm>
            <a:off x="457200" y="933856"/>
            <a:ext cx="11089532" cy="5535038"/>
          </a:xfrm>
        </p:spPr>
        <p:txBody>
          <a:bodyPr>
            <a:noAutofit/>
          </a:bodyPr>
          <a:lstStyle/>
          <a:p>
            <a:pPr marL="0" indent="0">
              <a:buNone/>
            </a:pPr>
            <a:r>
              <a:rPr lang="en-IN" sz="2400" b="1" dirty="0"/>
              <a:t>10. </a:t>
            </a:r>
            <a:r>
              <a:rPr lang="en-US" sz="2400" b="1" dirty="0"/>
              <a:t>Web Based GUI – Frontend (React.js)</a:t>
            </a: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30810C3D-6B92-E700-8425-E8C8D3A92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4CD6534-3840-434F-84E7-958612944831}"/>
              </a:ext>
            </a:extLst>
          </p:cNvPr>
          <p:cNvSpPr/>
          <p:nvPr/>
        </p:nvSpPr>
        <p:spPr>
          <a:xfrm>
            <a:off x="914399" y="1446246"/>
            <a:ext cx="4663916" cy="4477898"/>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IN" b="1" dirty="0"/>
              <a:t>App.js – Main Controller</a:t>
            </a:r>
          </a:p>
          <a:p>
            <a:endParaRPr lang="en-IN" b="1" dirty="0"/>
          </a:p>
          <a:p>
            <a:r>
              <a:rPr lang="en-IN" dirty="0"/>
              <a:t>(Navigation + API health check)</a:t>
            </a:r>
          </a:p>
          <a:p>
            <a:endParaRPr lang="en-IN" dirty="0"/>
          </a:p>
          <a:p>
            <a:r>
              <a:rPr lang="en-US" dirty="0">
                <a:solidFill>
                  <a:schemeClr val="tx1"/>
                </a:solidFill>
              </a:rPr>
              <a:t>START app</a:t>
            </a:r>
          </a:p>
          <a:p>
            <a:endParaRPr lang="en-US" dirty="0">
              <a:solidFill>
                <a:schemeClr val="tx1"/>
              </a:solidFill>
            </a:endParaRPr>
          </a:p>
          <a:p>
            <a:r>
              <a:rPr lang="en-US" b="1" dirty="0">
                <a:solidFill>
                  <a:schemeClr val="tx1"/>
                </a:solidFill>
              </a:rPr>
              <a:t>CHECK /api/health </a:t>
            </a:r>
            <a:r>
              <a:rPr lang="en-US" dirty="0">
                <a:solidFill>
                  <a:schemeClr val="tx1"/>
                </a:solidFill>
              </a:rPr>
              <a:t>→ update status indicator</a:t>
            </a:r>
          </a:p>
          <a:p>
            <a:endParaRPr lang="en-US" dirty="0">
              <a:solidFill>
                <a:schemeClr val="tx1"/>
              </a:solidFill>
            </a:endParaRPr>
          </a:p>
          <a:p>
            <a:r>
              <a:rPr lang="en-US" dirty="0">
                <a:solidFill>
                  <a:schemeClr val="tx1"/>
                </a:solidFill>
              </a:rPr>
              <a:t>WHEN user selects a tab:</a:t>
            </a:r>
          </a:p>
          <a:p>
            <a:endParaRPr lang="en-US" dirty="0">
              <a:solidFill>
                <a:schemeClr val="tx1"/>
              </a:solidFill>
            </a:endParaRPr>
          </a:p>
          <a:p>
            <a:r>
              <a:rPr lang="en-US" dirty="0">
                <a:solidFill>
                  <a:schemeClr val="tx1"/>
                </a:solidFill>
              </a:rPr>
              <a:t>    SHOW Single Scan OR Batch Analyzer OR Reports Logger</a:t>
            </a:r>
          </a:p>
          <a:p>
            <a:endParaRPr lang="en-US" dirty="0">
              <a:solidFill>
                <a:schemeClr val="tx1"/>
              </a:solidFill>
            </a:endParaRPr>
          </a:p>
          <a:p>
            <a:r>
              <a:rPr lang="en-US" dirty="0">
                <a:solidFill>
                  <a:schemeClr val="tx1"/>
                </a:solidFill>
              </a:rPr>
              <a:t>PASS backend URL to child components</a:t>
            </a:r>
          </a:p>
          <a:p>
            <a:endParaRPr lang="en-US" dirty="0">
              <a:solidFill>
                <a:schemeClr val="tx1"/>
              </a:solidFill>
            </a:endParaRPr>
          </a:p>
        </p:txBody>
      </p:sp>
      <p:sp>
        <p:nvSpPr>
          <p:cNvPr id="5" name="Rectangle 4">
            <a:extLst>
              <a:ext uri="{FF2B5EF4-FFF2-40B4-BE49-F238E27FC236}">
                <a16:creationId xmlns:a16="http://schemas.microsoft.com/office/drawing/2014/main" id="{5AC84163-925F-9C8E-B84E-01D50B5FCD01}"/>
              </a:ext>
            </a:extLst>
          </p:cNvPr>
          <p:cNvSpPr/>
          <p:nvPr/>
        </p:nvSpPr>
        <p:spPr>
          <a:xfrm>
            <a:off x="5868955" y="1446246"/>
            <a:ext cx="5271796" cy="4477898"/>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it-IT" b="1" dirty="0"/>
              <a:t>SingleScanComponent.js – Single URL Scanner</a:t>
            </a:r>
          </a:p>
          <a:p>
            <a:endParaRPr lang="it-IT" b="1" dirty="0"/>
          </a:p>
          <a:p>
            <a:r>
              <a:rPr lang="en-US" dirty="0">
                <a:solidFill>
                  <a:schemeClr val="tx1"/>
                </a:solidFill>
              </a:rPr>
              <a:t>USER enters URL</a:t>
            </a:r>
          </a:p>
          <a:p>
            <a:r>
              <a:rPr lang="en-US" b="1" dirty="0">
                <a:solidFill>
                  <a:schemeClr val="tx1"/>
                </a:solidFill>
              </a:rPr>
              <a:t>SEND POST /api/scan</a:t>
            </a:r>
          </a:p>
          <a:p>
            <a:endParaRPr lang="en-US" dirty="0">
              <a:solidFill>
                <a:schemeClr val="tx1"/>
              </a:solidFill>
            </a:endParaRPr>
          </a:p>
          <a:p>
            <a:r>
              <a:rPr lang="en-US" dirty="0">
                <a:solidFill>
                  <a:schemeClr val="tx1"/>
                </a:solidFill>
              </a:rPr>
              <a:t>IF validation error:</a:t>
            </a:r>
          </a:p>
          <a:p>
            <a:r>
              <a:rPr lang="en-US" dirty="0">
                <a:solidFill>
                  <a:schemeClr val="tx1"/>
                </a:solidFill>
              </a:rPr>
              <a:t>    show URL format guidance</a:t>
            </a:r>
          </a:p>
          <a:p>
            <a:r>
              <a:rPr lang="en-US" dirty="0">
                <a:solidFill>
                  <a:schemeClr val="tx1"/>
                </a:solidFill>
              </a:rPr>
              <a:t>ELSE:</a:t>
            </a:r>
          </a:p>
          <a:p>
            <a:r>
              <a:rPr lang="en-US" dirty="0">
                <a:solidFill>
                  <a:schemeClr val="tx1"/>
                </a:solidFill>
              </a:rPr>
              <a:t>    DISPLAY:</a:t>
            </a:r>
          </a:p>
          <a:p>
            <a:r>
              <a:rPr lang="en-US" dirty="0">
                <a:solidFill>
                  <a:schemeClr val="tx1"/>
                </a:solidFill>
              </a:rPr>
              <a:t>        prediction (phishing / legitimate)</a:t>
            </a:r>
          </a:p>
          <a:p>
            <a:r>
              <a:rPr lang="en-US" dirty="0">
                <a:solidFill>
                  <a:schemeClr val="tx1"/>
                </a:solidFill>
              </a:rPr>
              <a:t>        confidence %</a:t>
            </a:r>
          </a:p>
          <a:p>
            <a:r>
              <a:rPr lang="en-US" dirty="0">
                <a:solidFill>
                  <a:schemeClr val="tx1"/>
                </a:solidFill>
              </a:rPr>
              <a:t>        risk score</a:t>
            </a:r>
          </a:p>
          <a:p>
            <a:r>
              <a:rPr lang="en-US" dirty="0">
                <a:solidFill>
                  <a:schemeClr val="tx1"/>
                </a:solidFill>
              </a:rPr>
              <a:t>        attack types</a:t>
            </a:r>
          </a:p>
          <a:p>
            <a:r>
              <a:rPr lang="en-US" dirty="0">
                <a:solidFill>
                  <a:schemeClr val="tx1"/>
                </a:solidFill>
              </a:rPr>
              <a:t>        prevention advice</a:t>
            </a:r>
          </a:p>
          <a:p>
            <a:r>
              <a:rPr lang="en-US" dirty="0">
                <a:solidFill>
                  <a:schemeClr val="tx1"/>
                </a:solidFill>
              </a:rPr>
              <a:t>        educational content</a:t>
            </a:r>
          </a:p>
          <a:p>
            <a:r>
              <a:rPr lang="en-US" dirty="0">
                <a:solidFill>
                  <a:schemeClr val="tx1"/>
                </a:solidFill>
              </a:rPr>
              <a:t>SAVE scan to recent history</a:t>
            </a:r>
          </a:p>
        </p:txBody>
      </p:sp>
    </p:spTree>
    <p:extLst>
      <p:ext uri="{BB962C8B-B14F-4D97-AF65-F5344CB8AC3E}">
        <p14:creationId xmlns:p14="http://schemas.microsoft.com/office/powerpoint/2010/main" val="1468465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50573-6E2B-1099-41F4-103ECBE2D6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26FF22-BADF-71EF-3C30-1C80030B1CA4}"/>
              </a:ext>
            </a:extLst>
          </p:cNvPr>
          <p:cNvSpPr>
            <a:spLocks noGrp="1"/>
          </p:cNvSpPr>
          <p:nvPr>
            <p:ph idx="1"/>
          </p:nvPr>
        </p:nvSpPr>
        <p:spPr>
          <a:xfrm>
            <a:off x="457200" y="933856"/>
            <a:ext cx="11089532" cy="5535038"/>
          </a:xfrm>
        </p:spPr>
        <p:txBody>
          <a:bodyPr>
            <a:noAutofit/>
          </a:bodyPr>
          <a:lstStyle/>
          <a:p>
            <a:pPr marL="0" indent="0">
              <a:buNone/>
            </a:pPr>
            <a:r>
              <a:rPr lang="en-IN" sz="2400" b="1" dirty="0"/>
              <a:t>10. </a:t>
            </a:r>
            <a:r>
              <a:rPr lang="en-US" sz="2400" b="1" dirty="0"/>
              <a:t>Web Based GUI – Frontend (React.js)</a:t>
            </a: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FBCF8211-B2C4-09B3-1459-4E01950FE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5F2B62A-01BB-BA91-DF17-03DD04E284D6}"/>
              </a:ext>
            </a:extLst>
          </p:cNvPr>
          <p:cNvSpPr/>
          <p:nvPr/>
        </p:nvSpPr>
        <p:spPr>
          <a:xfrm>
            <a:off x="914399" y="1446246"/>
            <a:ext cx="4663916" cy="4264090"/>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IN" b="1" dirty="0"/>
              <a:t>BatchAnalyzer.js – Bulk URL Processing</a:t>
            </a:r>
          </a:p>
          <a:p>
            <a:endParaRPr lang="en-IN" b="1" dirty="0"/>
          </a:p>
          <a:p>
            <a:r>
              <a:rPr lang="en-US" dirty="0"/>
              <a:t>USER enters multiple URLs</a:t>
            </a:r>
          </a:p>
          <a:p>
            <a:r>
              <a:rPr lang="en-US" b="1" dirty="0"/>
              <a:t>SEND POST /api/batch</a:t>
            </a:r>
          </a:p>
          <a:p>
            <a:endParaRPr lang="en-US" dirty="0"/>
          </a:p>
          <a:p>
            <a:r>
              <a:rPr lang="en-US" dirty="0"/>
              <a:t>BACKEND returns:</a:t>
            </a:r>
          </a:p>
          <a:p>
            <a:r>
              <a:rPr lang="en-US" dirty="0"/>
              <a:t>    per-URL results</a:t>
            </a:r>
          </a:p>
          <a:p>
            <a:r>
              <a:rPr lang="en-US" dirty="0"/>
              <a:t>    phishing count, errors, invalid URLs</a:t>
            </a:r>
          </a:p>
          <a:p>
            <a:endParaRPr lang="en-US" dirty="0"/>
          </a:p>
          <a:p>
            <a:r>
              <a:rPr lang="en-US" dirty="0"/>
              <a:t>DISPLAY:</a:t>
            </a:r>
          </a:p>
          <a:p>
            <a:r>
              <a:rPr lang="en-US" dirty="0"/>
              <a:t>    summary table</a:t>
            </a:r>
          </a:p>
          <a:p>
            <a:r>
              <a:rPr lang="en-US" dirty="0"/>
              <a:t>    individual results table</a:t>
            </a:r>
          </a:p>
          <a:p>
            <a:r>
              <a:rPr lang="en-US" dirty="0"/>
              <a:t>    risk color indicators</a:t>
            </a:r>
          </a:p>
          <a:p>
            <a:endParaRPr lang="en-IN" b="1" dirty="0"/>
          </a:p>
        </p:txBody>
      </p:sp>
      <p:sp>
        <p:nvSpPr>
          <p:cNvPr id="5" name="Rectangle 4">
            <a:extLst>
              <a:ext uri="{FF2B5EF4-FFF2-40B4-BE49-F238E27FC236}">
                <a16:creationId xmlns:a16="http://schemas.microsoft.com/office/drawing/2014/main" id="{FF8F1DC9-57C9-8F85-4EC6-7D2FF8222287}"/>
              </a:ext>
            </a:extLst>
          </p:cNvPr>
          <p:cNvSpPr/>
          <p:nvPr/>
        </p:nvSpPr>
        <p:spPr>
          <a:xfrm>
            <a:off x="5868955" y="1446246"/>
            <a:ext cx="5271796" cy="4264090"/>
          </a:xfrm>
          <a:prstGeom prst="rect">
            <a:avLst/>
          </a:prstGeom>
          <a:solidFill>
            <a:schemeClr val="accent3">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IN" b="1" dirty="0"/>
              <a:t>ReportsLogger.js – Audit Log Viewer + Feedback</a:t>
            </a:r>
          </a:p>
          <a:p>
            <a:r>
              <a:rPr lang="en-IN" b="1" dirty="0"/>
              <a:t>System</a:t>
            </a:r>
          </a:p>
          <a:p>
            <a:endParaRPr lang="en-IN" dirty="0"/>
          </a:p>
          <a:p>
            <a:r>
              <a:rPr lang="en-IN" b="1" dirty="0"/>
              <a:t>FETCH /api/logs </a:t>
            </a:r>
            <a:r>
              <a:rPr lang="en-IN" dirty="0"/>
              <a:t>with filters (limit, date)</a:t>
            </a:r>
          </a:p>
          <a:p>
            <a:endParaRPr lang="en-IN" dirty="0"/>
          </a:p>
          <a:p>
            <a:r>
              <a:rPr lang="en-IN" dirty="0"/>
              <a:t>DISPLAY logs:</a:t>
            </a:r>
          </a:p>
          <a:p>
            <a:r>
              <a:rPr lang="en-IN" dirty="0"/>
              <a:t>    timestamp (IST format)</a:t>
            </a:r>
          </a:p>
          <a:p>
            <a:r>
              <a:rPr lang="en-IN" dirty="0"/>
              <a:t>    scan type (single / batch)</a:t>
            </a:r>
          </a:p>
          <a:p>
            <a:r>
              <a:rPr lang="en-IN" dirty="0"/>
              <a:t>    URL or batch size</a:t>
            </a:r>
          </a:p>
          <a:p>
            <a:r>
              <a:rPr lang="en-IN" dirty="0"/>
              <a:t>    prediction + confidence</a:t>
            </a:r>
          </a:p>
          <a:p>
            <a:r>
              <a:rPr lang="en-IN" dirty="0"/>
              <a:t>    risk score + risk label</a:t>
            </a:r>
          </a:p>
          <a:p>
            <a:r>
              <a:rPr lang="en-IN" dirty="0"/>
              <a:t>    attack types</a:t>
            </a:r>
          </a:p>
          <a:p>
            <a:endParaRPr lang="en-IN" dirty="0"/>
          </a:p>
          <a:p>
            <a:r>
              <a:rPr lang="en-IN" dirty="0"/>
              <a:t>IF batch scan:</a:t>
            </a:r>
          </a:p>
          <a:p>
            <a:r>
              <a:rPr lang="en-IN" dirty="0"/>
              <a:t>    ALLOW expand → show individual URL results</a:t>
            </a:r>
          </a:p>
        </p:txBody>
      </p:sp>
    </p:spTree>
    <p:extLst>
      <p:ext uri="{BB962C8B-B14F-4D97-AF65-F5344CB8AC3E}">
        <p14:creationId xmlns:p14="http://schemas.microsoft.com/office/powerpoint/2010/main" val="36429826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E58B-AA1A-A28F-6BA7-499F92D370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D3D13-7F72-D686-28F5-843CBE4CE928}"/>
              </a:ext>
            </a:extLst>
          </p:cNvPr>
          <p:cNvSpPr>
            <a:spLocks noGrp="1"/>
          </p:cNvSpPr>
          <p:nvPr>
            <p:ph idx="1"/>
          </p:nvPr>
        </p:nvSpPr>
        <p:spPr>
          <a:xfrm>
            <a:off x="457200" y="1417638"/>
            <a:ext cx="11089532" cy="5051256"/>
          </a:xfrm>
        </p:spPr>
        <p:txBody>
          <a:bodyPr>
            <a:noAutofit/>
          </a:bodyPr>
          <a:lstStyle/>
          <a:p>
            <a:pPr marL="0" indent="0">
              <a:buNone/>
            </a:pPr>
            <a:r>
              <a:rPr lang="en-IN" sz="2400" b="1" dirty="0"/>
              <a:t>1. </a:t>
            </a:r>
            <a:r>
              <a:rPr lang="en-US" sz="2400" b="1" dirty="0"/>
              <a:t>User Interface</a:t>
            </a:r>
            <a:endParaRPr lang="en-IN" sz="36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7E5EB83B-888E-7067-7039-31E69C3BB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10;&#10;AI-generated content may be incorrect.">
            <a:extLst>
              <a:ext uri="{FF2B5EF4-FFF2-40B4-BE49-F238E27FC236}">
                <a16:creationId xmlns:a16="http://schemas.microsoft.com/office/drawing/2014/main" id="{E800A146-103F-AB2E-EB67-85A98AC35F7C}"/>
              </a:ext>
            </a:extLst>
          </p:cNvPr>
          <p:cNvPicPr>
            <a:picLocks noChangeAspect="1"/>
          </p:cNvPicPr>
          <p:nvPr/>
        </p:nvPicPr>
        <p:blipFill>
          <a:blip r:embed="rId3"/>
          <a:stretch>
            <a:fillRect/>
          </a:stretch>
        </p:blipFill>
        <p:spPr>
          <a:xfrm>
            <a:off x="727787" y="2048295"/>
            <a:ext cx="8761446" cy="3977963"/>
          </a:xfrm>
          <a:prstGeom prst="rect">
            <a:avLst/>
          </a:prstGeom>
        </p:spPr>
      </p:pic>
      <p:sp>
        <p:nvSpPr>
          <p:cNvPr id="8" name="Title 1">
            <a:extLst>
              <a:ext uri="{FF2B5EF4-FFF2-40B4-BE49-F238E27FC236}">
                <a16:creationId xmlns:a16="http://schemas.microsoft.com/office/drawing/2014/main" id="{92E38A23-8673-6CC3-0A13-6D05B07769CF}"/>
              </a:ext>
            </a:extLst>
          </p:cNvPr>
          <p:cNvSpPr>
            <a:spLocks noGrp="1"/>
          </p:cNvSpPr>
          <p:nvPr>
            <p:ph type="title"/>
          </p:nvPr>
        </p:nvSpPr>
        <p:spPr>
          <a:xfrm>
            <a:off x="457200" y="274638"/>
            <a:ext cx="8229600" cy="1143000"/>
          </a:xfrm>
        </p:spPr>
        <p:txBody>
          <a:bodyPr>
            <a:normAutofit/>
          </a:bodyPr>
          <a:lstStyle/>
          <a:p>
            <a:pPr algn="l"/>
            <a:r>
              <a:rPr lang="en-US" sz="3600" b="1" dirty="0"/>
              <a:t>Implementation Screenshots</a:t>
            </a:r>
            <a:endParaRPr lang="en-IN" sz="3600" b="1" dirty="0"/>
          </a:p>
        </p:txBody>
      </p:sp>
    </p:spTree>
    <p:extLst>
      <p:ext uri="{BB962C8B-B14F-4D97-AF65-F5344CB8AC3E}">
        <p14:creationId xmlns:p14="http://schemas.microsoft.com/office/powerpoint/2010/main" val="3823033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17D86-5EAE-0830-74AE-80A095F04C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FAAED1-D2C1-301A-867B-D032EF4820A3}"/>
              </a:ext>
            </a:extLst>
          </p:cNvPr>
          <p:cNvSpPr>
            <a:spLocks noGrp="1"/>
          </p:cNvSpPr>
          <p:nvPr>
            <p:ph idx="1"/>
          </p:nvPr>
        </p:nvSpPr>
        <p:spPr>
          <a:xfrm>
            <a:off x="457200" y="1417638"/>
            <a:ext cx="11089532" cy="5051256"/>
          </a:xfrm>
        </p:spPr>
        <p:txBody>
          <a:bodyPr>
            <a:noAutofit/>
          </a:bodyPr>
          <a:lstStyle/>
          <a:p>
            <a:pPr marL="0" indent="0">
              <a:buNone/>
            </a:pPr>
            <a:r>
              <a:rPr lang="en-IN" sz="2400" b="1" dirty="0"/>
              <a:t>2. S</a:t>
            </a:r>
            <a:r>
              <a:rPr lang="en-US" sz="2400" b="1" dirty="0"/>
              <a:t>ingle URL Phishing Detection Interface</a:t>
            </a:r>
          </a:p>
          <a:p>
            <a:pPr marL="0" indent="0">
              <a:buNone/>
            </a:pPr>
            <a:endParaRPr lang="en-US" sz="2400" b="1" dirty="0"/>
          </a:p>
          <a:p>
            <a:pPr marL="0" indent="0">
              <a:buNone/>
            </a:pP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DE1B79FD-6837-4DE5-40D9-8033D9566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7394632B-CC90-2CD3-3169-4D1ACE13CB0C}"/>
              </a:ext>
            </a:extLst>
          </p:cNvPr>
          <p:cNvSpPr>
            <a:spLocks noGrp="1"/>
          </p:cNvSpPr>
          <p:nvPr>
            <p:ph type="title"/>
          </p:nvPr>
        </p:nvSpPr>
        <p:spPr>
          <a:xfrm>
            <a:off x="457200" y="274638"/>
            <a:ext cx="8229600" cy="1143000"/>
          </a:xfrm>
        </p:spPr>
        <p:txBody>
          <a:bodyPr>
            <a:normAutofit/>
          </a:bodyPr>
          <a:lstStyle/>
          <a:p>
            <a:pPr algn="l"/>
            <a:r>
              <a:rPr lang="en-US" sz="3600" b="1" dirty="0"/>
              <a:t>Implementation Screenshots</a:t>
            </a:r>
            <a:endParaRPr lang="en-IN" sz="3600" b="1" dirty="0"/>
          </a:p>
        </p:txBody>
      </p:sp>
      <p:pic>
        <p:nvPicPr>
          <p:cNvPr id="9" name="Picture 8" descr="A screenshot of a computer&#10;&#10;AI-generated content may be incorrect.">
            <a:extLst>
              <a:ext uri="{FF2B5EF4-FFF2-40B4-BE49-F238E27FC236}">
                <a16:creationId xmlns:a16="http://schemas.microsoft.com/office/drawing/2014/main" id="{87D05A93-487D-AF8F-0C38-342EDAA5527C}"/>
              </a:ext>
            </a:extLst>
          </p:cNvPr>
          <p:cNvPicPr>
            <a:picLocks noChangeAspect="1"/>
          </p:cNvPicPr>
          <p:nvPr/>
        </p:nvPicPr>
        <p:blipFill>
          <a:blip r:embed="rId3"/>
          <a:stretch>
            <a:fillRect/>
          </a:stretch>
        </p:blipFill>
        <p:spPr>
          <a:xfrm>
            <a:off x="755780" y="2077435"/>
            <a:ext cx="8621485" cy="3959472"/>
          </a:xfrm>
          <a:prstGeom prst="rect">
            <a:avLst/>
          </a:prstGeom>
        </p:spPr>
      </p:pic>
    </p:spTree>
    <p:extLst>
      <p:ext uri="{BB962C8B-B14F-4D97-AF65-F5344CB8AC3E}">
        <p14:creationId xmlns:p14="http://schemas.microsoft.com/office/powerpoint/2010/main" val="1355383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4EDE-D231-22DF-1CD7-AC51A6226A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14DF1B-7D4A-7812-0AA7-3C7495A531EE}"/>
              </a:ext>
            </a:extLst>
          </p:cNvPr>
          <p:cNvSpPr>
            <a:spLocks noGrp="1"/>
          </p:cNvSpPr>
          <p:nvPr>
            <p:ph idx="1"/>
          </p:nvPr>
        </p:nvSpPr>
        <p:spPr>
          <a:xfrm>
            <a:off x="457200" y="1417638"/>
            <a:ext cx="11089532" cy="5051256"/>
          </a:xfrm>
        </p:spPr>
        <p:txBody>
          <a:bodyPr>
            <a:noAutofit/>
          </a:bodyPr>
          <a:lstStyle/>
          <a:p>
            <a:pPr marL="0" indent="0">
              <a:buNone/>
            </a:pPr>
            <a:r>
              <a:rPr lang="en-IN" sz="2400" b="1" dirty="0"/>
              <a:t>3. S</a:t>
            </a:r>
            <a:r>
              <a:rPr lang="en-US" sz="2400" b="1" dirty="0"/>
              <a:t>ingle Phishing URL detection</a:t>
            </a:r>
          </a:p>
          <a:p>
            <a:pPr marL="0" indent="0">
              <a:buNone/>
            </a:pPr>
            <a:endParaRPr lang="en-US" sz="2400" b="1" dirty="0"/>
          </a:p>
          <a:p>
            <a:pPr marL="0" indent="0">
              <a:buNone/>
            </a:pP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3CA80C85-AF7B-0B51-D935-BFB89E41F4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FFCFE11F-F559-CDFA-AD9E-A7E537BB777D}"/>
              </a:ext>
            </a:extLst>
          </p:cNvPr>
          <p:cNvSpPr>
            <a:spLocks noGrp="1"/>
          </p:cNvSpPr>
          <p:nvPr>
            <p:ph type="title"/>
          </p:nvPr>
        </p:nvSpPr>
        <p:spPr>
          <a:xfrm>
            <a:off x="457200" y="274638"/>
            <a:ext cx="8229600" cy="1143000"/>
          </a:xfrm>
        </p:spPr>
        <p:txBody>
          <a:bodyPr>
            <a:normAutofit/>
          </a:bodyPr>
          <a:lstStyle/>
          <a:p>
            <a:pPr algn="l"/>
            <a:r>
              <a:rPr lang="en-US" sz="3600" b="1" dirty="0"/>
              <a:t>Implementation Screenshots</a:t>
            </a:r>
            <a:endParaRPr lang="en-IN" sz="3600" b="1" dirty="0"/>
          </a:p>
        </p:txBody>
      </p:sp>
      <p:pic>
        <p:nvPicPr>
          <p:cNvPr id="5" name="Picture 4" descr="A screenshot of a computer&#10;&#10;AI-generated content may be incorrect.">
            <a:extLst>
              <a:ext uri="{FF2B5EF4-FFF2-40B4-BE49-F238E27FC236}">
                <a16:creationId xmlns:a16="http://schemas.microsoft.com/office/drawing/2014/main" id="{4C686D64-07FE-D6D1-0A35-245F14E39EDA}"/>
              </a:ext>
            </a:extLst>
          </p:cNvPr>
          <p:cNvPicPr>
            <a:picLocks noChangeAspect="1"/>
          </p:cNvPicPr>
          <p:nvPr/>
        </p:nvPicPr>
        <p:blipFill>
          <a:blip r:embed="rId3"/>
          <a:stretch>
            <a:fillRect/>
          </a:stretch>
        </p:blipFill>
        <p:spPr>
          <a:xfrm>
            <a:off x="731907" y="1959434"/>
            <a:ext cx="8729334" cy="4356651"/>
          </a:xfrm>
          <a:prstGeom prst="rect">
            <a:avLst/>
          </a:prstGeom>
        </p:spPr>
      </p:pic>
    </p:spTree>
    <p:extLst>
      <p:ext uri="{BB962C8B-B14F-4D97-AF65-F5344CB8AC3E}">
        <p14:creationId xmlns:p14="http://schemas.microsoft.com/office/powerpoint/2010/main" val="19777149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48D4-D586-3FCB-5A75-F45990C5C0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8DF49D-BF32-07B3-BBD1-6268D50AEA4F}"/>
              </a:ext>
            </a:extLst>
          </p:cNvPr>
          <p:cNvSpPr>
            <a:spLocks noGrp="1"/>
          </p:cNvSpPr>
          <p:nvPr>
            <p:ph idx="1"/>
          </p:nvPr>
        </p:nvSpPr>
        <p:spPr>
          <a:xfrm>
            <a:off x="457200" y="699796"/>
            <a:ext cx="11089532" cy="5769098"/>
          </a:xfrm>
        </p:spPr>
        <p:txBody>
          <a:bodyPr>
            <a:noAutofit/>
          </a:bodyPr>
          <a:lstStyle/>
          <a:p>
            <a:pPr marL="0" indent="0">
              <a:buNone/>
            </a:pPr>
            <a:r>
              <a:rPr lang="en-IN" sz="2400" b="1" dirty="0"/>
              <a:t>4. Bulk URL Analysis Interface</a:t>
            </a:r>
            <a:endParaRPr lang="en-US" sz="2400" b="1" dirty="0"/>
          </a:p>
          <a:p>
            <a:pPr marL="0" indent="0">
              <a:buNone/>
            </a:pPr>
            <a:endParaRPr lang="en-US" sz="2400" b="1" dirty="0"/>
          </a:p>
          <a:p>
            <a:pPr marL="0" indent="0">
              <a:buNone/>
            </a:pP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27DE9CD3-1931-E769-5249-8D829F517F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shot of a computer&#10;&#10;AI-generated content may be incorrect.">
            <a:extLst>
              <a:ext uri="{FF2B5EF4-FFF2-40B4-BE49-F238E27FC236}">
                <a16:creationId xmlns:a16="http://schemas.microsoft.com/office/drawing/2014/main" id="{472B2D92-0B5D-27C7-8E33-2CE24B831FC3}"/>
              </a:ext>
            </a:extLst>
          </p:cNvPr>
          <p:cNvPicPr>
            <a:picLocks noChangeAspect="1"/>
          </p:cNvPicPr>
          <p:nvPr/>
        </p:nvPicPr>
        <p:blipFill>
          <a:blip r:embed="rId3"/>
          <a:stretch>
            <a:fillRect/>
          </a:stretch>
        </p:blipFill>
        <p:spPr>
          <a:xfrm>
            <a:off x="806169" y="1280953"/>
            <a:ext cx="3607212" cy="4992487"/>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36D36A69-B1C2-3474-B772-E02C8E2842D8}"/>
              </a:ext>
            </a:extLst>
          </p:cNvPr>
          <p:cNvPicPr>
            <a:picLocks noChangeAspect="1"/>
          </p:cNvPicPr>
          <p:nvPr/>
        </p:nvPicPr>
        <p:blipFill>
          <a:blip r:embed="rId4"/>
          <a:stretch>
            <a:fillRect/>
          </a:stretch>
        </p:blipFill>
        <p:spPr>
          <a:xfrm>
            <a:off x="4609322" y="1280954"/>
            <a:ext cx="7122303" cy="4992486"/>
          </a:xfrm>
          <a:prstGeom prst="rect">
            <a:avLst/>
          </a:prstGeom>
        </p:spPr>
      </p:pic>
    </p:spTree>
    <p:extLst>
      <p:ext uri="{BB962C8B-B14F-4D97-AF65-F5344CB8AC3E}">
        <p14:creationId xmlns:p14="http://schemas.microsoft.com/office/powerpoint/2010/main" val="17165343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87DC5-7293-8B75-CB6C-9E73275D89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879458-2907-A163-D189-4E01AC40F40A}"/>
              </a:ext>
            </a:extLst>
          </p:cNvPr>
          <p:cNvSpPr>
            <a:spLocks noGrp="1"/>
          </p:cNvSpPr>
          <p:nvPr>
            <p:ph idx="1"/>
          </p:nvPr>
        </p:nvSpPr>
        <p:spPr>
          <a:xfrm>
            <a:off x="457200" y="830425"/>
            <a:ext cx="11089532" cy="5645020"/>
          </a:xfrm>
        </p:spPr>
        <p:txBody>
          <a:bodyPr>
            <a:noAutofit/>
          </a:bodyPr>
          <a:lstStyle/>
          <a:p>
            <a:pPr marL="0" indent="0">
              <a:buNone/>
            </a:pPr>
            <a:r>
              <a:rPr lang="en-IN" sz="2400" b="1" dirty="0"/>
              <a:t>5. Audit Reports Page</a:t>
            </a:r>
            <a:endParaRPr lang="en-US" sz="2400" b="1" dirty="0"/>
          </a:p>
          <a:p>
            <a:pPr marL="0" indent="0">
              <a:buNone/>
            </a:pPr>
            <a:endParaRPr lang="en-US" sz="2400" b="1" dirty="0"/>
          </a:p>
          <a:p>
            <a:pPr marL="0" indent="0">
              <a:buNone/>
            </a:pP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FEBCA03D-AECF-73FC-79A4-7E1005873F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shot of a computer&#10;&#10;AI-generated content may be incorrect.">
            <a:extLst>
              <a:ext uri="{FF2B5EF4-FFF2-40B4-BE49-F238E27FC236}">
                <a16:creationId xmlns:a16="http://schemas.microsoft.com/office/drawing/2014/main" id="{06D337D7-C116-F791-769E-07A80819113A}"/>
              </a:ext>
            </a:extLst>
          </p:cNvPr>
          <p:cNvPicPr>
            <a:picLocks noChangeAspect="1"/>
          </p:cNvPicPr>
          <p:nvPr/>
        </p:nvPicPr>
        <p:blipFill>
          <a:blip r:embed="rId3"/>
          <a:stretch>
            <a:fillRect/>
          </a:stretch>
        </p:blipFill>
        <p:spPr>
          <a:xfrm>
            <a:off x="830424" y="1357826"/>
            <a:ext cx="9333658" cy="5040746"/>
          </a:xfrm>
          <a:prstGeom prst="rect">
            <a:avLst/>
          </a:prstGeom>
        </p:spPr>
      </p:pic>
    </p:spTree>
    <p:extLst>
      <p:ext uri="{BB962C8B-B14F-4D97-AF65-F5344CB8AC3E}">
        <p14:creationId xmlns:p14="http://schemas.microsoft.com/office/powerpoint/2010/main" val="1739310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58223-2DDA-1929-E11B-08E26778A4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6C355B-8E7D-A4AE-81C3-463A072B92E2}"/>
              </a:ext>
            </a:extLst>
          </p:cNvPr>
          <p:cNvSpPr>
            <a:spLocks noGrp="1"/>
          </p:cNvSpPr>
          <p:nvPr>
            <p:ph idx="1"/>
          </p:nvPr>
        </p:nvSpPr>
        <p:spPr>
          <a:xfrm>
            <a:off x="457200" y="830425"/>
            <a:ext cx="11089532" cy="5645020"/>
          </a:xfrm>
        </p:spPr>
        <p:txBody>
          <a:bodyPr>
            <a:noAutofit/>
          </a:bodyPr>
          <a:lstStyle/>
          <a:p>
            <a:pPr marL="0" indent="0">
              <a:buNone/>
            </a:pPr>
            <a:r>
              <a:rPr lang="en-IN" sz="2400" b="1" dirty="0"/>
              <a:t>6. Applying Filter and Expanding Batch URLs</a:t>
            </a:r>
            <a:endParaRPr lang="en-US" sz="2400" b="1" dirty="0"/>
          </a:p>
          <a:p>
            <a:pPr marL="0" indent="0">
              <a:buNone/>
            </a:pPr>
            <a:endParaRPr lang="en-US" sz="2400" b="1" dirty="0"/>
          </a:p>
          <a:p>
            <a:pPr marL="0" indent="0">
              <a:buNone/>
            </a:pP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0C29EB25-0AFF-C6D2-6DE2-F4F0464C9D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computer&#10;&#10;AI-generated content may be incorrect.">
            <a:extLst>
              <a:ext uri="{FF2B5EF4-FFF2-40B4-BE49-F238E27FC236}">
                <a16:creationId xmlns:a16="http://schemas.microsoft.com/office/drawing/2014/main" id="{9A798C0D-2577-5C2E-86B0-C1DDD2021A92}"/>
              </a:ext>
            </a:extLst>
          </p:cNvPr>
          <p:cNvPicPr>
            <a:picLocks noChangeAspect="1"/>
          </p:cNvPicPr>
          <p:nvPr/>
        </p:nvPicPr>
        <p:blipFill>
          <a:blip r:embed="rId3"/>
          <a:stretch>
            <a:fillRect/>
          </a:stretch>
        </p:blipFill>
        <p:spPr>
          <a:xfrm>
            <a:off x="858416" y="1425969"/>
            <a:ext cx="9445625" cy="4904459"/>
          </a:xfrm>
          <a:prstGeom prst="rect">
            <a:avLst/>
          </a:prstGeom>
        </p:spPr>
      </p:pic>
    </p:spTree>
    <p:extLst>
      <p:ext uri="{BB962C8B-B14F-4D97-AF65-F5344CB8AC3E}">
        <p14:creationId xmlns:p14="http://schemas.microsoft.com/office/powerpoint/2010/main" val="4459430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FBE78-3E31-1DF3-81C2-BB560EBE2A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2F314D-1AA4-4FD0-7214-952CD5BD3A15}"/>
              </a:ext>
            </a:extLst>
          </p:cNvPr>
          <p:cNvSpPr>
            <a:spLocks noGrp="1"/>
          </p:cNvSpPr>
          <p:nvPr>
            <p:ph idx="1"/>
          </p:nvPr>
        </p:nvSpPr>
        <p:spPr>
          <a:xfrm>
            <a:off x="457200" y="830425"/>
            <a:ext cx="11089532" cy="5645020"/>
          </a:xfrm>
        </p:spPr>
        <p:txBody>
          <a:bodyPr>
            <a:noAutofit/>
          </a:bodyPr>
          <a:lstStyle/>
          <a:p>
            <a:pPr marL="0" indent="0">
              <a:buNone/>
            </a:pPr>
            <a:r>
              <a:rPr lang="en-IN" sz="2400" b="1" dirty="0"/>
              <a:t>6. Database (MongoDB Atlas)</a:t>
            </a:r>
            <a:endParaRPr lang="en-US" sz="2400" b="1" dirty="0"/>
          </a:p>
          <a:p>
            <a:pPr marL="0" indent="0">
              <a:buNone/>
            </a:pPr>
            <a:endParaRPr lang="en-US" sz="2400" b="1" dirty="0"/>
          </a:p>
          <a:p>
            <a:pPr marL="0" indent="0">
              <a:buNone/>
            </a:pPr>
            <a:endParaRPr lang="en-IN" sz="2400" b="1"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	        	    </a:t>
            </a:r>
            <a:endParaRPr lang="en-US" sz="1800" dirty="0"/>
          </a:p>
          <a:p>
            <a:pPr marL="0" indent="0">
              <a:buNone/>
            </a:pPr>
            <a:endParaRPr lang="en-IN" sz="1800" b="1" dirty="0"/>
          </a:p>
        </p:txBody>
      </p:sp>
      <p:pic>
        <p:nvPicPr>
          <p:cNvPr id="4" name="Picture 3" descr="PES University Know All about the Indian UGC-Approved University">
            <a:extLst>
              <a:ext uri="{FF2B5EF4-FFF2-40B4-BE49-F238E27FC236}">
                <a16:creationId xmlns:a16="http://schemas.microsoft.com/office/drawing/2014/main" id="{7DFD21A7-410F-5B27-7F47-434DCD3D1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shot of a computer&#10;&#10;AI-generated content may be incorrect.">
            <a:extLst>
              <a:ext uri="{FF2B5EF4-FFF2-40B4-BE49-F238E27FC236}">
                <a16:creationId xmlns:a16="http://schemas.microsoft.com/office/drawing/2014/main" id="{21B376C4-C3E0-017B-45B0-19C115B4CF5B}"/>
              </a:ext>
            </a:extLst>
          </p:cNvPr>
          <p:cNvPicPr>
            <a:picLocks noChangeAspect="1"/>
          </p:cNvPicPr>
          <p:nvPr/>
        </p:nvPicPr>
        <p:blipFill>
          <a:blip r:embed="rId3"/>
          <a:stretch>
            <a:fillRect/>
          </a:stretch>
        </p:blipFill>
        <p:spPr>
          <a:xfrm>
            <a:off x="792854" y="1576305"/>
            <a:ext cx="8550381" cy="41532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8329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F9B6-47FB-4731-3F32-4DD1F6EDFDC1}"/>
              </a:ext>
            </a:extLst>
          </p:cNvPr>
          <p:cNvSpPr>
            <a:spLocks noGrp="1"/>
          </p:cNvSpPr>
          <p:nvPr>
            <p:ph type="title"/>
          </p:nvPr>
        </p:nvSpPr>
        <p:spPr>
          <a:xfrm>
            <a:off x="457200" y="274638"/>
            <a:ext cx="8229600" cy="938342"/>
          </a:xfrm>
        </p:spPr>
        <p:txBody>
          <a:bodyPr>
            <a:normAutofit/>
          </a:bodyPr>
          <a:lstStyle/>
          <a:p>
            <a:pPr algn="l"/>
            <a:r>
              <a:rPr lang="en-US" sz="3600" b="1" dirty="0"/>
              <a:t>Part A: Model Testing</a:t>
            </a:r>
            <a:endParaRPr lang="en-IN" sz="3600" dirty="0"/>
          </a:p>
        </p:txBody>
      </p:sp>
      <p:sp>
        <p:nvSpPr>
          <p:cNvPr id="3" name="Content Placeholder 2">
            <a:extLst>
              <a:ext uri="{FF2B5EF4-FFF2-40B4-BE49-F238E27FC236}">
                <a16:creationId xmlns:a16="http://schemas.microsoft.com/office/drawing/2014/main" id="{BFA70FA8-6A03-BF00-1D7C-71E18589B555}"/>
              </a:ext>
            </a:extLst>
          </p:cNvPr>
          <p:cNvSpPr>
            <a:spLocks noGrp="1"/>
          </p:cNvSpPr>
          <p:nvPr>
            <p:ph idx="1"/>
          </p:nvPr>
        </p:nvSpPr>
        <p:spPr>
          <a:xfrm>
            <a:off x="457200" y="1212980"/>
            <a:ext cx="9395927" cy="4913183"/>
          </a:xfrm>
        </p:spPr>
        <p:txBody>
          <a:bodyPr>
            <a:normAutofit/>
          </a:bodyPr>
          <a:lstStyle/>
          <a:p>
            <a:pPr marL="0" indent="0">
              <a:buNone/>
            </a:pPr>
            <a:r>
              <a:rPr lang="en-US" sz="2400" dirty="0"/>
              <a:t>To ensure accuracy and robustness, </a:t>
            </a:r>
            <a:r>
              <a:rPr lang="en-US" sz="2400" b="1" dirty="0"/>
              <a:t>multiple machine learning models</a:t>
            </a:r>
            <a:r>
              <a:rPr lang="en-US" sz="2400" dirty="0"/>
              <a:t> were evaluated using </a:t>
            </a:r>
            <a:r>
              <a:rPr lang="en-US" sz="2400" b="1" dirty="0"/>
              <a:t>all essential performance metrics</a:t>
            </a:r>
            <a:r>
              <a:rPr lang="en-US" sz="2400" dirty="0"/>
              <a:t>.</a:t>
            </a:r>
          </a:p>
          <a:p>
            <a:pPr marL="0" indent="0">
              <a:buNone/>
            </a:pPr>
            <a:r>
              <a:rPr lang="en-IN" sz="2400" b="1" dirty="0"/>
              <a:t>Evaluation Metrics Used:</a:t>
            </a:r>
          </a:p>
          <a:p>
            <a:pPr marL="0" indent="0">
              <a:buNone/>
            </a:pPr>
            <a:endParaRPr lang="en-IN" sz="2400" dirty="0"/>
          </a:p>
          <a:p>
            <a:pPr marL="0" indent="0">
              <a:buNone/>
            </a:pPr>
            <a:endParaRPr lang="en-IN" sz="2400" dirty="0"/>
          </a:p>
        </p:txBody>
      </p:sp>
      <p:pic>
        <p:nvPicPr>
          <p:cNvPr id="4" name="Picture 3" descr="PES University Know All about the Indian UGC-Approved University">
            <a:extLst>
              <a:ext uri="{FF2B5EF4-FFF2-40B4-BE49-F238E27FC236}">
                <a16:creationId xmlns:a16="http://schemas.microsoft.com/office/drawing/2014/main" id="{45FD5C26-0CBF-1A2A-972E-7C51B114C0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96521A56-5E02-16FD-B7BE-FEF830B69AB5}"/>
              </a:ext>
            </a:extLst>
          </p:cNvPr>
          <p:cNvGraphicFramePr>
            <a:graphicFrameLocks noGrp="1"/>
          </p:cNvGraphicFramePr>
          <p:nvPr>
            <p:extLst>
              <p:ext uri="{D42A27DB-BD31-4B8C-83A1-F6EECF244321}">
                <p14:modId xmlns:p14="http://schemas.microsoft.com/office/powerpoint/2010/main" val="1273676028"/>
              </p:ext>
            </p:extLst>
          </p:nvPr>
        </p:nvGraphicFramePr>
        <p:xfrm>
          <a:off x="1120790" y="2588656"/>
          <a:ext cx="9526890" cy="3245628"/>
        </p:xfrm>
        <a:graphic>
          <a:graphicData uri="http://schemas.openxmlformats.org/drawingml/2006/table">
            <a:tbl>
              <a:tblPr/>
              <a:tblGrid>
                <a:gridCol w="1541130">
                  <a:extLst>
                    <a:ext uri="{9D8B030D-6E8A-4147-A177-3AD203B41FA5}">
                      <a16:colId xmlns:a16="http://schemas.microsoft.com/office/drawing/2014/main" val="778796106"/>
                    </a:ext>
                  </a:extLst>
                </a:gridCol>
                <a:gridCol w="2611120">
                  <a:extLst>
                    <a:ext uri="{9D8B030D-6E8A-4147-A177-3AD203B41FA5}">
                      <a16:colId xmlns:a16="http://schemas.microsoft.com/office/drawing/2014/main" val="3371753649"/>
                    </a:ext>
                  </a:extLst>
                </a:gridCol>
                <a:gridCol w="5374640">
                  <a:extLst>
                    <a:ext uri="{9D8B030D-6E8A-4147-A177-3AD203B41FA5}">
                      <a16:colId xmlns:a16="http://schemas.microsoft.com/office/drawing/2014/main" val="4124386324"/>
                    </a:ext>
                  </a:extLst>
                </a:gridCol>
              </a:tblGrid>
              <a:tr h="218302">
                <a:tc>
                  <a:txBody>
                    <a:bodyPr/>
                    <a:lstStyle/>
                    <a:p>
                      <a:pPr>
                        <a:buNone/>
                      </a:pPr>
                      <a:r>
                        <a:rPr lang="en-IN" sz="1600" b="1" dirty="0"/>
                        <a:t>Metric</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t>Should Be High or Low?</a:t>
                      </a:r>
                      <a:endParaRPr lang="en-US"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Why?</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2121099"/>
                  </a:ext>
                </a:extLst>
              </a:tr>
              <a:tr h="382979">
                <a:tc>
                  <a:txBody>
                    <a:bodyPr/>
                    <a:lstStyle/>
                    <a:p>
                      <a:pPr>
                        <a:buNone/>
                      </a:pPr>
                      <a:r>
                        <a:rPr lang="en-IN" sz="1600" b="1" dirty="0"/>
                        <a:t>Accuracy</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HIGH</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Indicates overall correctness of predictions.</a:t>
                      </a:r>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86309"/>
                  </a:ext>
                </a:extLst>
              </a:tr>
              <a:tr h="547657">
                <a:tc>
                  <a:txBody>
                    <a:bodyPr/>
                    <a:lstStyle/>
                    <a:p>
                      <a:pPr>
                        <a:buNone/>
                      </a:pPr>
                      <a:r>
                        <a:rPr lang="en-IN" sz="1600" b="1" dirty="0"/>
                        <a:t>F1-Score</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HIGH</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Balances precision and recall; best when both are strong.</a:t>
                      </a:r>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3478996"/>
                  </a:ext>
                </a:extLst>
              </a:tr>
              <a:tr h="712334">
                <a:tc>
                  <a:txBody>
                    <a:bodyPr/>
                    <a:lstStyle/>
                    <a:p>
                      <a:pPr>
                        <a:buNone/>
                      </a:pPr>
                      <a:r>
                        <a:rPr lang="en-IN" sz="1600" b="1" dirty="0"/>
                        <a:t>Precision</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HIGH</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High precision = fewer false alarms (less mislabeling legitimate URLs as phishing).</a:t>
                      </a:r>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9282097"/>
                  </a:ext>
                </a:extLst>
              </a:tr>
              <a:tr h="547657">
                <a:tc>
                  <a:txBody>
                    <a:bodyPr/>
                    <a:lstStyle/>
                    <a:p>
                      <a:pPr>
                        <a:buNone/>
                      </a:pPr>
                      <a:r>
                        <a:rPr lang="en-IN" sz="1600" b="1" dirty="0"/>
                        <a:t>Recall</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HIGH (Most Important)</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High recall = detects majority of phishing URLs → avoids false negatives.</a:t>
                      </a:r>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7833868"/>
                  </a:ext>
                </a:extLst>
              </a:tr>
              <a:tr h="712334">
                <a:tc>
                  <a:txBody>
                    <a:bodyPr/>
                    <a:lstStyle/>
                    <a:p>
                      <a:pPr>
                        <a:buNone/>
                      </a:pPr>
                      <a:r>
                        <a:rPr lang="en-IN" sz="1600" b="1" dirty="0"/>
                        <a:t>ROC-AUC</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HIGH</a:t>
                      </a:r>
                      <a:endParaRPr lang="en-IN" sz="1600" dirty="0"/>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Measures probability-based discrimination; higher = better model separation.</a:t>
                      </a:r>
                    </a:p>
                  </a:txBody>
                  <a:tcPr marL="79403" marR="79403" marT="39701" marB="397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785692"/>
                  </a:ext>
                </a:extLst>
              </a:tr>
            </a:tbl>
          </a:graphicData>
        </a:graphic>
      </p:graphicFrame>
    </p:spTree>
    <p:extLst>
      <p:ext uri="{BB962C8B-B14F-4D97-AF65-F5344CB8AC3E}">
        <p14:creationId xmlns:p14="http://schemas.microsoft.com/office/powerpoint/2010/main" val="33180003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167AB-7DFA-A3B5-E087-3C55DCC8E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F58AC-BFA3-6196-5B3D-07BD7E65F9FC}"/>
              </a:ext>
            </a:extLst>
          </p:cNvPr>
          <p:cNvSpPr>
            <a:spLocks noGrp="1"/>
          </p:cNvSpPr>
          <p:nvPr>
            <p:ph type="title"/>
          </p:nvPr>
        </p:nvSpPr>
        <p:spPr>
          <a:xfrm>
            <a:off x="558800" y="274638"/>
            <a:ext cx="8128000" cy="938342"/>
          </a:xfrm>
        </p:spPr>
        <p:txBody>
          <a:bodyPr>
            <a:normAutofit/>
          </a:bodyPr>
          <a:lstStyle/>
          <a:p>
            <a:pPr algn="l"/>
            <a:r>
              <a:rPr lang="en-IN" sz="3600" b="1" dirty="0"/>
              <a:t>Model Testing Results Summary</a:t>
            </a:r>
          </a:p>
        </p:txBody>
      </p:sp>
      <p:sp>
        <p:nvSpPr>
          <p:cNvPr id="3" name="Content Placeholder 2">
            <a:extLst>
              <a:ext uri="{FF2B5EF4-FFF2-40B4-BE49-F238E27FC236}">
                <a16:creationId xmlns:a16="http://schemas.microsoft.com/office/drawing/2014/main" id="{7515F733-2D6D-BB18-CA7C-E078ABDF0182}"/>
              </a:ext>
            </a:extLst>
          </p:cNvPr>
          <p:cNvSpPr>
            <a:spLocks noGrp="1"/>
          </p:cNvSpPr>
          <p:nvPr>
            <p:ph idx="1"/>
          </p:nvPr>
        </p:nvSpPr>
        <p:spPr>
          <a:xfrm>
            <a:off x="558800" y="1212980"/>
            <a:ext cx="10955176" cy="4913183"/>
          </a:xfrm>
        </p:spPr>
        <p:txBody>
          <a:bodyPr>
            <a:normAutofit/>
          </a:bodyPr>
          <a:lstStyle/>
          <a:p>
            <a:pPr marL="0" indent="0">
              <a:buNone/>
            </a:pPr>
            <a:r>
              <a:rPr lang="en-US" sz="2400" dirty="0"/>
              <a:t>Each model was assessed based on accuracy, precision, recall, F1-score, and ROC–AUC.</a:t>
            </a:r>
          </a:p>
          <a:p>
            <a:pPr marL="0" indent="0">
              <a:buNone/>
            </a:pPr>
            <a:endParaRPr lang="en-IN" sz="2400" b="1" dirty="0"/>
          </a:p>
          <a:p>
            <a:pPr marL="0" indent="0">
              <a:buNone/>
            </a:pPr>
            <a:r>
              <a:rPr lang="en-IN" sz="2400" b="1" dirty="0"/>
              <a:t>Models Evaluated :</a:t>
            </a:r>
            <a:endParaRPr lang="en-IN" sz="2400" dirty="0"/>
          </a:p>
          <a:p>
            <a:pPr marL="0" indent="0">
              <a:buNone/>
            </a:pPr>
            <a:endParaRPr lang="en-IN" sz="2400" dirty="0"/>
          </a:p>
          <a:p>
            <a:pPr marL="0" indent="0">
              <a:buNone/>
            </a:pPr>
            <a:endParaRPr lang="en-IN" sz="2400" dirty="0"/>
          </a:p>
        </p:txBody>
      </p:sp>
      <p:pic>
        <p:nvPicPr>
          <p:cNvPr id="4" name="Picture 3" descr="PES University Know All about the Indian UGC-Approved University">
            <a:extLst>
              <a:ext uri="{FF2B5EF4-FFF2-40B4-BE49-F238E27FC236}">
                <a16:creationId xmlns:a16="http://schemas.microsoft.com/office/drawing/2014/main" id="{A673B9F1-8ED3-7B8F-C1C1-60C61C1D3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screenshot of a computer screen&#10;&#10;AI-generated content may be incorrect.">
            <a:extLst>
              <a:ext uri="{FF2B5EF4-FFF2-40B4-BE49-F238E27FC236}">
                <a16:creationId xmlns:a16="http://schemas.microsoft.com/office/drawing/2014/main" id="{C92839CA-9553-24D3-83B6-84101F367258}"/>
              </a:ext>
            </a:extLst>
          </p:cNvPr>
          <p:cNvPicPr>
            <a:picLocks noChangeAspect="1"/>
          </p:cNvPicPr>
          <p:nvPr/>
        </p:nvPicPr>
        <p:blipFill>
          <a:blip r:embed="rId3"/>
          <a:stretch>
            <a:fillRect/>
          </a:stretch>
        </p:blipFill>
        <p:spPr>
          <a:xfrm>
            <a:off x="674849" y="2695691"/>
            <a:ext cx="9479280" cy="2668140"/>
          </a:xfrm>
          <a:prstGeom prst="rect">
            <a:avLst/>
          </a:prstGeom>
        </p:spPr>
      </p:pic>
    </p:spTree>
    <p:extLst>
      <p:ext uri="{BB962C8B-B14F-4D97-AF65-F5344CB8AC3E}">
        <p14:creationId xmlns:p14="http://schemas.microsoft.com/office/powerpoint/2010/main" val="3514300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AF57A-C91E-95D7-DB11-C8377D290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C8DCC-3C46-CE08-C3CB-D9A12D844B7C}"/>
              </a:ext>
            </a:extLst>
          </p:cNvPr>
          <p:cNvSpPr>
            <a:spLocks noGrp="1"/>
          </p:cNvSpPr>
          <p:nvPr>
            <p:ph type="title"/>
          </p:nvPr>
        </p:nvSpPr>
        <p:spPr>
          <a:xfrm>
            <a:off x="457200" y="274638"/>
            <a:ext cx="8229600" cy="938342"/>
          </a:xfrm>
        </p:spPr>
        <p:txBody>
          <a:bodyPr>
            <a:normAutofit/>
          </a:bodyPr>
          <a:lstStyle/>
          <a:p>
            <a:pPr algn="l"/>
            <a:r>
              <a:rPr lang="en-IN" sz="3600" b="1" dirty="0"/>
              <a:t>Comparative Performance Overview </a:t>
            </a:r>
          </a:p>
        </p:txBody>
      </p:sp>
      <p:sp>
        <p:nvSpPr>
          <p:cNvPr id="3" name="Content Placeholder 2">
            <a:extLst>
              <a:ext uri="{FF2B5EF4-FFF2-40B4-BE49-F238E27FC236}">
                <a16:creationId xmlns:a16="http://schemas.microsoft.com/office/drawing/2014/main" id="{FFED17FC-A474-1B8C-76FC-570A2FFF45A2}"/>
              </a:ext>
            </a:extLst>
          </p:cNvPr>
          <p:cNvSpPr>
            <a:spLocks noGrp="1"/>
          </p:cNvSpPr>
          <p:nvPr>
            <p:ph idx="1"/>
          </p:nvPr>
        </p:nvSpPr>
        <p:spPr>
          <a:xfrm>
            <a:off x="457200" y="1212980"/>
            <a:ext cx="9395927" cy="4913183"/>
          </a:xfrm>
        </p:spPr>
        <p:txBody>
          <a:bodyPr>
            <a:normAutofit/>
          </a:bodyPr>
          <a:lstStyle/>
          <a:p>
            <a:endParaRPr lang="en-IN" sz="2400" dirty="0"/>
          </a:p>
          <a:p>
            <a:pPr marL="0" indent="0">
              <a:buNone/>
            </a:pPr>
            <a:endParaRPr lang="en-IN" sz="2400" dirty="0"/>
          </a:p>
        </p:txBody>
      </p:sp>
      <p:pic>
        <p:nvPicPr>
          <p:cNvPr id="4" name="Picture 3" descr="PES University Know All about the Indian UGC-Approved University">
            <a:extLst>
              <a:ext uri="{FF2B5EF4-FFF2-40B4-BE49-F238E27FC236}">
                <a16:creationId xmlns:a16="http://schemas.microsoft.com/office/drawing/2014/main" id="{AECE30DE-0130-1529-ACC7-BBC1977D4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9BB8AB52-BD79-3D39-15E0-59D351825BC8}"/>
              </a:ext>
            </a:extLst>
          </p:cNvPr>
          <p:cNvGraphicFramePr>
            <a:graphicFrameLocks noGrp="1"/>
          </p:cNvGraphicFramePr>
          <p:nvPr>
            <p:extLst>
              <p:ext uri="{D42A27DB-BD31-4B8C-83A1-F6EECF244321}">
                <p14:modId xmlns:p14="http://schemas.microsoft.com/office/powerpoint/2010/main" val="2112595415"/>
              </p:ext>
            </p:extLst>
          </p:nvPr>
        </p:nvGraphicFramePr>
        <p:xfrm>
          <a:off x="589280" y="1600200"/>
          <a:ext cx="10363199" cy="4525962"/>
        </p:xfrm>
        <a:graphic>
          <a:graphicData uri="http://schemas.openxmlformats.org/drawingml/2006/table">
            <a:tbl>
              <a:tblPr/>
              <a:tblGrid>
                <a:gridCol w="1480457">
                  <a:extLst>
                    <a:ext uri="{9D8B030D-6E8A-4147-A177-3AD203B41FA5}">
                      <a16:colId xmlns:a16="http://schemas.microsoft.com/office/drawing/2014/main" val="1254204490"/>
                    </a:ext>
                  </a:extLst>
                </a:gridCol>
                <a:gridCol w="896983">
                  <a:extLst>
                    <a:ext uri="{9D8B030D-6E8A-4147-A177-3AD203B41FA5}">
                      <a16:colId xmlns:a16="http://schemas.microsoft.com/office/drawing/2014/main" val="4200187639"/>
                    </a:ext>
                  </a:extLst>
                </a:gridCol>
                <a:gridCol w="985520">
                  <a:extLst>
                    <a:ext uri="{9D8B030D-6E8A-4147-A177-3AD203B41FA5}">
                      <a16:colId xmlns:a16="http://schemas.microsoft.com/office/drawing/2014/main" val="2704349498"/>
                    </a:ext>
                  </a:extLst>
                </a:gridCol>
                <a:gridCol w="1076960">
                  <a:extLst>
                    <a:ext uri="{9D8B030D-6E8A-4147-A177-3AD203B41FA5}">
                      <a16:colId xmlns:a16="http://schemas.microsoft.com/office/drawing/2014/main" val="889663452"/>
                    </a:ext>
                  </a:extLst>
                </a:gridCol>
                <a:gridCol w="985520">
                  <a:extLst>
                    <a:ext uri="{9D8B030D-6E8A-4147-A177-3AD203B41FA5}">
                      <a16:colId xmlns:a16="http://schemas.microsoft.com/office/drawing/2014/main" val="1082960009"/>
                    </a:ext>
                  </a:extLst>
                </a:gridCol>
                <a:gridCol w="894080">
                  <a:extLst>
                    <a:ext uri="{9D8B030D-6E8A-4147-A177-3AD203B41FA5}">
                      <a16:colId xmlns:a16="http://schemas.microsoft.com/office/drawing/2014/main" val="2753465052"/>
                    </a:ext>
                  </a:extLst>
                </a:gridCol>
                <a:gridCol w="4043679">
                  <a:extLst>
                    <a:ext uri="{9D8B030D-6E8A-4147-A177-3AD203B41FA5}">
                      <a16:colId xmlns:a16="http://schemas.microsoft.com/office/drawing/2014/main" val="3352123973"/>
                    </a:ext>
                  </a:extLst>
                </a:gridCol>
              </a:tblGrid>
              <a:tr h="215522">
                <a:tc>
                  <a:txBody>
                    <a:bodyPr/>
                    <a:lstStyle/>
                    <a:p>
                      <a:pPr algn="ctr">
                        <a:buNone/>
                      </a:pPr>
                      <a:r>
                        <a:rPr lang="en-IN" sz="1100" b="1" dirty="0">
                          <a:ln>
                            <a:noFill/>
                          </a:ln>
                        </a:rPr>
                        <a:t>Model</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Accuracy</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F1-Score</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Precision</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Recall</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ROC-AUC</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Performance Summary</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87056320"/>
                  </a:ext>
                </a:extLst>
              </a:tr>
              <a:tr h="603462">
                <a:tc>
                  <a:txBody>
                    <a:bodyPr/>
                    <a:lstStyle/>
                    <a:p>
                      <a:pPr algn="ctr">
                        <a:buNone/>
                      </a:pPr>
                      <a:r>
                        <a:rPr lang="en-IN" sz="1100" b="1" dirty="0">
                          <a:ln>
                            <a:noFill/>
                          </a:ln>
                        </a:rPr>
                        <a:t>XGBoost</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0.9400</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0.9374</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0.9677</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0.9089</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0.9732</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Best balanced performance across all metrics; high precision &amp; recall.</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07482542"/>
                  </a:ext>
                </a:extLst>
              </a:tr>
              <a:tr h="538805">
                <a:tc>
                  <a:txBody>
                    <a:bodyPr/>
                    <a:lstStyle/>
                    <a:p>
                      <a:pPr algn="ctr">
                        <a:buNone/>
                      </a:pPr>
                      <a:r>
                        <a:rPr lang="en-IN" sz="1100" b="1" dirty="0">
                          <a:ln>
                            <a:noFill/>
                          </a:ln>
                        </a:rPr>
                        <a:t>MLP Neural Network</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0.9380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0.9352</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0.9665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0.9059</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0.9713</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Very competitive with XGBoost; stable deep-learning model.</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53079547"/>
                  </a:ext>
                </a:extLst>
              </a:tr>
              <a:tr h="409492">
                <a:tc>
                  <a:txBody>
                    <a:bodyPr/>
                    <a:lstStyle/>
                    <a:p>
                      <a:pPr algn="ctr">
                        <a:buNone/>
                      </a:pPr>
                      <a:r>
                        <a:rPr lang="en-IN" sz="1100" b="1" dirty="0">
                          <a:ln>
                            <a:noFill/>
                          </a:ln>
                        </a:rPr>
                        <a:t>Gradient Boosting</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0.9380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0.9353</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0.9655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0.9069</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0.9724</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High recall; excellent consistency across metrics.</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45717693"/>
                  </a:ext>
                </a:extLst>
              </a:tr>
              <a:tr h="474148">
                <a:tc>
                  <a:txBody>
                    <a:bodyPr/>
                    <a:lstStyle/>
                    <a:p>
                      <a:pPr algn="ctr">
                        <a:buNone/>
                      </a:pPr>
                      <a:r>
                        <a:rPr lang="en-IN" sz="1100" b="1" dirty="0">
                          <a:ln>
                            <a:noFill/>
                          </a:ln>
                        </a:rPr>
                        <a:t>LightGBM</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0.9380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0.9351</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0.9675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0.9049</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0.9730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High precision and strong AUC; efficient and robust.</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91410065"/>
                  </a:ext>
                </a:extLst>
              </a:tr>
              <a:tr h="474148">
                <a:tc>
                  <a:txBody>
                    <a:bodyPr/>
                    <a:lstStyle/>
                    <a:p>
                      <a:pPr algn="ctr">
                        <a:buNone/>
                      </a:pPr>
                      <a:r>
                        <a:rPr lang="en-IN" sz="1100" b="1" dirty="0">
                          <a:ln>
                            <a:noFill/>
                          </a:ln>
                        </a:rPr>
                        <a:t>K-Nearest Neighbors</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0.9375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0.9346</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0.9675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0.9038</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0.9635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Performs well; high precision but slightly lower recall.</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74850991"/>
                  </a:ext>
                </a:extLst>
              </a:tr>
              <a:tr h="668118">
                <a:tc>
                  <a:txBody>
                    <a:bodyPr/>
                    <a:lstStyle/>
                    <a:p>
                      <a:pPr algn="ctr">
                        <a:buNone/>
                      </a:pPr>
                      <a:r>
                        <a:rPr lang="en-IN" sz="1100" b="1" dirty="0">
                          <a:ln>
                            <a:noFill/>
                          </a:ln>
                        </a:rPr>
                        <a:t>Hybrid Autoencoder–XGBoost</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0.9375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0.9346</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0.9675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0.9038</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0.9734</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Best ROC–AUC among all; hybrid features improved probability separation.</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46132332"/>
                  </a:ext>
                </a:extLst>
              </a:tr>
              <a:tr h="538805">
                <a:tc>
                  <a:txBody>
                    <a:bodyPr/>
                    <a:lstStyle/>
                    <a:p>
                      <a:pPr algn="ctr">
                        <a:buNone/>
                      </a:pPr>
                      <a:r>
                        <a:rPr lang="en-IN" sz="1100" b="1" dirty="0">
                          <a:ln>
                            <a:noFill/>
                          </a:ln>
                        </a:rPr>
                        <a:t>Decision Tree</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0.9210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0.9168</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0.9560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0.8806</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0.9583</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Moderate performance; simple model with limited generalization.</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1266175"/>
                  </a:ext>
                </a:extLst>
              </a:tr>
              <a:tr h="603462">
                <a:tc>
                  <a:txBody>
                    <a:bodyPr/>
                    <a:lstStyle/>
                    <a:p>
                      <a:pPr algn="ctr">
                        <a:buNone/>
                      </a:pPr>
                      <a:r>
                        <a:rPr lang="en-IN" sz="1100" b="1" dirty="0">
                          <a:ln>
                            <a:noFill/>
                          </a:ln>
                        </a:rPr>
                        <a:t>Random Forest</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0.8840</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0.8674</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b="1" dirty="0">
                          <a:ln>
                            <a:noFill/>
                          </a:ln>
                        </a:rPr>
                        <a:t>0.9961</a:t>
                      </a:r>
                      <a:endParaRPr lang="en-IN" sz="1100" dirty="0">
                        <a:ln>
                          <a:noFill/>
                        </a:ln>
                      </a:endParaRP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0.7682</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IN" sz="1100" dirty="0">
                          <a:ln>
                            <a:noFill/>
                          </a:ln>
                        </a:rPr>
                        <a:t>0.9645</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buNone/>
                      </a:pPr>
                      <a:r>
                        <a:rPr lang="en-US" sz="1100" dirty="0">
                          <a:ln>
                            <a:noFill/>
                          </a:ln>
                        </a:rPr>
                        <a:t>Extremely high precision but weak recall; many phishing URLs missed.</a:t>
                      </a:r>
                    </a:p>
                  </a:txBody>
                  <a:tcPr marL="21552" marR="21552" marT="10776" marB="107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56266946"/>
                  </a:ext>
                </a:extLst>
              </a:tr>
            </a:tbl>
          </a:graphicData>
        </a:graphic>
      </p:graphicFrame>
    </p:spTree>
    <p:extLst>
      <p:ext uri="{BB962C8B-B14F-4D97-AF65-F5344CB8AC3E}">
        <p14:creationId xmlns:p14="http://schemas.microsoft.com/office/powerpoint/2010/main" val="19826267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781A0-AA55-B945-9C9A-725BD671B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C90AC-4FA2-91C9-EA72-55219FA10F49}"/>
              </a:ext>
            </a:extLst>
          </p:cNvPr>
          <p:cNvSpPr>
            <a:spLocks noGrp="1"/>
          </p:cNvSpPr>
          <p:nvPr>
            <p:ph type="title"/>
          </p:nvPr>
        </p:nvSpPr>
        <p:spPr>
          <a:xfrm>
            <a:off x="457200" y="274638"/>
            <a:ext cx="8229600" cy="938342"/>
          </a:xfrm>
        </p:spPr>
        <p:txBody>
          <a:bodyPr>
            <a:normAutofit/>
          </a:bodyPr>
          <a:lstStyle/>
          <a:p>
            <a:pPr algn="l"/>
            <a:r>
              <a:rPr lang="en-US" sz="3600" b="1" dirty="0"/>
              <a:t>Part B: User Interface Testing</a:t>
            </a:r>
            <a:endParaRPr lang="en-IN" sz="2200" dirty="0"/>
          </a:p>
        </p:txBody>
      </p:sp>
      <p:graphicFrame>
        <p:nvGraphicFramePr>
          <p:cNvPr id="5" name="Content Placeholder 4">
            <a:extLst>
              <a:ext uri="{FF2B5EF4-FFF2-40B4-BE49-F238E27FC236}">
                <a16:creationId xmlns:a16="http://schemas.microsoft.com/office/drawing/2014/main" id="{D1F0531C-3F84-498C-3A3C-EF7AF9AF580A}"/>
              </a:ext>
            </a:extLst>
          </p:cNvPr>
          <p:cNvGraphicFramePr>
            <a:graphicFrameLocks noGrp="1"/>
          </p:cNvGraphicFramePr>
          <p:nvPr>
            <p:ph idx="1"/>
            <p:extLst>
              <p:ext uri="{D42A27DB-BD31-4B8C-83A1-F6EECF244321}">
                <p14:modId xmlns:p14="http://schemas.microsoft.com/office/powerpoint/2010/main" val="3747495259"/>
              </p:ext>
            </p:extLst>
          </p:nvPr>
        </p:nvGraphicFramePr>
        <p:xfrm>
          <a:off x="593566" y="2250899"/>
          <a:ext cx="10501154" cy="3960844"/>
        </p:xfrm>
        <a:graphic>
          <a:graphicData uri="http://schemas.openxmlformats.org/drawingml/2006/table">
            <a:tbl>
              <a:tblPr/>
              <a:tblGrid>
                <a:gridCol w="1702779">
                  <a:extLst>
                    <a:ext uri="{9D8B030D-6E8A-4147-A177-3AD203B41FA5}">
                      <a16:colId xmlns:a16="http://schemas.microsoft.com/office/drawing/2014/main" val="3836150393"/>
                    </a:ext>
                  </a:extLst>
                </a:gridCol>
                <a:gridCol w="1702779">
                  <a:extLst>
                    <a:ext uri="{9D8B030D-6E8A-4147-A177-3AD203B41FA5}">
                      <a16:colId xmlns:a16="http://schemas.microsoft.com/office/drawing/2014/main" val="4136496188"/>
                    </a:ext>
                  </a:extLst>
                </a:gridCol>
                <a:gridCol w="1913996">
                  <a:extLst>
                    <a:ext uri="{9D8B030D-6E8A-4147-A177-3AD203B41FA5}">
                      <a16:colId xmlns:a16="http://schemas.microsoft.com/office/drawing/2014/main" val="2740903062"/>
                    </a:ext>
                  </a:extLst>
                </a:gridCol>
                <a:gridCol w="2255520">
                  <a:extLst>
                    <a:ext uri="{9D8B030D-6E8A-4147-A177-3AD203B41FA5}">
                      <a16:colId xmlns:a16="http://schemas.microsoft.com/office/drawing/2014/main" val="2826207289"/>
                    </a:ext>
                  </a:extLst>
                </a:gridCol>
                <a:gridCol w="1747520">
                  <a:extLst>
                    <a:ext uri="{9D8B030D-6E8A-4147-A177-3AD203B41FA5}">
                      <a16:colId xmlns:a16="http://schemas.microsoft.com/office/drawing/2014/main" val="1656102053"/>
                    </a:ext>
                  </a:extLst>
                </a:gridCol>
                <a:gridCol w="1178560">
                  <a:extLst>
                    <a:ext uri="{9D8B030D-6E8A-4147-A177-3AD203B41FA5}">
                      <a16:colId xmlns:a16="http://schemas.microsoft.com/office/drawing/2014/main" val="3147697755"/>
                    </a:ext>
                  </a:extLst>
                </a:gridCol>
              </a:tblGrid>
              <a:tr h="573581">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1056831">
                <a:tc>
                  <a:txBody>
                    <a:bodyPr/>
                    <a:lstStyle/>
                    <a:p>
                      <a:pPr algn="ctr">
                        <a:buNone/>
                      </a:pPr>
                      <a:r>
                        <a:rPr lang="en-IN" sz="1400" b="1" dirty="0"/>
                        <a:t>UI-01</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Click Analyze button with empty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Leave input blank → Click </a:t>
                      </a:r>
                      <a:r>
                        <a:rPr lang="en-IN" sz="1400" b="1" dirty="0"/>
                        <a:t>Analyze</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Error message: </a:t>
                      </a:r>
                      <a:r>
                        <a:rPr lang="en-US" sz="1400" b="1" dirty="0"/>
                        <a:t>"Please enter a URL"</a:t>
                      </a:r>
                      <a:r>
                        <a:rPr lang="en-US" sz="1400" dirty="0"/>
                        <a:t> </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1013232">
                <a:tc>
                  <a:txBody>
                    <a:bodyPr/>
                    <a:lstStyle/>
                    <a:p>
                      <a:pPr algn="ctr">
                        <a:buNone/>
                      </a:pPr>
                      <a:r>
                        <a:rPr lang="en-IN" sz="1400" b="1" dirty="0"/>
                        <a:t>UI-02</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Valid URL scan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Enter a valid URL (e.g., </a:t>
                      </a:r>
                      <a:r>
                        <a:rPr lang="en-IN" sz="1400" dirty="0">
                          <a:hlinkClick r:id="rId2"/>
                        </a:rPr>
                        <a:t>https://www.google.com</a:t>
                      </a:r>
                      <a:r>
                        <a:rPr lang="en-IN"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API call to </a:t>
                      </a:r>
                      <a:r>
                        <a:rPr lang="en-US" sz="1400" kern="1200" dirty="0">
                          <a:solidFill>
                            <a:schemeClr val="tx1"/>
                          </a:solidFill>
                          <a:latin typeface="+mn-lt"/>
                          <a:ea typeface="+mn-ea"/>
                          <a:cs typeface="+mn-cs"/>
                        </a:rPr>
                        <a:t>/api/scan</a:t>
                      </a:r>
                      <a:r>
                        <a:rPr lang="en-US" sz="1400" dirty="0"/>
                        <a:t> → Should return: prediction, confidence %, risk score, attack types, features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1317200">
                <a:tc>
                  <a:txBody>
                    <a:bodyPr/>
                    <a:lstStyle/>
                    <a:p>
                      <a:pPr algn="ctr">
                        <a:buNone/>
                      </a:pPr>
                      <a:r>
                        <a:rPr lang="en-IN" sz="1400" b="1" dirty="0"/>
                        <a:t>UI-03</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URL Input Error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Invalid Text Input</a:t>
                      </a:r>
                      <a:br>
                        <a:rPr lang="en-IN" sz="1400" dirty="0"/>
                      </a:br>
                      <a:r>
                        <a:rPr lang="en-IN" sz="1400" dirty="0"/>
                        <a:t>(e.g., https://google)</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Yellow validation error box Message: "Invalid domain name. Please enter a valid URL..." Blue guidance box with examples and tips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7151F641-2A6B-5ADD-F784-4B351C9786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B5EEF56-8D5A-D56D-3C24-074784BD116B}"/>
              </a:ext>
            </a:extLst>
          </p:cNvPr>
          <p:cNvSpPr txBox="1"/>
          <p:nvPr/>
        </p:nvSpPr>
        <p:spPr>
          <a:xfrm>
            <a:off x="457200" y="1199704"/>
            <a:ext cx="6096000" cy="923330"/>
          </a:xfrm>
          <a:prstGeom prst="rect">
            <a:avLst/>
          </a:prstGeom>
          <a:noFill/>
        </p:spPr>
        <p:txBody>
          <a:bodyPr wrap="square">
            <a:spAutoFit/>
          </a:bodyPr>
          <a:lstStyle/>
          <a:p>
            <a:pPr marL="342900" indent="-342900">
              <a:buAutoNum type="arabicPeriod"/>
            </a:pPr>
            <a:r>
              <a:rPr lang="it-IT" sz="1800" b="1" dirty="0"/>
              <a:t>Single URL Scan UI </a:t>
            </a:r>
          </a:p>
          <a:p>
            <a:pPr marL="342900" indent="-342900">
              <a:buAutoNum type="arabicPeriod"/>
            </a:pPr>
            <a:endParaRPr lang="it-IT" sz="1800" dirty="0"/>
          </a:p>
          <a:p>
            <a:r>
              <a:rPr lang="en-US" b="1" dirty="0"/>
              <a:t>1.1 URL Input Validation Tests</a:t>
            </a:r>
            <a:endParaRPr lang="en-IN" b="1" dirty="0"/>
          </a:p>
        </p:txBody>
      </p:sp>
    </p:spTree>
    <p:extLst>
      <p:ext uri="{BB962C8B-B14F-4D97-AF65-F5344CB8AC3E}">
        <p14:creationId xmlns:p14="http://schemas.microsoft.com/office/powerpoint/2010/main" val="10679309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71D48-20EF-2952-41A2-ABF27841D449}"/>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82FB7A18-F12D-71B6-A98E-C4E4971EA07D}"/>
              </a:ext>
            </a:extLst>
          </p:cNvPr>
          <p:cNvGraphicFramePr>
            <a:graphicFrameLocks noGrp="1"/>
          </p:cNvGraphicFramePr>
          <p:nvPr>
            <p:ph idx="1"/>
            <p:extLst>
              <p:ext uri="{D42A27DB-BD31-4B8C-83A1-F6EECF244321}">
                <p14:modId xmlns:p14="http://schemas.microsoft.com/office/powerpoint/2010/main" val="3040735827"/>
              </p:ext>
            </p:extLst>
          </p:nvPr>
        </p:nvGraphicFramePr>
        <p:xfrm>
          <a:off x="589280" y="1549858"/>
          <a:ext cx="10505440" cy="4717275"/>
        </p:xfrm>
        <a:graphic>
          <a:graphicData uri="http://schemas.openxmlformats.org/drawingml/2006/table">
            <a:tbl>
              <a:tblPr/>
              <a:tblGrid>
                <a:gridCol w="1707065">
                  <a:extLst>
                    <a:ext uri="{9D8B030D-6E8A-4147-A177-3AD203B41FA5}">
                      <a16:colId xmlns:a16="http://schemas.microsoft.com/office/drawing/2014/main" val="3836150393"/>
                    </a:ext>
                  </a:extLst>
                </a:gridCol>
                <a:gridCol w="1716855">
                  <a:extLst>
                    <a:ext uri="{9D8B030D-6E8A-4147-A177-3AD203B41FA5}">
                      <a16:colId xmlns:a16="http://schemas.microsoft.com/office/drawing/2014/main" val="4136496188"/>
                    </a:ext>
                  </a:extLst>
                </a:gridCol>
                <a:gridCol w="1899920">
                  <a:extLst>
                    <a:ext uri="{9D8B030D-6E8A-4147-A177-3AD203B41FA5}">
                      <a16:colId xmlns:a16="http://schemas.microsoft.com/office/drawing/2014/main" val="2740903062"/>
                    </a:ext>
                  </a:extLst>
                </a:gridCol>
                <a:gridCol w="2255520">
                  <a:extLst>
                    <a:ext uri="{9D8B030D-6E8A-4147-A177-3AD203B41FA5}">
                      <a16:colId xmlns:a16="http://schemas.microsoft.com/office/drawing/2014/main" val="2826207289"/>
                    </a:ext>
                  </a:extLst>
                </a:gridCol>
                <a:gridCol w="1747520">
                  <a:extLst>
                    <a:ext uri="{9D8B030D-6E8A-4147-A177-3AD203B41FA5}">
                      <a16:colId xmlns:a16="http://schemas.microsoft.com/office/drawing/2014/main" val="1656102053"/>
                    </a:ext>
                  </a:extLst>
                </a:gridCol>
                <a:gridCol w="1178560">
                  <a:extLst>
                    <a:ext uri="{9D8B030D-6E8A-4147-A177-3AD203B41FA5}">
                      <a16:colId xmlns:a16="http://schemas.microsoft.com/office/drawing/2014/main" val="3147697755"/>
                    </a:ext>
                  </a:extLst>
                </a:gridCol>
              </a:tblGrid>
              <a:tr h="583742">
                <a:tc>
                  <a:txBody>
                    <a:bodyPr/>
                    <a:lstStyle/>
                    <a:p>
                      <a:pPr algn="ctr">
                        <a:buNone/>
                      </a:pPr>
                      <a:r>
                        <a:rPr lang="en-IN" sz="1400" b="1" dirty="0"/>
                        <a:t>Test Case ID</a:t>
                      </a:r>
                      <a:endParaRPr lang="en-IN" sz="1400" dirty="0"/>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a:t>
                      </a:r>
                      <a:endParaRPr lang="en-IN" sz="1400" dirty="0"/>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marT="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1354423">
                <a:tc>
                  <a:txBody>
                    <a:bodyPr/>
                    <a:lstStyle/>
                    <a:p>
                      <a:pPr algn="ctr">
                        <a:buNone/>
                      </a:pPr>
                      <a:r>
                        <a:rPr lang="en-IN" sz="1400" b="1" dirty="0"/>
                        <a:t>UI-04</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Successful Phishing Detection</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Use a known phishing test URL</a:t>
                      </a:r>
                      <a:r>
                        <a:rPr lang="en-IN" sz="1400" dirty="0"/>
                        <a:t>(e.g., </a:t>
                      </a:r>
                      <a:r>
                        <a:rPr lang="en-IN" sz="1400" dirty="0">
                          <a:solidFill>
                            <a:schemeClr val="tx1"/>
                          </a:solidFill>
                        </a:rPr>
                        <a:t>http://paypa1-services-login.com/session</a:t>
                      </a:r>
                      <a:r>
                        <a:rPr lang="en-IN"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Red-themed result card, "Phishing Threat Detected" title, Confidence percentage displayed, Risk score shown (HIGH/CRITICAL), Attack types listed, Progress bar in red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1069488">
                <a:tc>
                  <a:txBody>
                    <a:bodyPr/>
                    <a:lstStyle/>
                    <a:p>
                      <a:pPr algn="ctr">
                        <a:buNone/>
                      </a:pPr>
                      <a:r>
                        <a:rPr lang="en-IN" sz="1400" b="1" dirty="0"/>
                        <a:t>UI-05</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Successful Legitimate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Enter a valid legitimate URL (e.g., </a:t>
                      </a:r>
                      <a:r>
                        <a:rPr lang="en-IN" sz="1400" dirty="0">
                          <a:hlinkClick r:id="rId2"/>
                        </a:rPr>
                        <a:t>https://www.google.com</a:t>
                      </a:r>
                      <a:r>
                        <a:rPr lang="en-IN"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Green-themed result card, "URL is Safe" title, Confidence percentage displayed, Risk score shown (LOW), Progress bar in green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1390333">
                <a:tc>
                  <a:txBody>
                    <a:bodyPr/>
                    <a:lstStyle/>
                    <a:p>
                      <a:pPr algn="ctr">
                        <a:buNone/>
                      </a:pPr>
                      <a:r>
                        <a:rPr lang="en-IN" sz="1400" b="1" dirty="0"/>
                        <a:t>UI-06</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API Connection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Stop Flask server, then scan URL</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Error message: "Error: ... Make sure Flask API is running" .</a:t>
                      </a:r>
                    </a:p>
                    <a:p>
                      <a:pPr algn="ctr">
                        <a:buNone/>
                      </a:pPr>
                      <a:r>
                        <a:rPr lang="en-IN" sz="1400" dirty="0"/>
                        <a:t>Red error box with AlertCircle icon</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4A12C076-ED93-349A-E6DF-EF8EB4B6D5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3497A72-4461-BF5C-3DE1-34D71A4FE9D3}"/>
              </a:ext>
            </a:extLst>
          </p:cNvPr>
          <p:cNvSpPr txBox="1"/>
          <p:nvPr/>
        </p:nvSpPr>
        <p:spPr>
          <a:xfrm>
            <a:off x="483533" y="1019553"/>
            <a:ext cx="6096000" cy="369332"/>
          </a:xfrm>
          <a:prstGeom prst="rect">
            <a:avLst/>
          </a:prstGeom>
          <a:noFill/>
        </p:spPr>
        <p:txBody>
          <a:bodyPr wrap="square">
            <a:spAutoFit/>
          </a:bodyPr>
          <a:lstStyle/>
          <a:p>
            <a:r>
              <a:rPr lang="en-IN" b="1" dirty="0"/>
              <a:t>1.2 Scanning Process Tests</a:t>
            </a:r>
            <a:endParaRPr lang="en-IN" dirty="0"/>
          </a:p>
        </p:txBody>
      </p:sp>
    </p:spTree>
    <p:extLst>
      <p:ext uri="{BB962C8B-B14F-4D97-AF65-F5344CB8AC3E}">
        <p14:creationId xmlns:p14="http://schemas.microsoft.com/office/powerpoint/2010/main" val="12466816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A9552-D319-2A3D-CBC6-E66037664881}"/>
            </a:ext>
          </a:extLst>
        </p:cNvPr>
        <p:cNvGrpSpPr/>
        <p:nvPr/>
      </p:nvGrpSpPr>
      <p:grpSpPr>
        <a:xfrm>
          <a:off x="0" y="0"/>
          <a:ext cx="0" cy="0"/>
          <a:chOff x="0" y="0"/>
          <a:chExt cx="0" cy="0"/>
        </a:xfrm>
      </p:grpSpPr>
      <p:pic>
        <p:nvPicPr>
          <p:cNvPr id="4" name="Picture 3" descr="PES University Know All about the Indian UGC-Approved University">
            <a:extLst>
              <a:ext uri="{FF2B5EF4-FFF2-40B4-BE49-F238E27FC236}">
                <a16:creationId xmlns:a16="http://schemas.microsoft.com/office/drawing/2014/main" id="{E8ABFF67-EAD8-816E-8726-E0FBE0BA7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F379EBC-B274-5E82-70E0-3F5B21AD3869}"/>
              </a:ext>
            </a:extLst>
          </p:cNvPr>
          <p:cNvSpPr txBox="1"/>
          <p:nvPr/>
        </p:nvSpPr>
        <p:spPr>
          <a:xfrm>
            <a:off x="483533" y="641179"/>
            <a:ext cx="6096000" cy="369332"/>
          </a:xfrm>
          <a:prstGeom prst="rect">
            <a:avLst/>
          </a:prstGeom>
          <a:noFill/>
        </p:spPr>
        <p:txBody>
          <a:bodyPr wrap="square">
            <a:spAutoFit/>
          </a:bodyPr>
          <a:lstStyle/>
          <a:p>
            <a:r>
              <a:rPr lang="en-IN" b="1" dirty="0"/>
              <a:t>1.3 Results Display Tests</a:t>
            </a:r>
          </a:p>
        </p:txBody>
      </p:sp>
      <p:graphicFrame>
        <p:nvGraphicFramePr>
          <p:cNvPr id="6" name="Content Placeholder 5">
            <a:extLst>
              <a:ext uri="{FF2B5EF4-FFF2-40B4-BE49-F238E27FC236}">
                <a16:creationId xmlns:a16="http://schemas.microsoft.com/office/drawing/2014/main" id="{A92A39B0-0A5F-D0B0-344B-D8A5FDB36C1A}"/>
              </a:ext>
            </a:extLst>
          </p:cNvPr>
          <p:cNvGraphicFramePr>
            <a:graphicFrameLocks noGrp="1"/>
          </p:cNvGraphicFramePr>
          <p:nvPr>
            <p:ph idx="1"/>
            <p:extLst>
              <p:ext uri="{D42A27DB-BD31-4B8C-83A1-F6EECF244321}">
                <p14:modId xmlns:p14="http://schemas.microsoft.com/office/powerpoint/2010/main" val="976682022"/>
              </p:ext>
            </p:extLst>
          </p:nvPr>
        </p:nvGraphicFramePr>
        <p:xfrm>
          <a:off x="599440" y="1336069"/>
          <a:ext cx="10515600" cy="4715426"/>
        </p:xfrm>
        <a:graphic>
          <a:graphicData uri="http://schemas.openxmlformats.org/drawingml/2006/table">
            <a:tbl>
              <a:tblPr/>
              <a:tblGrid>
                <a:gridCol w="1290320">
                  <a:extLst>
                    <a:ext uri="{9D8B030D-6E8A-4147-A177-3AD203B41FA5}">
                      <a16:colId xmlns:a16="http://schemas.microsoft.com/office/drawing/2014/main" val="3787349175"/>
                    </a:ext>
                  </a:extLst>
                </a:gridCol>
                <a:gridCol w="1534160">
                  <a:extLst>
                    <a:ext uri="{9D8B030D-6E8A-4147-A177-3AD203B41FA5}">
                      <a16:colId xmlns:a16="http://schemas.microsoft.com/office/drawing/2014/main" val="3155364054"/>
                    </a:ext>
                  </a:extLst>
                </a:gridCol>
                <a:gridCol w="1706880">
                  <a:extLst>
                    <a:ext uri="{9D8B030D-6E8A-4147-A177-3AD203B41FA5}">
                      <a16:colId xmlns:a16="http://schemas.microsoft.com/office/drawing/2014/main" val="2581697333"/>
                    </a:ext>
                  </a:extLst>
                </a:gridCol>
                <a:gridCol w="3362960">
                  <a:extLst>
                    <a:ext uri="{9D8B030D-6E8A-4147-A177-3AD203B41FA5}">
                      <a16:colId xmlns:a16="http://schemas.microsoft.com/office/drawing/2014/main" val="3245888898"/>
                    </a:ext>
                  </a:extLst>
                </a:gridCol>
                <a:gridCol w="1361440">
                  <a:extLst>
                    <a:ext uri="{9D8B030D-6E8A-4147-A177-3AD203B41FA5}">
                      <a16:colId xmlns:a16="http://schemas.microsoft.com/office/drawing/2014/main" val="4261352221"/>
                    </a:ext>
                  </a:extLst>
                </a:gridCol>
                <a:gridCol w="1259840">
                  <a:extLst>
                    <a:ext uri="{9D8B030D-6E8A-4147-A177-3AD203B41FA5}">
                      <a16:colId xmlns:a16="http://schemas.microsoft.com/office/drawing/2014/main" val="2251438269"/>
                    </a:ext>
                  </a:extLst>
                </a:gridCol>
              </a:tblGrid>
              <a:tr h="513051">
                <a:tc>
                  <a:txBody>
                    <a:bodyPr/>
                    <a:lstStyle/>
                    <a:p>
                      <a:pPr algn="ctr">
                        <a:buNone/>
                      </a:pPr>
                      <a:r>
                        <a:rPr lang="en-IN" sz="1400" b="1" dirty="0"/>
                        <a:t>Test Case ID</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1" dirty="0"/>
                        <a:t>Expected Result </a:t>
                      </a:r>
                      <a:endParaRPr lang="en-US"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5278031"/>
                  </a:ext>
                </a:extLst>
              </a:tr>
              <a:tr h="651464">
                <a:tc>
                  <a:txBody>
                    <a:bodyPr/>
                    <a:lstStyle/>
                    <a:p>
                      <a:pPr algn="ctr">
                        <a:buNone/>
                      </a:pPr>
                      <a:r>
                        <a:rPr lang="en-US" sz="1400" b="1" dirty="0"/>
                        <a:t>U</a:t>
                      </a:r>
                      <a:r>
                        <a:rPr lang="en-IN" sz="1400" b="1" dirty="0"/>
                        <a:t>I-07</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Overview Tab Content</a:t>
                      </a:r>
                      <a:endParaRPr lang="en-US"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View results with Overview tab active</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Attack types displayed (if phishing), Feature detection summary (3 cards: Address Bar, Domain, HTML/JS), Warning message (if phishing), Success message (if legitimate)</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As Observed</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543064"/>
                  </a:ext>
                </a:extLst>
              </a:tr>
              <a:tr h="920752">
                <a:tc>
                  <a:txBody>
                    <a:bodyPr/>
                    <a:lstStyle/>
                    <a:p>
                      <a:pPr algn="ctr">
                        <a:buNone/>
                      </a:pPr>
                      <a:r>
                        <a:rPr lang="en-US" sz="1400" b="1" dirty="0"/>
                        <a:t>U</a:t>
                      </a:r>
                      <a:r>
                        <a:rPr lang="en-IN" sz="1400" b="1" dirty="0"/>
                        <a:t>I-08</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Security Advice Tab</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Click "Security Advice" tab</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Threat level badge displayed Security, warnings listed (if applicable), Recommendations listed with arrow icons</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As Observed</a:t>
                      </a:r>
                      <a:endParaRPr lang="en-IN" sz="1400" dirty="0"/>
                    </a:p>
                    <a:p>
                      <a:pPr algn="ctr">
                        <a:buNone/>
                      </a:pP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207115"/>
                  </a:ext>
                </a:extLst>
              </a:tr>
              <a:tr h="751840">
                <a:tc>
                  <a:txBody>
                    <a:bodyPr/>
                    <a:lstStyle/>
                    <a:p>
                      <a:pPr algn="ctr">
                        <a:buNone/>
                      </a:pPr>
                      <a:r>
                        <a:rPr lang="en-US" sz="1400" b="1" dirty="0"/>
                        <a:t>U</a:t>
                      </a:r>
                      <a:r>
                        <a:rPr lang="en-IN" sz="1400" b="1" dirty="0"/>
                        <a:t>I-09</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Learn More Tab</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Click "Learn More" tab</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Threat overview with description,</a:t>
                      </a:r>
                    </a:p>
                    <a:p>
                      <a:pPr algn="ctr"/>
                      <a:r>
                        <a:rPr lang="en-US" sz="1400" dirty="0"/>
                        <a:t>Identification tips list, Real-world examples, Prevention steps</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As Observed</a:t>
                      </a:r>
                      <a:endParaRPr lang="en-IN" sz="1400" dirty="0"/>
                    </a:p>
                    <a:p>
                      <a:pPr algn="ctr">
                        <a:buNone/>
                      </a:pP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095951"/>
                  </a:ext>
                </a:extLst>
              </a:tr>
              <a:tr h="651464">
                <a:tc>
                  <a:txBody>
                    <a:bodyPr/>
                    <a:lstStyle/>
                    <a:p>
                      <a:pPr algn="ctr">
                        <a:buNone/>
                      </a:pPr>
                      <a:r>
                        <a:rPr lang="en-US" sz="1400" b="1" dirty="0"/>
                        <a:t>U</a:t>
                      </a:r>
                      <a:r>
                        <a:rPr lang="en-IN" sz="1400" b="1" dirty="0"/>
                        <a:t>I-10</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Technical Details Tab</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Click "Technical Details" tab</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All 16 features listed Feature names and values displayed Color coding (red for 1, green for 0) Scrollable list if more than screen height</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As Observed</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7332329"/>
                  </a:ext>
                </a:extLst>
              </a:tr>
              <a:tr h="754327">
                <a:tc>
                  <a:txBody>
                    <a:bodyPr/>
                    <a:lstStyle/>
                    <a:p>
                      <a:pPr algn="ctr">
                        <a:buNone/>
                      </a:pPr>
                      <a:r>
                        <a:rPr lang="en-US" sz="1400" b="1" dirty="0"/>
                        <a:t>U</a:t>
                      </a:r>
                      <a:r>
                        <a:rPr lang="en-IN" sz="1400" b="1" dirty="0"/>
                        <a:t>I-11</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Tab Navigation</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Click between all 4 tabs multiple times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Active tab highlighted in blue with underline Content switches correctly No console errors</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400" dirty="0"/>
                    </a:p>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As Observed</a:t>
                      </a:r>
                      <a:endParaRPr lang="en-IN" sz="1400" dirty="0"/>
                    </a:p>
                    <a:p>
                      <a:pPr algn="ctr"/>
                      <a:endParaRPr lang="en-IN" sz="1400" dirty="0"/>
                    </a:p>
                  </a:txBody>
                  <a:tcPr marL="34288" marR="34288" marT="17144" marB="171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p>
                      <a:pPr algn="ctr"/>
                      <a:r>
                        <a:rPr lang="en-US" sz="1400" dirty="0"/>
                        <a:t>Pass</a:t>
                      </a:r>
                      <a:endParaRPr lang="en-IN" sz="1400" dirty="0"/>
                    </a:p>
                  </a:txBody>
                  <a:tcPr marL="34288" marR="34288" marT="17144" marB="1714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922472"/>
                  </a:ext>
                </a:extLst>
              </a:tr>
            </a:tbl>
          </a:graphicData>
        </a:graphic>
      </p:graphicFrame>
    </p:spTree>
    <p:extLst>
      <p:ext uri="{BB962C8B-B14F-4D97-AF65-F5344CB8AC3E}">
        <p14:creationId xmlns:p14="http://schemas.microsoft.com/office/powerpoint/2010/main" val="3009087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FF4F-DC5A-F671-A3EA-788B5F157198}"/>
            </a:ext>
          </a:extLst>
        </p:cNvPr>
        <p:cNvGrpSpPr/>
        <p:nvPr/>
      </p:nvGrpSpPr>
      <p:grpSpPr>
        <a:xfrm>
          <a:off x="0" y="0"/>
          <a:ext cx="0" cy="0"/>
          <a:chOff x="0" y="0"/>
          <a:chExt cx="0" cy="0"/>
        </a:xfrm>
      </p:grpSpPr>
      <p:pic>
        <p:nvPicPr>
          <p:cNvPr id="4" name="Picture 3" descr="PES University Know All about the Indian UGC-Approved University">
            <a:extLst>
              <a:ext uri="{FF2B5EF4-FFF2-40B4-BE49-F238E27FC236}">
                <a16:creationId xmlns:a16="http://schemas.microsoft.com/office/drawing/2014/main" id="{A696BB40-9F36-9099-6440-D9261C490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6933C0E-ABCC-3CE6-E417-B71A4D0BD340}"/>
              </a:ext>
            </a:extLst>
          </p:cNvPr>
          <p:cNvSpPr txBox="1"/>
          <p:nvPr/>
        </p:nvSpPr>
        <p:spPr>
          <a:xfrm>
            <a:off x="483533" y="641179"/>
            <a:ext cx="6096000" cy="369332"/>
          </a:xfrm>
          <a:prstGeom prst="rect">
            <a:avLst/>
          </a:prstGeom>
          <a:noFill/>
        </p:spPr>
        <p:txBody>
          <a:bodyPr wrap="square">
            <a:spAutoFit/>
          </a:bodyPr>
          <a:lstStyle/>
          <a:p>
            <a:r>
              <a:rPr lang="en-IN" b="1" dirty="0"/>
              <a:t>1.4 History &amp; Stats Tests</a:t>
            </a:r>
          </a:p>
        </p:txBody>
      </p:sp>
      <p:graphicFrame>
        <p:nvGraphicFramePr>
          <p:cNvPr id="6" name="Content Placeholder 5">
            <a:extLst>
              <a:ext uri="{FF2B5EF4-FFF2-40B4-BE49-F238E27FC236}">
                <a16:creationId xmlns:a16="http://schemas.microsoft.com/office/drawing/2014/main" id="{1106D0AD-DDD6-7119-3BA6-7A26749FAAD8}"/>
              </a:ext>
            </a:extLst>
          </p:cNvPr>
          <p:cNvGraphicFramePr>
            <a:graphicFrameLocks noGrp="1"/>
          </p:cNvGraphicFramePr>
          <p:nvPr>
            <p:ph idx="1"/>
            <p:extLst>
              <p:ext uri="{D42A27DB-BD31-4B8C-83A1-F6EECF244321}">
                <p14:modId xmlns:p14="http://schemas.microsoft.com/office/powerpoint/2010/main" val="467845156"/>
              </p:ext>
            </p:extLst>
          </p:nvPr>
        </p:nvGraphicFramePr>
        <p:xfrm>
          <a:off x="599440" y="1732309"/>
          <a:ext cx="10579414" cy="2837107"/>
        </p:xfrm>
        <a:graphic>
          <a:graphicData uri="http://schemas.openxmlformats.org/drawingml/2006/table">
            <a:tbl>
              <a:tblPr/>
              <a:tblGrid>
                <a:gridCol w="1290320">
                  <a:extLst>
                    <a:ext uri="{9D8B030D-6E8A-4147-A177-3AD203B41FA5}">
                      <a16:colId xmlns:a16="http://schemas.microsoft.com/office/drawing/2014/main" val="3787349175"/>
                    </a:ext>
                  </a:extLst>
                </a:gridCol>
                <a:gridCol w="1597974">
                  <a:extLst>
                    <a:ext uri="{9D8B030D-6E8A-4147-A177-3AD203B41FA5}">
                      <a16:colId xmlns:a16="http://schemas.microsoft.com/office/drawing/2014/main" val="3155364054"/>
                    </a:ext>
                  </a:extLst>
                </a:gridCol>
                <a:gridCol w="1706880">
                  <a:extLst>
                    <a:ext uri="{9D8B030D-6E8A-4147-A177-3AD203B41FA5}">
                      <a16:colId xmlns:a16="http://schemas.microsoft.com/office/drawing/2014/main" val="2581697333"/>
                    </a:ext>
                  </a:extLst>
                </a:gridCol>
                <a:gridCol w="3362960">
                  <a:extLst>
                    <a:ext uri="{9D8B030D-6E8A-4147-A177-3AD203B41FA5}">
                      <a16:colId xmlns:a16="http://schemas.microsoft.com/office/drawing/2014/main" val="3245888898"/>
                    </a:ext>
                  </a:extLst>
                </a:gridCol>
                <a:gridCol w="1361440">
                  <a:extLst>
                    <a:ext uri="{9D8B030D-6E8A-4147-A177-3AD203B41FA5}">
                      <a16:colId xmlns:a16="http://schemas.microsoft.com/office/drawing/2014/main" val="4261352221"/>
                    </a:ext>
                  </a:extLst>
                </a:gridCol>
                <a:gridCol w="1259840">
                  <a:extLst>
                    <a:ext uri="{9D8B030D-6E8A-4147-A177-3AD203B41FA5}">
                      <a16:colId xmlns:a16="http://schemas.microsoft.com/office/drawing/2014/main" val="2251438269"/>
                    </a:ext>
                  </a:extLst>
                </a:gridCol>
              </a:tblGrid>
              <a:tr h="513051">
                <a:tc>
                  <a:txBody>
                    <a:bodyPr/>
                    <a:lstStyle/>
                    <a:p>
                      <a:pPr algn="ctr">
                        <a:buNone/>
                      </a:pPr>
                      <a:r>
                        <a:rPr lang="en-IN" sz="1400" b="1" dirty="0"/>
                        <a:t>Test Case ID</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1" dirty="0"/>
                        <a:t>Expected Result </a:t>
                      </a:r>
                      <a:endParaRPr lang="en-US"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5278031"/>
                  </a:ext>
                </a:extLst>
              </a:tr>
              <a:tr h="651464">
                <a:tc>
                  <a:txBody>
                    <a:bodyPr/>
                    <a:lstStyle/>
                    <a:p>
                      <a:pPr algn="ctr">
                        <a:buNone/>
                      </a:pPr>
                      <a:r>
                        <a:rPr lang="en-US" sz="1400" b="1" dirty="0"/>
                        <a:t>U</a:t>
                      </a:r>
                      <a:r>
                        <a:rPr lang="en-IN" sz="1400" b="1" dirty="0"/>
                        <a:t>I-12</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History Updates</a:t>
                      </a:r>
                      <a:endParaRPr lang="en-US"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Scan 3 different URLs</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Each scan added to Recent Scans sidebar Maximum 10 scans shown Most recent at top</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As Observed</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543064"/>
                  </a:ext>
                </a:extLst>
              </a:tr>
              <a:tr h="920752">
                <a:tc>
                  <a:txBody>
                    <a:bodyPr/>
                    <a:lstStyle/>
                    <a:p>
                      <a:pPr algn="ctr">
                        <a:buNone/>
                      </a:pPr>
                      <a:r>
                        <a:rPr lang="en-US" sz="1400" b="1" dirty="0"/>
                        <a:t>U</a:t>
                      </a:r>
                      <a:r>
                        <a:rPr lang="en-IN" sz="1400" b="1" dirty="0"/>
                        <a:t>I-13</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Stats Calculation</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Scan 2 phishing URLs and 3 legitimate URLs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Total: 5 Threats: 2 Safe: 3 Avg Risk: Calculated correctly</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As Observed</a:t>
                      </a:r>
                      <a:endParaRPr lang="en-IN" sz="1400" dirty="0"/>
                    </a:p>
                    <a:p>
                      <a:pPr algn="ctr">
                        <a:buNone/>
                      </a:pP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9207115"/>
                  </a:ext>
                </a:extLst>
              </a:tr>
              <a:tr h="751840">
                <a:tc>
                  <a:txBody>
                    <a:bodyPr/>
                    <a:lstStyle/>
                    <a:p>
                      <a:pPr algn="ctr">
                        <a:buNone/>
                      </a:pPr>
                      <a:r>
                        <a:rPr lang="en-US" sz="1400" b="1" dirty="0"/>
                        <a:t>U</a:t>
                      </a:r>
                      <a:r>
                        <a:rPr lang="en-IN" sz="1400" b="1" dirty="0"/>
                        <a:t>I-14</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History Hover Effect</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Hover over history items</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Border color changes on hover</a:t>
                      </a:r>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As Observed</a:t>
                      </a:r>
                      <a:endParaRPr lang="en-IN" sz="1400" dirty="0"/>
                    </a:p>
                    <a:p>
                      <a:pPr algn="ctr">
                        <a:buNone/>
                      </a:pP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marL="34288" marR="34288" marT="17144" marB="1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095951"/>
                  </a:ext>
                </a:extLst>
              </a:tr>
            </a:tbl>
          </a:graphicData>
        </a:graphic>
      </p:graphicFrame>
    </p:spTree>
    <p:extLst>
      <p:ext uri="{BB962C8B-B14F-4D97-AF65-F5344CB8AC3E}">
        <p14:creationId xmlns:p14="http://schemas.microsoft.com/office/powerpoint/2010/main" val="37518212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9617-7E9E-9FDD-5588-BB985399CAB1}"/>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C6078A1-5107-EF78-0DE1-D681AF081E6B}"/>
              </a:ext>
            </a:extLst>
          </p:cNvPr>
          <p:cNvGraphicFramePr>
            <a:graphicFrameLocks noGrp="1"/>
          </p:cNvGraphicFramePr>
          <p:nvPr>
            <p:ph idx="1"/>
            <p:extLst>
              <p:ext uri="{D42A27DB-BD31-4B8C-83A1-F6EECF244321}">
                <p14:modId xmlns:p14="http://schemas.microsoft.com/office/powerpoint/2010/main" val="758171563"/>
              </p:ext>
            </p:extLst>
          </p:nvPr>
        </p:nvGraphicFramePr>
        <p:xfrm>
          <a:off x="552926" y="1452474"/>
          <a:ext cx="10501154" cy="4491126"/>
        </p:xfrm>
        <a:graphic>
          <a:graphicData uri="http://schemas.openxmlformats.org/drawingml/2006/table">
            <a:tbl>
              <a:tblPr/>
              <a:tblGrid>
                <a:gridCol w="1265714">
                  <a:extLst>
                    <a:ext uri="{9D8B030D-6E8A-4147-A177-3AD203B41FA5}">
                      <a16:colId xmlns:a16="http://schemas.microsoft.com/office/drawing/2014/main" val="3836150393"/>
                    </a:ext>
                  </a:extLst>
                </a:gridCol>
                <a:gridCol w="1463040">
                  <a:extLst>
                    <a:ext uri="{9D8B030D-6E8A-4147-A177-3AD203B41FA5}">
                      <a16:colId xmlns:a16="http://schemas.microsoft.com/office/drawing/2014/main" val="4136496188"/>
                    </a:ext>
                  </a:extLst>
                </a:gridCol>
                <a:gridCol w="1920240">
                  <a:extLst>
                    <a:ext uri="{9D8B030D-6E8A-4147-A177-3AD203B41FA5}">
                      <a16:colId xmlns:a16="http://schemas.microsoft.com/office/drawing/2014/main" val="2740903062"/>
                    </a:ext>
                  </a:extLst>
                </a:gridCol>
                <a:gridCol w="3728720">
                  <a:extLst>
                    <a:ext uri="{9D8B030D-6E8A-4147-A177-3AD203B41FA5}">
                      <a16:colId xmlns:a16="http://schemas.microsoft.com/office/drawing/2014/main" val="2826207289"/>
                    </a:ext>
                  </a:extLst>
                </a:gridCol>
                <a:gridCol w="1310640">
                  <a:extLst>
                    <a:ext uri="{9D8B030D-6E8A-4147-A177-3AD203B41FA5}">
                      <a16:colId xmlns:a16="http://schemas.microsoft.com/office/drawing/2014/main" val="1656102053"/>
                    </a:ext>
                  </a:extLst>
                </a:gridCol>
                <a:gridCol w="812800">
                  <a:extLst>
                    <a:ext uri="{9D8B030D-6E8A-4147-A177-3AD203B41FA5}">
                      <a16:colId xmlns:a16="http://schemas.microsoft.com/office/drawing/2014/main" val="3147697755"/>
                    </a:ext>
                  </a:extLst>
                </a:gridCol>
              </a:tblGrid>
              <a:tr h="573581">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767945">
                <a:tc>
                  <a:txBody>
                    <a:bodyPr/>
                    <a:lstStyle/>
                    <a:p>
                      <a:pPr algn="ctr">
                        <a:buNone/>
                      </a:pPr>
                      <a:r>
                        <a:rPr lang="en-IN" sz="1400" b="1" dirty="0"/>
                        <a:t>UI-15</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Scanning URLs with empty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Leave input blank → Click </a:t>
                      </a:r>
                      <a:r>
                        <a:rPr lang="en-IN" sz="1400" b="1" dirty="0"/>
                        <a:t>Run Batch Analysis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Error Message: "Please enter at least one URL to scan."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660400">
                <a:tc>
                  <a:txBody>
                    <a:bodyPr/>
                    <a:lstStyle/>
                    <a:p>
                      <a:pPr algn="ctr">
                        <a:buNone/>
                      </a:pPr>
                      <a:r>
                        <a:rPr lang="en-IN" sz="1400" b="1" dirty="0"/>
                        <a:t>UI-16</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Single URL or Multiple URL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Enter single or Multiple URLs </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Single: Batch processes successfully with 1 result</a:t>
                      </a:r>
                      <a:endParaRPr lang="en-IN" sz="1400" dirty="0"/>
                    </a:p>
                    <a:p>
                      <a:pPr algn="ctr">
                        <a:buNone/>
                      </a:pPr>
                      <a:r>
                        <a:rPr lang="en-US" sz="1400" dirty="0"/>
                        <a:t>Multiple: All 3 URLs processed, results shown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1290320">
                <a:tc>
                  <a:txBody>
                    <a:bodyPr/>
                    <a:lstStyle/>
                    <a:p>
                      <a:pPr algn="ctr">
                        <a:buNone/>
                      </a:pPr>
                      <a:r>
                        <a:rPr lang="en-IN" sz="1400" b="1" dirty="0"/>
                        <a:t>UI-17</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Mixed Valid and Invalid URLs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https://www.google.com just text example https://www.github.com</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2 valid URLs processed 2 invalid URLs shown in yellow warning box Each invalid URL shows specific error message URL Format Tips displayed</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r h="680720">
                <a:tc>
                  <a:txBody>
                    <a:bodyPr/>
                    <a:lstStyle/>
                    <a:p>
                      <a:pPr algn="ctr">
                        <a:buNone/>
                      </a:pPr>
                      <a:r>
                        <a:rPr lang="en-US" sz="1400" b="1" dirty="0"/>
                        <a:t>UI-18</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50 URLs (Maximum)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50 valid URLs</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All 50 processed successfully</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As observed</a:t>
                      </a:r>
                    </a:p>
                    <a:p>
                      <a:pPr algn="ctr">
                        <a:buNone/>
                      </a:pP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116688"/>
                  </a:ext>
                </a:extLst>
              </a:tr>
              <a:tr h="497840">
                <a:tc>
                  <a:txBody>
                    <a:bodyPr/>
                    <a:lstStyle/>
                    <a:p>
                      <a:pPr algn="ctr">
                        <a:buNone/>
                      </a:pPr>
                      <a:r>
                        <a:rPr lang="en-US" sz="1400" b="1" dirty="0"/>
                        <a:t>UI-19</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More than 50 URLs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60 URLs</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Only first 50 processed (silently truncated)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As Observed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4482047"/>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9331B842-8DE6-1ADA-7FF7-FE761D801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DD83102-F4E0-0866-B1FA-E1251D446BAA}"/>
              </a:ext>
            </a:extLst>
          </p:cNvPr>
          <p:cNvSpPr txBox="1"/>
          <p:nvPr/>
        </p:nvSpPr>
        <p:spPr>
          <a:xfrm>
            <a:off x="351453" y="488504"/>
            <a:ext cx="6096000" cy="923330"/>
          </a:xfrm>
          <a:prstGeom prst="rect">
            <a:avLst/>
          </a:prstGeom>
          <a:noFill/>
        </p:spPr>
        <p:txBody>
          <a:bodyPr wrap="square">
            <a:spAutoFit/>
          </a:bodyPr>
          <a:lstStyle/>
          <a:p>
            <a:r>
              <a:rPr lang="en-IN" b="1" dirty="0"/>
              <a:t>2. Batch Analyzer Tests</a:t>
            </a:r>
            <a:endParaRPr lang="it-IT" sz="1800" b="1" dirty="0"/>
          </a:p>
          <a:p>
            <a:pPr marL="342900" indent="-342900">
              <a:buAutoNum type="arabicPeriod"/>
            </a:pPr>
            <a:endParaRPr lang="it-IT" sz="1800" dirty="0"/>
          </a:p>
          <a:p>
            <a:r>
              <a:rPr lang="en-US" b="1" dirty="0"/>
              <a:t>2.1 URL Input Tests</a:t>
            </a:r>
            <a:endParaRPr lang="en-IN" b="1" dirty="0"/>
          </a:p>
        </p:txBody>
      </p:sp>
    </p:spTree>
    <p:extLst>
      <p:ext uri="{BB962C8B-B14F-4D97-AF65-F5344CB8AC3E}">
        <p14:creationId xmlns:p14="http://schemas.microsoft.com/office/powerpoint/2010/main" val="2505277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E913D-5EAE-4EE8-030C-0489DE9E2C2C}"/>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EF919110-624A-D5C7-122E-0EE6465254C1}"/>
              </a:ext>
            </a:extLst>
          </p:cNvPr>
          <p:cNvGraphicFramePr>
            <a:graphicFrameLocks noGrp="1"/>
          </p:cNvGraphicFramePr>
          <p:nvPr>
            <p:ph idx="1"/>
            <p:extLst>
              <p:ext uri="{D42A27DB-BD31-4B8C-83A1-F6EECF244321}">
                <p14:modId xmlns:p14="http://schemas.microsoft.com/office/powerpoint/2010/main" val="956082500"/>
              </p:ext>
            </p:extLst>
          </p:nvPr>
        </p:nvGraphicFramePr>
        <p:xfrm>
          <a:off x="552926" y="1452474"/>
          <a:ext cx="10501154" cy="4298086"/>
        </p:xfrm>
        <a:graphic>
          <a:graphicData uri="http://schemas.openxmlformats.org/drawingml/2006/table">
            <a:tbl>
              <a:tblPr/>
              <a:tblGrid>
                <a:gridCol w="1265714">
                  <a:extLst>
                    <a:ext uri="{9D8B030D-6E8A-4147-A177-3AD203B41FA5}">
                      <a16:colId xmlns:a16="http://schemas.microsoft.com/office/drawing/2014/main" val="3836150393"/>
                    </a:ext>
                  </a:extLst>
                </a:gridCol>
                <a:gridCol w="1463040">
                  <a:extLst>
                    <a:ext uri="{9D8B030D-6E8A-4147-A177-3AD203B41FA5}">
                      <a16:colId xmlns:a16="http://schemas.microsoft.com/office/drawing/2014/main" val="4136496188"/>
                    </a:ext>
                  </a:extLst>
                </a:gridCol>
                <a:gridCol w="1920240">
                  <a:extLst>
                    <a:ext uri="{9D8B030D-6E8A-4147-A177-3AD203B41FA5}">
                      <a16:colId xmlns:a16="http://schemas.microsoft.com/office/drawing/2014/main" val="2740903062"/>
                    </a:ext>
                  </a:extLst>
                </a:gridCol>
                <a:gridCol w="3728720">
                  <a:extLst>
                    <a:ext uri="{9D8B030D-6E8A-4147-A177-3AD203B41FA5}">
                      <a16:colId xmlns:a16="http://schemas.microsoft.com/office/drawing/2014/main" val="2826207289"/>
                    </a:ext>
                  </a:extLst>
                </a:gridCol>
                <a:gridCol w="1310640">
                  <a:extLst>
                    <a:ext uri="{9D8B030D-6E8A-4147-A177-3AD203B41FA5}">
                      <a16:colId xmlns:a16="http://schemas.microsoft.com/office/drawing/2014/main" val="1656102053"/>
                    </a:ext>
                  </a:extLst>
                </a:gridCol>
                <a:gridCol w="812800">
                  <a:extLst>
                    <a:ext uri="{9D8B030D-6E8A-4147-A177-3AD203B41FA5}">
                      <a16:colId xmlns:a16="http://schemas.microsoft.com/office/drawing/2014/main" val="3147697755"/>
                    </a:ext>
                  </a:extLst>
                </a:gridCol>
              </a:tblGrid>
              <a:tr h="573581">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983035">
                <a:tc>
                  <a:txBody>
                    <a:bodyPr/>
                    <a:lstStyle/>
                    <a:p>
                      <a:pPr algn="ctr">
                        <a:buNone/>
                      </a:pPr>
                      <a:r>
                        <a:rPr lang="en-IN" sz="1400" b="1" dirty="0"/>
                        <a:t>UI-20</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Summary Table Display</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Enter URLs and click to scan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Total URLs Processed, Phishing Count (red), Legitimate Count (green), High/Critical Risk Count (red), Error Count, Invalid URLs Skipped (if any, yellow)</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839065">
                <a:tc>
                  <a:txBody>
                    <a:bodyPr/>
                    <a:lstStyle/>
                    <a:p>
                      <a:pPr algn="ctr">
                        <a:buNone/>
                      </a:pPr>
                      <a:r>
                        <a:rPr lang="en-IN" sz="1400" b="1" dirty="0"/>
                        <a:t>UI-21</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Valid URL Results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Enter valid URLs and click to scan</a:t>
                      </a:r>
                      <a:endParaRPr lang="en-IN" sz="1400" dirty="0"/>
                    </a:p>
                    <a:p>
                      <a:pPr algn="ctr">
                        <a:buNone/>
                      </a:pP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Truncated URL Colored prediction badge Confidence percentage Risk score with color-coded badge Attack types list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957525">
                <a:tc>
                  <a:txBody>
                    <a:bodyPr/>
                    <a:lstStyle/>
                    <a:p>
                      <a:pPr algn="ctr">
                        <a:buNone/>
                      </a:pPr>
                      <a:r>
                        <a:rPr lang="en-IN" sz="1400" b="1" dirty="0"/>
                        <a:t>UI-22</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Invalid URL Results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Enter invalid URLs and click to scan</a:t>
                      </a:r>
                      <a:endParaRPr lang="en-IN" sz="1400" dirty="0"/>
                    </a:p>
                    <a:p>
                      <a:pPr algn="ctr">
                        <a:buNone/>
                      </a:pP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Yellow "INVALID URL" badge Confidence: N/A Risk Score: N/A Attack Type shows error message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r h="680720">
                <a:tc>
                  <a:txBody>
                    <a:bodyPr/>
                    <a:lstStyle/>
                    <a:p>
                      <a:pPr algn="ctr">
                        <a:buNone/>
                      </a:pPr>
                      <a:r>
                        <a:rPr lang="en-US" sz="1400" b="1" dirty="0"/>
                        <a:t>UI-23</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Risk Score Color Coding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50 valid URLs</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76-100: Red background </a:t>
                      </a:r>
                    </a:p>
                    <a:p>
                      <a:pPr algn="ctr">
                        <a:buNone/>
                      </a:pPr>
                      <a:r>
                        <a:rPr lang="en-US" sz="1400" dirty="0"/>
                        <a:t>51-75: Orange background </a:t>
                      </a:r>
                    </a:p>
                    <a:p>
                      <a:pPr algn="ctr">
                        <a:buNone/>
                      </a:pPr>
                      <a:r>
                        <a:rPr lang="en-US" sz="1400" dirty="0"/>
                        <a:t>26-50: Yellow background (black text)</a:t>
                      </a:r>
                    </a:p>
                    <a:p>
                      <a:pPr algn="ctr">
                        <a:buNone/>
                      </a:pPr>
                      <a:r>
                        <a:rPr lang="en-US" sz="1400" dirty="0"/>
                        <a:t> 0-25: Green background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As observed</a:t>
                      </a:r>
                    </a:p>
                    <a:p>
                      <a:pPr algn="ctr">
                        <a:buNone/>
                      </a:pP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116688"/>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9699FC6C-42F2-C1B3-B02D-DAE971734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EAD403D-E08C-0310-B999-9BF5ECD2B79F}"/>
              </a:ext>
            </a:extLst>
          </p:cNvPr>
          <p:cNvSpPr txBox="1"/>
          <p:nvPr/>
        </p:nvSpPr>
        <p:spPr>
          <a:xfrm>
            <a:off x="351453" y="488504"/>
            <a:ext cx="6096000" cy="369332"/>
          </a:xfrm>
          <a:prstGeom prst="rect">
            <a:avLst/>
          </a:prstGeom>
          <a:noFill/>
        </p:spPr>
        <p:txBody>
          <a:bodyPr wrap="square">
            <a:spAutoFit/>
          </a:bodyPr>
          <a:lstStyle/>
          <a:p>
            <a:r>
              <a:rPr lang="it-IT" b="1" dirty="0"/>
              <a:t>2.2</a:t>
            </a:r>
            <a:r>
              <a:rPr lang="en-US" b="1" dirty="0"/>
              <a:t> Result Display Tests</a:t>
            </a:r>
            <a:endParaRPr lang="en-IN" b="1" dirty="0"/>
          </a:p>
        </p:txBody>
      </p:sp>
    </p:spTree>
    <p:extLst>
      <p:ext uri="{BB962C8B-B14F-4D97-AF65-F5344CB8AC3E}">
        <p14:creationId xmlns:p14="http://schemas.microsoft.com/office/powerpoint/2010/main" val="2124251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20184-AE98-3461-1AC4-5A09DC7674C3}"/>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E353C7EF-CB26-4285-2928-DE8F8637BF58}"/>
              </a:ext>
            </a:extLst>
          </p:cNvPr>
          <p:cNvGraphicFramePr>
            <a:graphicFrameLocks noGrp="1"/>
          </p:cNvGraphicFramePr>
          <p:nvPr>
            <p:ph idx="1"/>
            <p:extLst>
              <p:ext uri="{D42A27DB-BD31-4B8C-83A1-F6EECF244321}">
                <p14:modId xmlns:p14="http://schemas.microsoft.com/office/powerpoint/2010/main" val="3151940298"/>
              </p:ext>
            </p:extLst>
          </p:nvPr>
        </p:nvGraphicFramePr>
        <p:xfrm>
          <a:off x="481806" y="1431748"/>
          <a:ext cx="10501154" cy="4988966"/>
        </p:xfrm>
        <a:graphic>
          <a:graphicData uri="http://schemas.openxmlformats.org/drawingml/2006/table">
            <a:tbl>
              <a:tblPr/>
              <a:tblGrid>
                <a:gridCol w="1265714">
                  <a:extLst>
                    <a:ext uri="{9D8B030D-6E8A-4147-A177-3AD203B41FA5}">
                      <a16:colId xmlns:a16="http://schemas.microsoft.com/office/drawing/2014/main" val="3836150393"/>
                    </a:ext>
                  </a:extLst>
                </a:gridCol>
                <a:gridCol w="1280160">
                  <a:extLst>
                    <a:ext uri="{9D8B030D-6E8A-4147-A177-3AD203B41FA5}">
                      <a16:colId xmlns:a16="http://schemas.microsoft.com/office/drawing/2014/main" val="4136496188"/>
                    </a:ext>
                  </a:extLst>
                </a:gridCol>
                <a:gridCol w="1767840">
                  <a:extLst>
                    <a:ext uri="{9D8B030D-6E8A-4147-A177-3AD203B41FA5}">
                      <a16:colId xmlns:a16="http://schemas.microsoft.com/office/drawing/2014/main" val="2740903062"/>
                    </a:ext>
                  </a:extLst>
                </a:gridCol>
                <a:gridCol w="4064000">
                  <a:extLst>
                    <a:ext uri="{9D8B030D-6E8A-4147-A177-3AD203B41FA5}">
                      <a16:colId xmlns:a16="http://schemas.microsoft.com/office/drawing/2014/main" val="2826207289"/>
                    </a:ext>
                  </a:extLst>
                </a:gridCol>
                <a:gridCol w="1310640">
                  <a:extLst>
                    <a:ext uri="{9D8B030D-6E8A-4147-A177-3AD203B41FA5}">
                      <a16:colId xmlns:a16="http://schemas.microsoft.com/office/drawing/2014/main" val="1656102053"/>
                    </a:ext>
                  </a:extLst>
                </a:gridCol>
                <a:gridCol w="812800">
                  <a:extLst>
                    <a:ext uri="{9D8B030D-6E8A-4147-A177-3AD203B41FA5}">
                      <a16:colId xmlns:a16="http://schemas.microsoft.com/office/drawing/2014/main" val="3147697755"/>
                    </a:ext>
                  </a:extLst>
                </a:gridCol>
              </a:tblGrid>
              <a:tr h="573581">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686665">
                <a:tc>
                  <a:txBody>
                    <a:bodyPr/>
                    <a:lstStyle/>
                    <a:p>
                      <a:pPr algn="ctr">
                        <a:buNone/>
                      </a:pPr>
                      <a:r>
                        <a:rPr lang="en-IN" sz="1400" b="1" dirty="0"/>
                        <a:t>UI-24</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Default Load</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Navigate to Audit Reports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Loads 50 most recent logs by default, Filters section visible, Limit set to 50</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599440">
                <a:tc>
                  <a:txBody>
                    <a:bodyPr/>
                    <a:lstStyle/>
                    <a:p>
                      <a:pPr algn="ctr">
                        <a:buNone/>
                      </a:pPr>
                      <a:r>
                        <a:rPr lang="en-IN" sz="1400" b="1" dirty="0"/>
                        <a:t>UI-25</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Limit Filter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Change limit dropdown (10, 50, 100, 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Each selection updates correctly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345440">
                <a:tc>
                  <a:txBody>
                    <a:bodyPr/>
                    <a:lstStyle/>
                    <a:p>
                      <a:pPr algn="ctr">
                        <a:buNone/>
                      </a:pPr>
                      <a:r>
                        <a:rPr lang="en-IN" sz="1400" b="1" dirty="0"/>
                        <a:t>UI-26</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Date Filter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Select a start date and click "Apply Filters"</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Only logs after that date appear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r h="589280">
                <a:tc>
                  <a:txBody>
                    <a:bodyPr/>
                    <a:lstStyle/>
                    <a:p>
                      <a:pPr algn="ctr">
                        <a:buNone/>
                      </a:pPr>
                      <a:r>
                        <a:rPr lang="en-US" sz="1400" b="1" dirty="0"/>
                        <a:t>UI-27</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Loading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Click "Apply Filters"</a:t>
                      </a: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Button disabled, Spinning loader icon, "Fetching logs from MongoDB..." message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As observed</a:t>
                      </a:r>
                    </a:p>
                    <a:p>
                      <a:pPr algn="ctr">
                        <a:buNone/>
                      </a:pP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116688"/>
                  </a:ext>
                </a:extLst>
              </a:tr>
              <a:tr h="680720">
                <a:tc>
                  <a:txBody>
                    <a:bodyPr/>
                    <a:lstStyle/>
                    <a:p>
                      <a:pPr algn="ctr">
                        <a:buNone/>
                      </a:pPr>
                      <a:r>
                        <a:rPr lang="en-US" sz="1400" b="1" dirty="0"/>
                        <a:t>UI-28</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Single Scan Log Display</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Scan a single URL and check the Audit Reports page</a:t>
                      </a:r>
                      <a:endParaRPr lang="en-IN" sz="1400" dirty="0"/>
                    </a:p>
                    <a:p>
                      <a:pPr algn="ctr">
                        <a:buNone/>
                      </a:pPr>
                      <a:endParaRPr lang="sv-SE"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IST timestamp, "SINGLE" badge (blue), Full URL (truncated if long), Prediction with icon and confidence Risk score badge, Attack types, Feedback button or "Reviewed" 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As observed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8539031"/>
                  </a:ext>
                </a:extLst>
              </a:tr>
              <a:tr h="680720">
                <a:tc>
                  <a:txBody>
                    <a:bodyPr/>
                    <a:lstStyle/>
                    <a:p>
                      <a:pPr algn="ctr">
                        <a:buNone/>
                      </a:pPr>
                      <a:r>
                        <a:rPr lang="en-US" sz="1400" b="1" dirty="0"/>
                        <a:t>UI-29</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Batch Scan Log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Enter valid URLs and click to scan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IST timestamp with expand icon "BATCH" badge (purple), URL count Summary (Threats/Errors) No risk score or attack types, No feedback column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As observed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Pass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6524428"/>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D26A89D6-86D9-2467-2D5F-F1BBE860B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6223D95-0132-D690-EDF3-4FBA83837790}"/>
              </a:ext>
            </a:extLst>
          </p:cNvPr>
          <p:cNvSpPr txBox="1"/>
          <p:nvPr/>
        </p:nvSpPr>
        <p:spPr>
          <a:xfrm>
            <a:off x="351453" y="488504"/>
            <a:ext cx="6096000" cy="923330"/>
          </a:xfrm>
          <a:prstGeom prst="rect">
            <a:avLst/>
          </a:prstGeom>
          <a:noFill/>
        </p:spPr>
        <p:txBody>
          <a:bodyPr wrap="square">
            <a:spAutoFit/>
          </a:bodyPr>
          <a:lstStyle/>
          <a:p>
            <a:r>
              <a:rPr lang="en-IN" b="1" dirty="0"/>
              <a:t>3. Reports Logger Tests</a:t>
            </a:r>
          </a:p>
          <a:p>
            <a:endParaRPr lang="it-IT" b="1" dirty="0"/>
          </a:p>
          <a:p>
            <a:r>
              <a:rPr lang="en-IN" b="1" dirty="0"/>
              <a:t>3.1 Filter Tests</a:t>
            </a:r>
            <a:endParaRPr lang="it-IT" sz="1800" b="1" dirty="0"/>
          </a:p>
        </p:txBody>
      </p:sp>
    </p:spTree>
    <p:extLst>
      <p:ext uri="{BB962C8B-B14F-4D97-AF65-F5344CB8AC3E}">
        <p14:creationId xmlns:p14="http://schemas.microsoft.com/office/powerpoint/2010/main" val="8484457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D3320-4894-883C-9DE2-AFB5E7978AE7}"/>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430FE96-ABA6-1768-4342-5ACF7B697A9E}"/>
              </a:ext>
            </a:extLst>
          </p:cNvPr>
          <p:cNvGraphicFramePr>
            <a:graphicFrameLocks noGrp="1"/>
          </p:cNvGraphicFramePr>
          <p:nvPr>
            <p:ph idx="1"/>
            <p:extLst>
              <p:ext uri="{D42A27DB-BD31-4B8C-83A1-F6EECF244321}">
                <p14:modId xmlns:p14="http://schemas.microsoft.com/office/powerpoint/2010/main" val="3652664251"/>
              </p:ext>
            </p:extLst>
          </p:nvPr>
        </p:nvGraphicFramePr>
        <p:xfrm>
          <a:off x="522446" y="1496782"/>
          <a:ext cx="10501154" cy="2134818"/>
        </p:xfrm>
        <a:graphic>
          <a:graphicData uri="http://schemas.openxmlformats.org/drawingml/2006/table">
            <a:tbl>
              <a:tblPr/>
              <a:tblGrid>
                <a:gridCol w="1265714">
                  <a:extLst>
                    <a:ext uri="{9D8B030D-6E8A-4147-A177-3AD203B41FA5}">
                      <a16:colId xmlns:a16="http://schemas.microsoft.com/office/drawing/2014/main" val="3836150393"/>
                    </a:ext>
                  </a:extLst>
                </a:gridCol>
                <a:gridCol w="1280160">
                  <a:extLst>
                    <a:ext uri="{9D8B030D-6E8A-4147-A177-3AD203B41FA5}">
                      <a16:colId xmlns:a16="http://schemas.microsoft.com/office/drawing/2014/main" val="4136496188"/>
                    </a:ext>
                  </a:extLst>
                </a:gridCol>
                <a:gridCol w="1483360">
                  <a:extLst>
                    <a:ext uri="{9D8B030D-6E8A-4147-A177-3AD203B41FA5}">
                      <a16:colId xmlns:a16="http://schemas.microsoft.com/office/drawing/2014/main" val="2740903062"/>
                    </a:ext>
                  </a:extLst>
                </a:gridCol>
                <a:gridCol w="4572000">
                  <a:extLst>
                    <a:ext uri="{9D8B030D-6E8A-4147-A177-3AD203B41FA5}">
                      <a16:colId xmlns:a16="http://schemas.microsoft.com/office/drawing/2014/main" val="2826207289"/>
                    </a:ext>
                  </a:extLst>
                </a:gridCol>
                <a:gridCol w="1178560">
                  <a:extLst>
                    <a:ext uri="{9D8B030D-6E8A-4147-A177-3AD203B41FA5}">
                      <a16:colId xmlns:a16="http://schemas.microsoft.com/office/drawing/2014/main" val="1656102053"/>
                    </a:ext>
                  </a:extLst>
                </a:gridCol>
                <a:gridCol w="721360">
                  <a:extLst>
                    <a:ext uri="{9D8B030D-6E8A-4147-A177-3AD203B41FA5}">
                      <a16:colId xmlns:a16="http://schemas.microsoft.com/office/drawing/2014/main" val="3147697755"/>
                    </a:ext>
                  </a:extLst>
                </a:gridCol>
              </a:tblGrid>
              <a:tr h="509218">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589280">
                <a:tc>
                  <a:txBody>
                    <a:bodyPr/>
                    <a:lstStyle/>
                    <a:p>
                      <a:pPr algn="ctr">
                        <a:buNone/>
                      </a:pPr>
                      <a:r>
                        <a:rPr lang="en-IN" sz="1400" b="1" dirty="0"/>
                        <a:t>UI-30</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Single Scan Tab</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Click "Single Scan" 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Tab highlighted in blue with underline, SingleScanComponent displays, URL bar shows Search icon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487680">
                <a:tc>
                  <a:txBody>
                    <a:bodyPr/>
                    <a:lstStyle/>
                    <a:p>
                      <a:pPr algn="ctr">
                        <a:buNone/>
                      </a:pPr>
                      <a:r>
                        <a:rPr lang="en-IN" sz="1400" b="1" dirty="0"/>
                        <a:t>UI-31</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Bulk Analysis 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Click "Bulk Analysis" tab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Tab highlighted, BatchAnalyzer displays, Tab shows List icon</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183286">
                <a:tc>
                  <a:txBody>
                    <a:bodyPr/>
                    <a:lstStyle/>
                    <a:p>
                      <a:pPr algn="ctr">
                        <a:buNone/>
                      </a:pPr>
                      <a:r>
                        <a:rPr lang="en-IN" sz="1400" b="1" dirty="0"/>
                        <a:t>UI-32</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Audit Reports 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Click "Audit Reports" tab</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dirty="0"/>
                        <a:t>Tab highlighted, ReportsLogger displays, Tab shows TrendingUp icon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C377F864-0D71-CC9A-E95A-E19EFFDFC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AADF14B-617E-BE89-A914-016BEC2C2E0B}"/>
              </a:ext>
            </a:extLst>
          </p:cNvPr>
          <p:cNvSpPr txBox="1"/>
          <p:nvPr/>
        </p:nvSpPr>
        <p:spPr>
          <a:xfrm>
            <a:off x="422573" y="488504"/>
            <a:ext cx="6096000" cy="923330"/>
          </a:xfrm>
          <a:prstGeom prst="rect">
            <a:avLst/>
          </a:prstGeom>
          <a:noFill/>
        </p:spPr>
        <p:txBody>
          <a:bodyPr wrap="square">
            <a:spAutoFit/>
          </a:bodyPr>
          <a:lstStyle/>
          <a:p>
            <a:r>
              <a:rPr lang="en-IN" b="1" dirty="0"/>
              <a:t>4. Navigation &amp; Global Tests</a:t>
            </a:r>
          </a:p>
          <a:p>
            <a:endParaRPr lang="en-IN" sz="1800" b="1" dirty="0"/>
          </a:p>
          <a:p>
            <a:r>
              <a:rPr lang="en-IN" b="1" dirty="0"/>
              <a:t>4.1 Tab Navigation</a:t>
            </a:r>
            <a:endParaRPr lang="it-IT" sz="1800" b="1" dirty="0"/>
          </a:p>
        </p:txBody>
      </p:sp>
      <p:graphicFrame>
        <p:nvGraphicFramePr>
          <p:cNvPr id="2" name="Table 1">
            <a:extLst>
              <a:ext uri="{FF2B5EF4-FFF2-40B4-BE49-F238E27FC236}">
                <a16:creationId xmlns:a16="http://schemas.microsoft.com/office/drawing/2014/main" id="{60289B46-4812-D815-93DA-B639C38EB718}"/>
              </a:ext>
            </a:extLst>
          </p:cNvPr>
          <p:cNvGraphicFramePr>
            <a:graphicFrameLocks noGrp="1"/>
          </p:cNvGraphicFramePr>
          <p:nvPr>
            <p:extLst>
              <p:ext uri="{D42A27DB-BD31-4B8C-83A1-F6EECF244321}">
                <p14:modId xmlns:p14="http://schemas.microsoft.com/office/powerpoint/2010/main" val="3945519308"/>
              </p:ext>
            </p:extLst>
          </p:nvPr>
        </p:nvGraphicFramePr>
        <p:xfrm>
          <a:off x="522446" y="4275550"/>
          <a:ext cx="10501154" cy="1949705"/>
        </p:xfrm>
        <a:graphic>
          <a:graphicData uri="http://schemas.openxmlformats.org/drawingml/2006/table">
            <a:tbl>
              <a:tblPr/>
              <a:tblGrid>
                <a:gridCol w="1265714">
                  <a:extLst>
                    <a:ext uri="{9D8B030D-6E8A-4147-A177-3AD203B41FA5}">
                      <a16:colId xmlns:a16="http://schemas.microsoft.com/office/drawing/2014/main" val="3423027615"/>
                    </a:ext>
                  </a:extLst>
                </a:gridCol>
                <a:gridCol w="1280160">
                  <a:extLst>
                    <a:ext uri="{9D8B030D-6E8A-4147-A177-3AD203B41FA5}">
                      <a16:colId xmlns:a16="http://schemas.microsoft.com/office/drawing/2014/main" val="3109643910"/>
                    </a:ext>
                  </a:extLst>
                </a:gridCol>
                <a:gridCol w="1767840">
                  <a:extLst>
                    <a:ext uri="{9D8B030D-6E8A-4147-A177-3AD203B41FA5}">
                      <a16:colId xmlns:a16="http://schemas.microsoft.com/office/drawing/2014/main" val="3140522882"/>
                    </a:ext>
                  </a:extLst>
                </a:gridCol>
                <a:gridCol w="4064000">
                  <a:extLst>
                    <a:ext uri="{9D8B030D-6E8A-4147-A177-3AD203B41FA5}">
                      <a16:colId xmlns:a16="http://schemas.microsoft.com/office/drawing/2014/main" val="2687184449"/>
                    </a:ext>
                  </a:extLst>
                </a:gridCol>
                <a:gridCol w="1310640">
                  <a:extLst>
                    <a:ext uri="{9D8B030D-6E8A-4147-A177-3AD203B41FA5}">
                      <a16:colId xmlns:a16="http://schemas.microsoft.com/office/drawing/2014/main" val="3500279347"/>
                    </a:ext>
                  </a:extLst>
                </a:gridCol>
                <a:gridCol w="812800">
                  <a:extLst>
                    <a:ext uri="{9D8B030D-6E8A-4147-A177-3AD203B41FA5}">
                      <a16:colId xmlns:a16="http://schemas.microsoft.com/office/drawing/2014/main" val="3221156763"/>
                    </a:ext>
                  </a:extLst>
                </a:gridCol>
              </a:tblGrid>
              <a:tr h="395225">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3005206"/>
                  </a:ext>
                </a:extLst>
              </a:tr>
              <a:tr h="477520">
                <a:tc>
                  <a:txBody>
                    <a:bodyPr/>
                    <a:lstStyle/>
                    <a:p>
                      <a:pPr algn="ctr">
                        <a:buNone/>
                      </a:pPr>
                      <a:r>
                        <a:rPr lang="en-IN" sz="1400" b="1" dirty="0"/>
                        <a:t>UI-33</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API Connected</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Start Flask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Green dot indicator "API Connected" text "ML Model Active" text (if model loaded)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8802438"/>
                  </a:ext>
                </a:extLst>
              </a:tr>
              <a:tr h="193040">
                <a:tc>
                  <a:txBody>
                    <a:bodyPr/>
                    <a:lstStyle/>
                    <a:p>
                      <a:pPr algn="ctr">
                        <a:buNone/>
                      </a:pPr>
                      <a:r>
                        <a:rPr lang="en-IN" sz="1400" b="1" dirty="0"/>
                        <a:t>UI-34</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API Disconnected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Stop Flask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Red dot indicator "API Disconnected" text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644291"/>
                  </a:ext>
                </a:extLst>
              </a:tr>
              <a:tr h="229871">
                <a:tc>
                  <a:txBody>
                    <a:bodyPr/>
                    <a:lstStyle/>
                    <a:p>
                      <a:pPr algn="ctr">
                        <a:buNone/>
                      </a:pPr>
                      <a:r>
                        <a:rPr lang="en-IN" sz="1400" b="1" dirty="0"/>
                        <a:t>UI-35</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Loading Health Check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Reload page</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Spinning loader shows briefly Then updates to connected/disconnected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2489715"/>
                  </a:ext>
                </a:extLst>
              </a:tr>
            </a:tbl>
          </a:graphicData>
        </a:graphic>
      </p:graphicFrame>
      <p:sp>
        <p:nvSpPr>
          <p:cNvPr id="3" name="TextBox 2">
            <a:extLst>
              <a:ext uri="{FF2B5EF4-FFF2-40B4-BE49-F238E27FC236}">
                <a16:creationId xmlns:a16="http://schemas.microsoft.com/office/drawing/2014/main" id="{31587108-E9E6-0494-F985-5ABCB30F7EB1}"/>
              </a:ext>
            </a:extLst>
          </p:cNvPr>
          <p:cNvSpPr txBox="1"/>
          <p:nvPr/>
        </p:nvSpPr>
        <p:spPr>
          <a:xfrm>
            <a:off x="422573" y="3768909"/>
            <a:ext cx="6096000" cy="369332"/>
          </a:xfrm>
          <a:prstGeom prst="rect">
            <a:avLst/>
          </a:prstGeom>
          <a:noFill/>
        </p:spPr>
        <p:txBody>
          <a:bodyPr wrap="square">
            <a:spAutoFit/>
          </a:bodyPr>
          <a:lstStyle/>
          <a:p>
            <a:r>
              <a:rPr lang="en-IN" b="1" dirty="0"/>
              <a:t>4.2 API Health Check</a:t>
            </a:r>
            <a:endParaRPr lang="it-IT" sz="1800" b="1" dirty="0"/>
          </a:p>
        </p:txBody>
      </p:sp>
    </p:spTree>
    <p:extLst>
      <p:ext uri="{BB962C8B-B14F-4D97-AF65-F5344CB8AC3E}">
        <p14:creationId xmlns:p14="http://schemas.microsoft.com/office/powerpoint/2010/main" val="34613047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E2366-F781-0027-5369-EA91EE6D05FD}"/>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4B88FDA8-3543-0C89-F7C3-DFFD24B4B340}"/>
              </a:ext>
            </a:extLst>
          </p:cNvPr>
          <p:cNvGraphicFramePr>
            <a:graphicFrameLocks noGrp="1"/>
          </p:cNvGraphicFramePr>
          <p:nvPr>
            <p:ph idx="1"/>
            <p:extLst>
              <p:ext uri="{D42A27DB-BD31-4B8C-83A1-F6EECF244321}">
                <p14:modId xmlns:p14="http://schemas.microsoft.com/office/powerpoint/2010/main" val="1100418074"/>
              </p:ext>
            </p:extLst>
          </p:nvPr>
        </p:nvGraphicFramePr>
        <p:xfrm>
          <a:off x="481806" y="1695908"/>
          <a:ext cx="10501154" cy="2377846"/>
        </p:xfrm>
        <a:graphic>
          <a:graphicData uri="http://schemas.openxmlformats.org/drawingml/2006/table">
            <a:tbl>
              <a:tblPr/>
              <a:tblGrid>
                <a:gridCol w="1265714">
                  <a:extLst>
                    <a:ext uri="{9D8B030D-6E8A-4147-A177-3AD203B41FA5}">
                      <a16:colId xmlns:a16="http://schemas.microsoft.com/office/drawing/2014/main" val="3836150393"/>
                    </a:ext>
                  </a:extLst>
                </a:gridCol>
                <a:gridCol w="1280160">
                  <a:extLst>
                    <a:ext uri="{9D8B030D-6E8A-4147-A177-3AD203B41FA5}">
                      <a16:colId xmlns:a16="http://schemas.microsoft.com/office/drawing/2014/main" val="4136496188"/>
                    </a:ext>
                  </a:extLst>
                </a:gridCol>
                <a:gridCol w="1767840">
                  <a:extLst>
                    <a:ext uri="{9D8B030D-6E8A-4147-A177-3AD203B41FA5}">
                      <a16:colId xmlns:a16="http://schemas.microsoft.com/office/drawing/2014/main" val="2740903062"/>
                    </a:ext>
                  </a:extLst>
                </a:gridCol>
                <a:gridCol w="4064000">
                  <a:extLst>
                    <a:ext uri="{9D8B030D-6E8A-4147-A177-3AD203B41FA5}">
                      <a16:colId xmlns:a16="http://schemas.microsoft.com/office/drawing/2014/main" val="2826207289"/>
                    </a:ext>
                  </a:extLst>
                </a:gridCol>
                <a:gridCol w="1310640">
                  <a:extLst>
                    <a:ext uri="{9D8B030D-6E8A-4147-A177-3AD203B41FA5}">
                      <a16:colId xmlns:a16="http://schemas.microsoft.com/office/drawing/2014/main" val="1656102053"/>
                    </a:ext>
                  </a:extLst>
                </a:gridCol>
                <a:gridCol w="812800">
                  <a:extLst>
                    <a:ext uri="{9D8B030D-6E8A-4147-A177-3AD203B41FA5}">
                      <a16:colId xmlns:a16="http://schemas.microsoft.com/office/drawing/2014/main" val="3147697755"/>
                    </a:ext>
                  </a:extLst>
                </a:gridCol>
              </a:tblGrid>
              <a:tr h="573581">
                <a:tc>
                  <a:txBody>
                    <a:bodyPr/>
                    <a:lstStyle/>
                    <a:p>
                      <a:pPr algn="ctr">
                        <a:buNone/>
                      </a:pPr>
                      <a:r>
                        <a:rPr lang="en-IN" sz="1400" b="1" dirty="0"/>
                        <a:t>Test Case ID</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Test Scenario</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Input / steps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Expected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Actual Result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1" dirty="0"/>
                        <a:t>Status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5752149"/>
                  </a:ext>
                </a:extLst>
              </a:tr>
              <a:tr h="686665">
                <a:tc>
                  <a:txBody>
                    <a:bodyPr/>
                    <a:lstStyle/>
                    <a:p>
                      <a:pPr algn="ctr">
                        <a:buNone/>
                      </a:pPr>
                      <a:r>
                        <a:rPr lang="en-IN" sz="1400" b="1" dirty="0"/>
                        <a:t>UI-36</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Single Scan Response Time</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Scan a URL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Results displayed within 1 - 3 seconds</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48293"/>
                  </a:ext>
                </a:extLst>
              </a:tr>
              <a:tr h="599440">
                <a:tc>
                  <a:txBody>
                    <a:bodyPr/>
                    <a:lstStyle/>
                    <a:p>
                      <a:pPr algn="ctr">
                        <a:buNone/>
                      </a:pPr>
                      <a:r>
                        <a:rPr lang="en-IN" sz="1400" b="1" dirty="0"/>
                        <a:t>UI-37</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Batch Scan 50 URLs</a:t>
                      </a:r>
                      <a:endParaRPr lang="en-IN" sz="1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Submit 50 URLs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Complete within 2 - 3 minutes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410647"/>
                  </a:ext>
                </a:extLst>
              </a:tr>
              <a:tr h="229871">
                <a:tc>
                  <a:txBody>
                    <a:bodyPr/>
                    <a:lstStyle/>
                    <a:p>
                      <a:pPr algn="ctr">
                        <a:buNone/>
                      </a:pPr>
                      <a:r>
                        <a:rPr lang="en-IN" sz="1400" b="1" dirty="0"/>
                        <a:t>UI-38</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Large History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400" dirty="0"/>
                        <a:t>Perform 100+ scans</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UI remains responsive, Sidebar scrolls smoothly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As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t>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057476"/>
                  </a:ext>
                </a:extLst>
              </a:tr>
            </a:tbl>
          </a:graphicData>
        </a:graphic>
      </p:graphicFrame>
      <p:pic>
        <p:nvPicPr>
          <p:cNvPr id="4" name="Picture 3" descr="PES University Know All about the Indian UGC-Approved University">
            <a:extLst>
              <a:ext uri="{FF2B5EF4-FFF2-40B4-BE49-F238E27FC236}">
                <a16:creationId xmlns:a16="http://schemas.microsoft.com/office/drawing/2014/main" id="{4483779B-A5D9-8B52-99AA-E417975B19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E9CF9E8-EC98-5392-D592-6EA0EBF5BE81}"/>
              </a:ext>
            </a:extLst>
          </p:cNvPr>
          <p:cNvSpPr txBox="1"/>
          <p:nvPr/>
        </p:nvSpPr>
        <p:spPr>
          <a:xfrm>
            <a:off x="351453" y="488504"/>
            <a:ext cx="6096000" cy="923330"/>
          </a:xfrm>
          <a:prstGeom prst="rect">
            <a:avLst/>
          </a:prstGeom>
          <a:noFill/>
        </p:spPr>
        <p:txBody>
          <a:bodyPr wrap="square">
            <a:spAutoFit/>
          </a:bodyPr>
          <a:lstStyle/>
          <a:p>
            <a:pPr marL="342900" indent="-342900">
              <a:buAutoNum type="arabicPeriod" startAt="5"/>
            </a:pPr>
            <a:r>
              <a:rPr lang="en-IN" b="1" dirty="0"/>
              <a:t>Performance &amp; Load Tests</a:t>
            </a:r>
          </a:p>
          <a:p>
            <a:endParaRPr lang="en-IN" dirty="0"/>
          </a:p>
          <a:p>
            <a:r>
              <a:rPr lang="en-IN" b="1" dirty="0"/>
              <a:t>5.1 Response Time Tests</a:t>
            </a:r>
          </a:p>
        </p:txBody>
      </p:sp>
    </p:spTree>
    <p:extLst>
      <p:ext uri="{BB962C8B-B14F-4D97-AF65-F5344CB8AC3E}">
        <p14:creationId xmlns:p14="http://schemas.microsoft.com/office/powerpoint/2010/main" val="42801842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62BC-E496-268B-0C09-323BD5B3E62E}"/>
              </a:ext>
            </a:extLst>
          </p:cNvPr>
          <p:cNvSpPr>
            <a:spLocks noGrp="1"/>
          </p:cNvSpPr>
          <p:nvPr>
            <p:ph type="title"/>
          </p:nvPr>
        </p:nvSpPr>
        <p:spPr/>
        <p:txBody>
          <a:bodyPr>
            <a:normAutofit/>
          </a:bodyPr>
          <a:lstStyle/>
          <a:p>
            <a:pPr algn="l"/>
            <a:r>
              <a:rPr lang="en-US" sz="3600" b="1" dirty="0"/>
              <a:t>References</a:t>
            </a:r>
            <a:endParaRPr lang="en-IN" sz="3600" b="1" dirty="0"/>
          </a:p>
        </p:txBody>
      </p:sp>
      <p:sp>
        <p:nvSpPr>
          <p:cNvPr id="3" name="Content Placeholder 2">
            <a:extLst>
              <a:ext uri="{FF2B5EF4-FFF2-40B4-BE49-F238E27FC236}">
                <a16:creationId xmlns:a16="http://schemas.microsoft.com/office/drawing/2014/main" id="{F5435FF0-D40F-25BA-9E61-22FD688DB6CB}"/>
              </a:ext>
            </a:extLst>
          </p:cNvPr>
          <p:cNvSpPr>
            <a:spLocks noGrp="1"/>
          </p:cNvSpPr>
          <p:nvPr>
            <p:ph idx="1"/>
          </p:nvPr>
        </p:nvSpPr>
        <p:spPr>
          <a:xfrm>
            <a:off x="457200" y="1600200"/>
            <a:ext cx="11131420" cy="4983162"/>
          </a:xfrm>
        </p:spPr>
        <p:txBody>
          <a:bodyPr>
            <a:normAutofit/>
          </a:bodyPr>
          <a:lstStyle/>
          <a:p>
            <a:pPr marL="0" indent="0">
              <a:buNone/>
            </a:pPr>
            <a:r>
              <a:rPr lang="en-IN" sz="2000" b="1" dirty="0"/>
              <a:t>[1] </a:t>
            </a:r>
            <a:r>
              <a:rPr lang="en-IN" sz="2000" dirty="0"/>
              <a:t>U. Zara, K. Ayyub, H. U. Khan, A. Daud, T. Alsahfi, and S. G. Ahmad, “Phishing Website Detection using Deep Learning Models,” </a:t>
            </a:r>
            <a:r>
              <a:rPr lang="en-IN" sz="2000" b="1" i="1" dirty="0"/>
              <a:t>IEEE Access</a:t>
            </a:r>
            <a:r>
              <a:rPr lang="en-IN" sz="2000" dirty="0"/>
              <a:t>, vol. 12, pp. 1–15</a:t>
            </a:r>
            <a:r>
              <a:rPr lang="en-IN" sz="2000" b="1" dirty="0"/>
              <a:t>, 2024</a:t>
            </a:r>
            <a:r>
              <a:rPr lang="en-IN" sz="2000" dirty="0"/>
              <a:t>,</a:t>
            </a:r>
            <a:r>
              <a:rPr lang="en-IN" sz="2000" b="1" dirty="0"/>
              <a:t>DOI:</a:t>
            </a:r>
            <a:r>
              <a:rPr lang="en-IN" b="1" dirty="0"/>
              <a:t> </a:t>
            </a:r>
            <a:r>
              <a:rPr lang="en-IN" sz="2000" u="sng" dirty="0">
                <a:hlinkClick r:id="rId2"/>
              </a:rPr>
              <a:t>10.1109/ACCESS.2024.3486462</a:t>
            </a:r>
            <a:endParaRPr lang="en-IN" sz="2000" dirty="0"/>
          </a:p>
          <a:p>
            <a:pPr marL="0" indent="0">
              <a:buNone/>
            </a:pPr>
            <a:r>
              <a:rPr lang="en-IN" sz="2000" b="1" dirty="0"/>
              <a:t>[2] </a:t>
            </a:r>
            <a:r>
              <a:rPr lang="en-IN" sz="2000" dirty="0"/>
              <a:t>Q. Abu Al-Haija and A. Al Badawi, “URL-based Phishing Websites Detection via Machine Learning,” in </a:t>
            </a:r>
            <a:r>
              <a:rPr lang="en-IN" sz="2000" i="1" dirty="0"/>
              <a:t>2021 International Conference on Data Analytics for Business and Industry (ICDABI)</a:t>
            </a:r>
            <a:r>
              <a:rPr lang="en-IN" sz="2000" dirty="0"/>
              <a:t>, </a:t>
            </a:r>
            <a:r>
              <a:rPr lang="en-IN" sz="2000" b="1" dirty="0"/>
              <a:t>2021</a:t>
            </a:r>
            <a:r>
              <a:rPr lang="en-IN" sz="2000" dirty="0"/>
              <a:t>,</a:t>
            </a:r>
          </a:p>
          <a:p>
            <a:pPr marL="0" indent="0">
              <a:buNone/>
            </a:pPr>
            <a:r>
              <a:rPr lang="en-IN" sz="2000" dirty="0"/>
              <a:t>DOI:</a:t>
            </a:r>
            <a:r>
              <a:rPr lang="en-IN" sz="2000" u="sng" dirty="0">
                <a:hlinkClick r:id="rId3"/>
              </a:rPr>
              <a:t>10.1109/ICDABI53623.2021.9655851 </a:t>
            </a:r>
            <a:endParaRPr lang="en-IN" sz="2000" u="sng" dirty="0"/>
          </a:p>
          <a:p>
            <a:pPr marL="0" indent="0">
              <a:buNone/>
            </a:pPr>
            <a:r>
              <a:rPr lang="en-IN" sz="2000" b="1" dirty="0"/>
              <a:t>[3] </a:t>
            </a:r>
            <a:r>
              <a:rPr lang="en-IN" sz="2000" dirty="0"/>
              <a:t>R. Ferdaws and N. E. Majd, “Phishing URL Detection Using Machine Learning and Deep Learning,” in </a:t>
            </a:r>
            <a:r>
              <a:rPr lang="en-IN" sz="2000" b="1" i="1" dirty="0"/>
              <a:t>IEEE</a:t>
            </a:r>
            <a:r>
              <a:rPr lang="en-IN" sz="2000" i="1" dirty="0"/>
              <a:t> World AI &amp; IoT Congress (AIIoT)</a:t>
            </a:r>
            <a:r>
              <a:rPr lang="en-IN" sz="2000" dirty="0"/>
              <a:t>, </a:t>
            </a:r>
            <a:r>
              <a:rPr lang="en-IN" sz="2000" b="1" dirty="0"/>
              <a:t>2024, DOI: </a:t>
            </a:r>
            <a:r>
              <a:rPr lang="en-IN" sz="2000" dirty="0">
                <a:hlinkClick r:id="rId4"/>
              </a:rPr>
              <a:t>10.1109/AIIoT61789.2024.10579005</a:t>
            </a:r>
            <a:r>
              <a:rPr lang="en-IN" sz="2000" dirty="0"/>
              <a:t>.</a:t>
            </a:r>
          </a:p>
          <a:p>
            <a:pPr marL="0" indent="0">
              <a:buNone/>
            </a:pPr>
            <a:r>
              <a:rPr lang="en-IN" sz="2000" b="1" dirty="0"/>
              <a:t>[4] </a:t>
            </a:r>
            <a:r>
              <a:rPr lang="en-IN" sz="2000" dirty="0"/>
              <a:t>A. Karim, M. Shahroz, K. Mustofa, S. B. Belhaouari, and S. R. K. Joga, “Phishing Detection System Through Hybrid Machine Learning Based on URL,” </a:t>
            </a:r>
            <a:r>
              <a:rPr lang="en-IN" sz="2000" b="1" i="1" dirty="0"/>
              <a:t>IEEE</a:t>
            </a:r>
            <a:r>
              <a:rPr lang="en-IN" sz="2000" i="1" dirty="0"/>
              <a:t> Access</a:t>
            </a:r>
            <a:r>
              <a:rPr lang="en-IN" sz="2000" dirty="0"/>
              <a:t>, vol. 11, </a:t>
            </a:r>
            <a:r>
              <a:rPr lang="en-IN" sz="2000" b="1" dirty="0"/>
              <a:t>2023</a:t>
            </a:r>
            <a:r>
              <a:rPr lang="en-IN" sz="2000" dirty="0"/>
              <a:t>, DOI:</a:t>
            </a:r>
            <a:r>
              <a:rPr lang="en-IN" sz="2000" u="sng" dirty="0">
                <a:hlinkClick r:id="rId5"/>
              </a:rPr>
              <a:t>10.1109/ACCESS.2023.3252366</a:t>
            </a:r>
            <a:endParaRPr lang="en-IN" sz="2000" u="sng" dirty="0"/>
          </a:p>
        </p:txBody>
      </p:sp>
      <p:pic>
        <p:nvPicPr>
          <p:cNvPr id="4" name="Picture 3" descr="PES University Know All about the Indian UGC-Approved University">
            <a:extLst>
              <a:ext uri="{FF2B5EF4-FFF2-40B4-BE49-F238E27FC236}">
                <a16:creationId xmlns:a16="http://schemas.microsoft.com/office/drawing/2014/main" id="{4077CF2B-D1CC-46D4-9524-358F2DDD76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708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E74814-9E56-CF89-AD35-FF36A5CE6E32}"/>
              </a:ext>
            </a:extLst>
          </p:cNvPr>
          <p:cNvSpPr>
            <a:spLocks noGrp="1"/>
          </p:cNvSpPr>
          <p:nvPr>
            <p:ph idx="1"/>
          </p:nvPr>
        </p:nvSpPr>
        <p:spPr>
          <a:xfrm>
            <a:off x="457199" y="1280954"/>
            <a:ext cx="11012905" cy="4845210"/>
          </a:xfrm>
        </p:spPr>
        <p:txBody>
          <a:bodyPr>
            <a:normAutofit fontScale="55000" lnSpcReduction="20000"/>
          </a:bodyPr>
          <a:lstStyle/>
          <a:p>
            <a:pPr marL="0" indent="0">
              <a:lnSpc>
                <a:spcPct val="120000"/>
              </a:lnSpc>
              <a:buNone/>
            </a:pPr>
            <a:r>
              <a:rPr lang="en-IN" b="1" dirty="0"/>
              <a:t>[5] </a:t>
            </a:r>
            <a:r>
              <a:rPr lang="en-IN" dirty="0"/>
              <a:t>M. Sánchez-Paniagua, E. Fidalgo Fernández, E. Alegre, W. Al-Nabki, and V. González-Castro, “Phishing URL Detection: A Real-Case Scenario Through Login URLs</a:t>
            </a:r>
            <a:r>
              <a:rPr lang="en-IN" b="1" dirty="0"/>
              <a:t>,” </a:t>
            </a:r>
            <a:r>
              <a:rPr lang="en-IN" b="1" i="1" dirty="0"/>
              <a:t>IEEE Access</a:t>
            </a:r>
            <a:r>
              <a:rPr lang="en-IN" dirty="0"/>
              <a:t>, vol. 10, pp. 48746–48761, </a:t>
            </a:r>
            <a:r>
              <a:rPr lang="en-IN" b="1" dirty="0"/>
              <a:t>2022</a:t>
            </a:r>
            <a:r>
              <a:rPr lang="en-IN" dirty="0"/>
              <a:t>, DOI:</a:t>
            </a:r>
            <a:r>
              <a:rPr lang="en-IN" dirty="0">
                <a:hlinkClick r:id="rId2"/>
              </a:rPr>
              <a:t>10.1109/ACCESS.2022.3168681</a:t>
            </a:r>
            <a:r>
              <a:rPr lang="en-IN" dirty="0"/>
              <a:t>.</a:t>
            </a:r>
          </a:p>
          <a:p>
            <a:pPr marL="0" indent="0">
              <a:lnSpc>
                <a:spcPct val="120000"/>
              </a:lnSpc>
              <a:buNone/>
            </a:pPr>
            <a:r>
              <a:rPr lang="en-IN" b="1" dirty="0"/>
              <a:t>[6] </a:t>
            </a:r>
            <a:r>
              <a:rPr lang="en-IN" dirty="0"/>
              <a:t>A. J. Odeh, I. M. Keshta, and E. Abdelfattah, “Machine Learning Techniques for Detection of Website Phishing: A Review for Promises and Challenges,” in </a:t>
            </a:r>
            <a:r>
              <a:rPr lang="en-IN" i="1" dirty="0"/>
              <a:t>2021 IEEE 11th Annual Computing and Communication Workshop and Conference (CCWC)</a:t>
            </a:r>
            <a:r>
              <a:rPr lang="en-IN" dirty="0"/>
              <a:t>, </a:t>
            </a:r>
            <a:r>
              <a:rPr lang="en-IN" b="1" dirty="0"/>
              <a:t>2021</a:t>
            </a:r>
            <a:r>
              <a:rPr lang="en-IN" dirty="0"/>
              <a:t>, </a:t>
            </a:r>
            <a:r>
              <a:rPr lang="en-IN" b="1" dirty="0"/>
              <a:t>DOI</a:t>
            </a:r>
            <a:r>
              <a:rPr lang="en-IN" dirty="0"/>
              <a:t>:</a:t>
            </a:r>
            <a:r>
              <a:rPr lang="en-IN" dirty="0">
                <a:hlinkClick r:id="rId3"/>
              </a:rPr>
              <a:t>10.1109/CCWC51732.2021.9375997</a:t>
            </a:r>
            <a:endParaRPr lang="en-IN" dirty="0"/>
          </a:p>
          <a:p>
            <a:pPr marL="0" indent="0">
              <a:lnSpc>
                <a:spcPct val="120000"/>
              </a:lnSpc>
              <a:buNone/>
            </a:pPr>
            <a:r>
              <a:rPr lang="en-IN" b="1" dirty="0"/>
              <a:t>[7] </a:t>
            </a:r>
            <a:r>
              <a:rPr lang="en-IN" dirty="0"/>
              <a:t>B. V. Pavani, D. Mahitha, and B. U. Maheswari, “Enhancing Online Safety Phishing URL Detection Using Machine Learning and Explainable AI,” in </a:t>
            </a:r>
            <a:r>
              <a:rPr lang="en-IN" b="1" i="1" dirty="0"/>
              <a:t>2024</a:t>
            </a:r>
            <a:r>
              <a:rPr lang="en-IN" i="1" dirty="0"/>
              <a:t> 15th International Conference on Computing Communication and Networking Technologies (ICCCNT)</a:t>
            </a:r>
            <a:r>
              <a:rPr lang="en-IN" dirty="0"/>
              <a:t>, 2024, </a:t>
            </a:r>
            <a:r>
              <a:rPr lang="en-IN" u="sng" dirty="0">
                <a:hlinkClick r:id="rId4"/>
              </a:rPr>
              <a:t>10.1109/ICCCNT61001.2024.10723976 </a:t>
            </a:r>
            <a:endParaRPr lang="en-IN" u="sng" dirty="0"/>
          </a:p>
          <a:p>
            <a:pPr marL="0" indent="0">
              <a:lnSpc>
                <a:spcPct val="120000"/>
              </a:lnSpc>
              <a:buNone/>
            </a:pPr>
            <a:r>
              <a:rPr lang="en-IN" b="1" dirty="0"/>
              <a:t>[8] </a:t>
            </a:r>
            <a:r>
              <a:rPr lang="en-IN" dirty="0"/>
              <a:t>S. Lokesh, “Phishing URL Detection Using Machine Learning: A Comparative Study,” in </a:t>
            </a:r>
            <a:r>
              <a:rPr lang="en-IN" i="1" dirty="0"/>
              <a:t>Proc. 6th Int. Conf. Mobile Computing and Sustainable Informatics (ICMCSI)</a:t>
            </a:r>
            <a:r>
              <a:rPr lang="en-IN" dirty="0"/>
              <a:t>, 2025,  </a:t>
            </a:r>
            <a:r>
              <a:rPr lang="en-IN" b="1" dirty="0"/>
              <a:t>DOI: </a:t>
            </a:r>
            <a:r>
              <a:rPr lang="en-IN" dirty="0">
                <a:hlinkClick r:id="rId5"/>
              </a:rPr>
              <a:t>10.1109/ICMCSI64620.2025.10883082 </a:t>
            </a:r>
            <a:endParaRPr lang="en-IN" dirty="0"/>
          </a:p>
          <a:p>
            <a:pPr marL="0" indent="0">
              <a:lnSpc>
                <a:spcPct val="120000"/>
              </a:lnSpc>
              <a:buNone/>
            </a:pPr>
            <a:r>
              <a:rPr lang="en-IN" b="1" dirty="0"/>
              <a:t>[9] </a:t>
            </a:r>
            <a:r>
              <a:rPr lang="en-IN" dirty="0"/>
              <a:t>P. K. Roy, A. Kumar, and A. Singh, “Advanced Learning for Phishing URLs Detection to Secure Consumer-Centric Applications,” </a:t>
            </a:r>
            <a:r>
              <a:rPr lang="en-IN" i="1" dirty="0"/>
              <a:t>IEEE Transactions on Consumer Electronics</a:t>
            </a:r>
            <a:r>
              <a:rPr lang="en-IN" dirty="0"/>
              <a:t>, vol. 70, no. 3, pp. 1–15, 2024, </a:t>
            </a:r>
            <a:r>
              <a:rPr lang="en-IN" b="1" dirty="0"/>
              <a:t>DOI: </a:t>
            </a:r>
            <a:r>
              <a:rPr lang="en-IN" dirty="0">
                <a:hlinkClick r:id="rId6"/>
              </a:rPr>
              <a:t>10.1109/TCE.2024.3404459</a:t>
            </a:r>
            <a:endParaRPr lang="en-IN" dirty="0"/>
          </a:p>
        </p:txBody>
      </p:sp>
      <p:pic>
        <p:nvPicPr>
          <p:cNvPr id="4" name="Picture 3" descr="PES University Know All about the Indian UGC-Approved University">
            <a:extLst>
              <a:ext uri="{FF2B5EF4-FFF2-40B4-BE49-F238E27FC236}">
                <a16:creationId xmlns:a16="http://schemas.microsoft.com/office/drawing/2014/main" id="{4C7801A5-7E9F-6312-DB13-CDCAE22405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4835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208212" y="2693987"/>
            <a:ext cx="7772400" cy="1470025"/>
          </a:xfrm>
        </p:spPr>
        <p:txBody>
          <a:bodyPr>
            <a:normAutofit/>
          </a:bodyPr>
          <a:lstStyle/>
          <a:p>
            <a:pPr algn="ctr">
              <a:defRPr sz="3600" b="1">
                <a:solidFill>
                  <a:srgbClr val="000000"/>
                </a:solidFill>
              </a:defRPr>
            </a:pPr>
            <a:r>
              <a:rPr sz="7500" dirty="0"/>
              <a:t>Thank You</a:t>
            </a:r>
          </a:p>
        </p:txBody>
      </p:sp>
      <p:pic>
        <p:nvPicPr>
          <p:cNvPr id="5" name="Picture 4" descr="PES University Know All about the Indian UGC-Approved University">
            <a:extLst>
              <a:ext uri="{FF2B5EF4-FFF2-40B4-BE49-F238E27FC236}">
                <a16:creationId xmlns:a16="http://schemas.microsoft.com/office/drawing/2014/main" id="{9E589C4B-C806-C711-39B6-3F54682467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5109" y="167149"/>
            <a:ext cx="2172263" cy="1113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3088</TotalTime>
  <Words>7641</Words>
  <Application>Microsoft Office PowerPoint</Application>
  <PresentationFormat>Custom</PresentationFormat>
  <Paragraphs>1179</Paragraphs>
  <Slides>65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65</vt:i4>
      </vt:variant>
    </vt:vector>
  </HeadingPairs>
  <TitlesOfParts>
    <vt:vector size="69" baseType="lpstr">
      <vt:lpstr>Arial</vt:lpstr>
      <vt:lpstr>Calibri</vt:lpstr>
      <vt:lpstr>Wingdings</vt:lpstr>
      <vt:lpstr>Office Theme</vt:lpstr>
      <vt:lpstr>PhishShield ML Machine Learning-Powered Phishing Defense</vt:lpstr>
      <vt:lpstr>Abstract</vt:lpstr>
      <vt:lpstr>Introduction</vt:lpstr>
      <vt:lpstr>PowerPoint Presentation</vt:lpstr>
      <vt:lpstr>Motivation to Select This Project</vt:lpstr>
      <vt:lpstr>Functionalities</vt:lpstr>
      <vt:lpstr>Tools &amp; Technologies</vt:lpstr>
      <vt:lpstr>Real-World Applications</vt:lpstr>
      <vt:lpstr>Literature Survey On PhishShield ML </vt:lpstr>
      <vt:lpstr>Detailed Literature Survey</vt:lpstr>
      <vt:lpstr>Paper - 2</vt:lpstr>
      <vt:lpstr>Paper - 3</vt:lpstr>
      <vt:lpstr>Paper - 4</vt:lpstr>
      <vt:lpstr>Paper - 5</vt:lpstr>
      <vt:lpstr>Paper - 6</vt:lpstr>
      <vt:lpstr>Paper - 7</vt:lpstr>
      <vt:lpstr>Paper - 8</vt:lpstr>
      <vt:lpstr>Paper - 9</vt:lpstr>
      <vt:lpstr>Paper - 10</vt:lpstr>
      <vt:lpstr>Comparative Study of Existing Applications</vt:lpstr>
      <vt:lpstr>Functional Requirements - Users</vt:lpstr>
      <vt:lpstr>Functional Requirements - Functionalities</vt:lpstr>
      <vt:lpstr>PowerPoint Presentation</vt:lpstr>
      <vt:lpstr>PowerPoint Presentation</vt:lpstr>
      <vt:lpstr>PowerPoint Presentation</vt:lpstr>
      <vt:lpstr>PowerPoint Presentation</vt:lpstr>
      <vt:lpstr>Non-Functional Requirements</vt:lpstr>
      <vt:lpstr>PowerPoint Presentation</vt:lpstr>
      <vt:lpstr>Architecture Diagram</vt:lpstr>
      <vt:lpstr>Process Flow Diagram</vt:lpstr>
      <vt:lpstr>Design Methodology - ML Training Pipeline</vt:lpstr>
      <vt:lpstr>Implementation and Model Testing PhishShield ML </vt:lpstr>
      <vt:lpstr>Implementation Status Completed (80%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Screenshots</vt:lpstr>
      <vt:lpstr>Implementation Screenshots</vt:lpstr>
      <vt:lpstr>Implementation Screenshots</vt:lpstr>
      <vt:lpstr>PowerPoint Presentation</vt:lpstr>
      <vt:lpstr>PowerPoint Presentation</vt:lpstr>
      <vt:lpstr>PowerPoint Presentation</vt:lpstr>
      <vt:lpstr>PowerPoint Presentation</vt:lpstr>
      <vt:lpstr>Part A: Model Testing</vt:lpstr>
      <vt:lpstr>Model Testing Results Summary</vt:lpstr>
      <vt:lpstr>Comparative Performance Overview </vt:lpstr>
      <vt:lpstr>Part B: User Interface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Madhavi K</dc:creator>
  <cp:keywords/>
  <dc:description>generated using python-pptx</dc:description>
  <cp:lastModifiedBy>Madhura Naik</cp:lastModifiedBy>
  <cp:revision>59</cp:revision>
  <dcterms:created xsi:type="dcterms:W3CDTF">2013-01-27T09:14:16Z</dcterms:created>
  <dcterms:modified xsi:type="dcterms:W3CDTF">2025-12-11T10:06:28Z</dcterms:modified>
  <cp:category/>
</cp:coreProperties>
</file>